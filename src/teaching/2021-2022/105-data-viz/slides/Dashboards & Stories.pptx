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75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2" r:id="rId3"/>
    <p:sldId id="348" r:id="rId4"/>
    <p:sldId id="534" r:id="rId5"/>
    <p:sldId id="538" r:id="rId6"/>
    <p:sldId id="535" r:id="rId7"/>
    <p:sldId id="539" r:id="rId8"/>
    <p:sldId id="540" r:id="rId9"/>
    <p:sldId id="536" r:id="rId10"/>
    <p:sldId id="541" r:id="rId11"/>
    <p:sldId id="537" r:id="rId12"/>
    <p:sldId id="542" r:id="rId13"/>
    <p:sldId id="527" r:id="rId14"/>
    <p:sldId id="511" r:id="rId15"/>
    <p:sldId id="543" r:id="rId16"/>
    <p:sldId id="426" r:id="rId17"/>
  </p:sldIdLst>
  <p:sldSz cx="14630400" cy="8229600"/>
  <p:notesSz cx="6858000" cy="9144000"/>
  <p:defaultTextStyle>
    <a:defPPr>
      <a:defRPr lang="en-US"/>
    </a:defPPr>
    <a:lvl1pPr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1pPr>
    <a:lvl2pPr marL="652463" indent="-195263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2pPr>
    <a:lvl3pPr marL="1304925" indent="-39052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3pPr>
    <a:lvl4pPr marL="1958975" indent="-58737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4pPr>
    <a:lvl5pPr marL="2611438" indent="-782638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orient="horz" pos="369">
          <p15:clr>
            <a:srgbClr val="A4A3A4"/>
          </p15:clr>
        </p15:guide>
        <p15:guide id="3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B2E4D7"/>
    <a:srgbClr val="E0E0E0"/>
    <a:srgbClr val="59879B"/>
    <a:srgbClr val="1F447D"/>
    <a:srgbClr val="6666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82" autoAdjust="0"/>
  </p:normalViewPr>
  <p:slideViewPr>
    <p:cSldViewPr snapToGrid="0" showGuides="1">
      <p:cViewPr varScale="1">
        <p:scale>
          <a:sx n="84" d="100"/>
          <a:sy n="84" d="100"/>
        </p:scale>
        <p:origin x="876" y="102"/>
      </p:cViewPr>
      <p:guideLst>
        <p:guide orient="horz" pos="1181"/>
        <p:guide orient="horz" pos="369"/>
        <p:guide pos="4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85591767-110F-A243-83F9-36645DAA76CB}" type="datetime1">
              <a:rPr lang="en-US"/>
              <a:pPr>
                <a:defRPr/>
              </a:pPr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183AF4F7-31B0-B643-9B95-E1F087EE11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5410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7850FBDF-363D-BA4E-BF53-7E974FE76827}" type="datetime1">
              <a:rPr lang="en-US"/>
              <a:pPr>
                <a:defRPr/>
              </a:pPr>
              <a:t>11/12/2021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BE318CCB-9EB4-A04E-B82B-4EF927884A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840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ＭＳ Ｐゴシック" charset="0"/>
      </a:defRPr>
    </a:lvl1pPr>
    <a:lvl2pPr marL="652463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2pPr>
    <a:lvl3pPr marL="130492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3pPr>
    <a:lvl4pPr marL="195897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4pPr>
    <a:lvl5pPr marL="2611438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5pPr>
    <a:lvl6pPr marL="3265550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1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609600"/>
            <a:ext cx="25939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99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>
          <a:xfrm>
            <a:off x="706102" y="1813044"/>
            <a:ext cx="5337174" cy="3643818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800" b="0" i="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8545513" y="1813044"/>
            <a:ext cx="5414961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marR="0" indent="0" algn="l" defTabSz="130622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15321" y="600286"/>
            <a:ext cx="1324515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696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7" name="Picture 6" descr="Bottom_Viz_August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328"/>
          <a:stretch/>
        </p:blipFill>
        <p:spPr>
          <a:xfrm>
            <a:off x="0" y="3225800"/>
            <a:ext cx="14630400" cy="3153156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5" name="Picture 4" descr="SectionDivider-03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r="12503"/>
          <a:stretch/>
        </p:blipFill>
        <p:spPr>
          <a:xfrm>
            <a:off x="0" y="2362200"/>
            <a:ext cx="14630400" cy="548233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30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7" name="Picture 6" descr="SectionDivider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/>
          <a:stretch/>
        </p:blipFill>
        <p:spPr>
          <a:xfrm>
            <a:off x="0" y="2946400"/>
            <a:ext cx="14630400" cy="47498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65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79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ev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6350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400" baseline="0">
                <a:solidFill>
                  <a:schemeClr val="accent5"/>
                </a:solidFill>
              </a:defRPr>
            </a:lvl2pPr>
            <a:lvl3pPr marL="5127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100" baseline="0">
                <a:solidFill>
                  <a:schemeClr val="accent5"/>
                </a:solidFill>
              </a:defRPr>
            </a:lvl3pPr>
            <a:lvl4pPr marL="7413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51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99" y="2438401"/>
            <a:ext cx="9133131" cy="761747"/>
          </a:xfrm>
        </p:spPr>
        <p:txBody>
          <a:bodyPr/>
          <a:lstStyle>
            <a:lvl1pPr>
              <a:defRPr sz="540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561080" y="3733800"/>
            <a:ext cx="80772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653110" indent="0">
              <a:buNone/>
              <a:defRPr sz="1000"/>
            </a:lvl2pPr>
            <a:lvl3pPr marL="1306221" indent="0">
              <a:buNone/>
              <a:defRPr sz="1000"/>
            </a:lvl3pPr>
            <a:lvl4pPr marL="1959331" indent="0">
              <a:buNone/>
              <a:defRPr sz="1000"/>
            </a:lvl4pPr>
            <a:lvl5pPr marL="2612442" indent="0"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26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357" y="1893515"/>
            <a:ext cx="13274793" cy="163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520701" indent="-51435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746125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romanUcPeriod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969963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21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3pPr>
            <a:lvl4pPr marL="1084262" indent="-342901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800" baseline="0">
                <a:solidFill>
                  <a:schemeClr val="accent5"/>
                </a:solidFill>
              </a:defRPr>
            </a:lvl4pPr>
            <a:lvl5pPr marL="2063749" indent="0">
              <a:buSzPct val="100000"/>
              <a:buFont typeface="+mj-lt"/>
              <a:buNone/>
              <a:defRPr sz="160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776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4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5331" y="1893749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5"/>
          </p:nvPr>
        </p:nvSpPr>
        <p:spPr>
          <a:xfrm>
            <a:off x="7311907" y="1893515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05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7329803" y="1887752"/>
            <a:ext cx="664934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SzPct val="100000"/>
              <a:buFont typeface="Arial"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339725" indent="0">
              <a:buSzPct val="100000"/>
              <a:buFont typeface="Arial"/>
              <a:buNone/>
              <a:defRPr sz="2400">
                <a:solidFill>
                  <a:schemeClr val="accent5"/>
                </a:solidFill>
              </a:defRPr>
            </a:lvl2pPr>
            <a:lvl3pPr marL="692150" indent="0">
              <a:buSzPct val="100000"/>
              <a:buFont typeface="Arial"/>
              <a:buNone/>
              <a:defRPr sz="2100">
                <a:solidFill>
                  <a:schemeClr val="accent5"/>
                </a:solidFill>
              </a:defRPr>
            </a:lvl3pPr>
            <a:lvl4pPr marL="1384301" indent="0">
              <a:buSzPct val="100000"/>
              <a:buFont typeface="Arial"/>
              <a:buNone/>
              <a:defRPr sz="180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04476" y="1869074"/>
            <a:ext cx="6019800" cy="5407933"/>
          </a:xfrm>
          <a:prstGeom prst="rect">
            <a:avLst/>
          </a:prstGeom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568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704476" y="1893515"/>
            <a:ext cx="13273731" cy="53589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SzPct val="120000"/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1633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PageImage_NoColor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520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w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4630400" cy="8229602"/>
          </a:xfrm>
          <a:prstGeom prst="rect">
            <a:avLst/>
          </a:prstGeom>
          <a:ln w="6350" cmpd="sng">
            <a:solidFill>
              <a:schemeClr val="tx1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061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43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38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3" name="Picture 6" descr="tableau_rgb.eps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3206750"/>
            <a:ext cx="8737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964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ttom_Viz_August-02.png"/>
          <p:cNvPicPr>
            <a:picLocks noChangeAspect="1"/>
          </p:cNvPicPr>
          <p:nvPr/>
        </p:nvPicPr>
        <p:blipFill rotWithShape="1">
          <a:blip r:embed="rId1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6932613"/>
            <a:ext cx="14630400" cy="1296987"/>
          </a:xfrm>
          <a:prstGeom prst="rect">
            <a:avLst/>
          </a:prstGeom>
        </p:spPr>
      </p:pic>
      <p:pic>
        <p:nvPicPr>
          <p:cNvPr id="1027" name="Picture 7" descr="tableau_white.eps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838" y="7724775"/>
            <a:ext cx="17272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601314"/>
            <a:ext cx="132445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35" r:id="rId2"/>
    <p:sldLayoutId id="2147484148" r:id="rId3"/>
    <p:sldLayoutId id="2147484150" r:id="rId4"/>
    <p:sldLayoutId id="2147484152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  <p:sldLayoutId id="2147484144" r:id="rId14"/>
    <p:sldLayoutId id="2147484145" r:id="rId15"/>
    <p:sldLayoutId id="2147484146" r:id="rId16"/>
    <p:sldLayoutId id="2147484149" r:id="rId17"/>
  </p:sldLayoutIdLst>
  <p:txStyles>
    <p:titleStyle>
      <a:lvl1pPr algn="l" defTabSz="130492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00" kern="1200">
          <a:solidFill>
            <a:srgbClr val="4C4C4C"/>
          </a:solidFill>
          <a:latin typeface="BentonSans Book"/>
          <a:ea typeface="ＭＳ Ｐゴシック" charset="0"/>
          <a:cs typeface="BentonSans Book"/>
        </a:defRPr>
      </a:lvl1pPr>
      <a:lvl2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2pPr>
      <a:lvl3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3pPr>
      <a:lvl4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4pPr>
      <a:lvl5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5pPr>
      <a:lvl6pPr marL="4572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6pPr>
      <a:lvl7pPr marL="9144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7pPr>
      <a:lvl8pPr marL="13716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8pPr>
      <a:lvl9pPr marL="18288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9pPr>
    </p:titleStyle>
    <p:bodyStyle>
      <a:lvl1pPr marL="488950" indent="-488950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6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1060450" indent="-40798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631950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28441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93846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59210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2814297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Dashboards &amp; Stories</a:t>
            </a:r>
            <a:endParaRPr lang="en-US" dirty="0"/>
          </a:p>
          <a:p>
            <a:pPr defTabSz="1306221" fontAlgn="auto">
              <a:spcAft>
                <a:spcPts val="0"/>
              </a:spcAft>
              <a:defRPr/>
            </a:pPr>
            <a:endParaRPr lang="en-US" sz="2400" dirty="0">
              <a:latin typeface="Merriweather Light"/>
              <a:ea typeface="+mn-ea"/>
              <a:cs typeface="Merriweather Light"/>
            </a:endParaRP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2400" dirty="0">
                <a:latin typeface="Merriweather Light"/>
                <a:ea typeface="+mn-ea"/>
                <a:cs typeface="Merriweather Light"/>
              </a:rPr>
              <a:t>Using the </a:t>
            </a:r>
            <a:r>
              <a:rPr lang="en-US" sz="2400" i="1" dirty="0">
                <a:latin typeface="Merriweather Light"/>
                <a:ea typeface="+mn-ea"/>
                <a:cs typeface="Merriweather Light"/>
              </a:rPr>
              <a:t>Global Superstore </a:t>
            </a:r>
            <a:r>
              <a:rPr lang="en-US" sz="2400" dirty="0">
                <a:latin typeface="Merriweather Light"/>
                <a:ea typeface="+mn-ea"/>
                <a:cs typeface="Merriweather Light"/>
              </a:rPr>
              <a:t>dataset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2400" dirty="0">
              <a:latin typeface="Merriweather Light"/>
              <a:ea typeface="+mn-ea"/>
              <a:cs typeface="Merriweather Light"/>
            </a:endParaRP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2400" dirty="0">
                <a:latin typeface="Merriweather Light"/>
                <a:ea typeface="+mn-ea"/>
                <a:cs typeface="Merriweather Light"/>
              </a:rPr>
              <a:t>CSC105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2400" dirty="0">
              <a:latin typeface="Merriweather Light"/>
              <a:ea typeface="+mn-ea"/>
              <a:cs typeface="Merriweather Light"/>
            </a:endParaRP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2400" dirty="0">
                <a:latin typeface="Merriweather Light"/>
                <a:ea typeface="+mn-ea"/>
                <a:cs typeface="Merriweather Light"/>
              </a:rPr>
              <a:t>Prof. Earl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25488" y="1812925"/>
            <a:ext cx="5819003" cy="1292662"/>
          </a:xfrm>
        </p:spPr>
        <p:txBody>
          <a:bodyPr anchor="t"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Creating a Basic Dashboard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Creating a Story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8545513" y="1812925"/>
            <a:ext cx="5414962" cy="1292662"/>
          </a:xfrm>
        </p:spPr>
        <p:txBody>
          <a:bodyPr anchor="t"/>
          <a:lstStyle/>
          <a:p>
            <a:pPr>
              <a:defRPr/>
            </a:pPr>
            <a:r>
              <a:rPr lang="en-US" dirty="0">
                <a:ea typeface="+mn-ea"/>
              </a:rPr>
              <a:t>Slide 3</a:t>
            </a:r>
          </a:p>
          <a:p>
            <a:pPr>
              <a:defRPr/>
            </a:pPr>
            <a:r>
              <a:rPr lang="en-US" dirty="0">
                <a:ea typeface="+mn-ea"/>
              </a:rPr>
              <a:t>Slide 14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712788" y="600075"/>
            <a:ext cx="13244512" cy="635000"/>
          </a:xfr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Table of Contents/Agenda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53998"/>
          </a:xfrm>
        </p:spPr>
        <p:txBody>
          <a:bodyPr/>
          <a:lstStyle/>
          <a:p>
            <a:r>
              <a:rPr lang="en-US" dirty="0"/>
              <a:t>Creating a Basic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3600986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Click the icon to create a new dashboard. </a:t>
            </a:r>
            <a:r>
              <a:rPr lang="en-US" b="1" dirty="0"/>
              <a:t>Name</a:t>
            </a:r>
            <a:r>
              <a:rPr lang="en-US" dirty="0"/>
              <a:t> it Initial Superstore Analysis. Go to the </a:t>
            </a:r>
            <a:r>
              <a:rPr lang="en-US" b="1" dirty="0"/>
              <a:t>Dashboard</a:t>
            </a:r>
            <a:r>
              <a:rPr lang="en-US" dirty="0"/>
              <a:t> drop-down and </a:t>
            </a:r>
            <a:r>
              <a:rPr lang="en-US" b="1" dirty="0"/>
              <a:t>Show Title</a:t>
            </a:r>
            <a:r>
              <a:rPr lang="en-US" dirty="0"/>
              <a:t>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Notice these Dashboard options at the lower-left.  You should always think about this before starting your Dashboard.  We will leave it set to Desktop, but often Laptop is a good choice also. “Automatic” is OK sometimes, but </a:t>
            </a:r>
            <a:r>
              <a:rPr lang="en-US" u="sng" dirty="0"/>
              <a:t>not</a:t>
            </a:r>
            <a:r>
              <a:rPr lang="en-US" dirty="0"/>
              <a:t> if you want to have floating legends (which we will show today), since these will move around as the screen resizes under the Automatic setting.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</p:spTree>
    <p:extLst>
      <p:ext uri="{BB962C8B-B14F-4D97-AF65-F5344CB8AC3E}">
        <p14:creationId xmlns:p14="http://schemas.microsoft.com/office/powerpoint/2010/main" val="119880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  <p:pic>
        <p:nvPicPr>
          <p:cNvPr id="5" name="Basic Dashboard_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15403" y="1189630"/>
            <a:ext cx="10058400" cy="62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3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10057" y="1189630"/>
            <a:ext cx="13273820" cy="1800493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Before populating this new dashboard, let’s add a </a:t>
            </a:r>
            <a:r>
              <a:rPr lang="en-US" b="1" dirty="0"/>
              <a:t>Segment</a:t>
            </a:r>
            <a:r>
              <a:rPr lang="en-US" dirty="0"/>
              <a:t> filter to the </a:t>
            </a:r>
            <a:r>
              <a:rPr lang="en-US" b="1" dirty="0"/>
              <a:t>Scatterplot</a:t>
            </a:r>
            <a:r>
              <a:rPr lang="en-US" dirty="0"/>
              <a:t> worksheet, and </a:t>
            </a:r>
            <a:r>
              <a:rPr lang="en-US" b="1" dirty="0"/>
              <a:t>Show Filter</a:t>
            </a:r>
            <a:r>
              <a:rPr lang="en-US" dirty="0"/>
              <a:t>.  Now I am ready to populate my dashboard.</a:t>
            </a:r>
          </a:p>
          <a:p>
            <a:r>
              <a:rPr lang="en-US" dirty="0"/>
              <a:t>Drag in the </a:t>
            </a:r>
            <a:r>
              <a:rPr lang="en-US" b="1" dirty="0"/>
              <a:t>Bar</a:t>
            </a:r>
            <a:r>
              <a:rPr lang="en-US" dirty="0"/>
              <a:t>, add the </a:t>
            </a:r>
            <a:r>
              <a:rPr lang="en-US" b="1" dirty="0"/>
              <a:t>Scatterplot</a:t>
            </a:r>
            <a:r>
              <a:rPr lang="en-US" dirty="0"/>
              <a:t> </a:t>
            </a:r>
            <a:r>
              <a:rPr lang="en-US" b="1" dirty="0"/>
              <a:t>below</a:t>
            </a:r>
            <a:r>
              <a:rPr lang="en-US" dirty="0"/>
              <a:t> it, and add the </a:t>
            </a:r>
            <a:r>
              <a:rPr lang="en-US" b="1" dirty="0"/>
              <a:t>Histogram</a:t>
            </a:r>
            <a:r>
              <a:rPr lang="en-US" dirty="0"/>
              <a:t> on the </a:t>
            </a:r>
            <a:r>
              <a:rPr lang="en-US" b="1" dirty="0"/>
              <a:t>lower right</a:t>
            </a:r>
            <a:r>
              <a:rPr lang="en-US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  <p:pic>
        <p:nvPicPr>
          <p:cNvPr id="4" name="Basic Dashboard_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6658" y="2538723"/>
            <a:ext cx="8495071" cy="53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6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4262705"/>
          </a:xfrm>
        </p:spPr>
        <p:txBody>
          <a:bodyPr/>
          <a:lstStyle/>
          <a:p>
            <a:r>
              <a:rPr lang="en-US" dirty="0"/>
              <a:t>Now let’s explore some options to enhance this basic dashboard.</a:t>
            </a:r>
          </a:p>
          <a:p>
            <a:r>
              <a:rPr lang="en-US" b="1" dirty="0"/>
              <a:t>Float</a:t>
            </a:r>
            <a:r>
              <a:rPr lang="en-US" dirty="0"/>
              <a:t> the </a:t>
            </a:r>
            <a:r>
              <a:rPr lang="en-US" b="1" dirty="0"/>
              <a:t>Profit color legend</a:t>
            </a:r>
            <a:r>
              <a:rPr lang="en-US" dirty="0"/>
              <a:t> over the </a:t>
            </a:r>
            <a:r>
              <a:rPr lang="en-US" b="1" dirty="0"/>
              <a:t>Bar</a:t>
            </a:r>
            <a:r>
              <a:rPr lang="en-US" dirty="0"/>
              <a:t> Chart (Press shift+ drag to float it easily).</a:t>
            </a:r>
          </a:p>
          <a:p>
            <a:r>
              <a:rPr lang="en-US" b="1" dirty="0"/>
              <a:t>Float</a:t>
            </a:r>
            <a:r>
              <a:rPr lang="en-US" dirty="0"/>
              <a:t> the </a:t>
            </a:r>
            <a:r>
              <a:rPr lang="en-US" b="1" dirty="0"/>
              <a:t>Segment color legend</a:t>
            </a:r>
            <a:r>
              <a:rPr lang="en-US" dirty="0"/>
              <a:t> over the </a:t>
            </a:r>
            <a:r>
              <a:rPr lang="en-US" b="1" dirty="0"/>
              <a:t>Scatterplot</a:t>
            </a:r>
            <a:r>
              <a:rPr lang="en-US" dirty="0"/>
              <a:t>.</a:t>
            </a:r>
          </a:p>
          <a:p>
            <a:r>
              <a:rPr lang="en-US" dirty="0"/>
              <a:t>Set the </a:t>
            </a:r>
            <a:r>
              <a:rPr lang="en-US" b="1" dirty="0"/>
              <a:t>Segment filter</a:t>
            </a:r>
            <a:r>
              <a:rPr lang="en-US" dirty="0"/>
              <a:t> to a </a:t>
            </a:r>
            <a:r>
              <a:rPr lang="en-US" b="1" dirty="0"/>
              <a:t>single-value drop down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Let’s have a closer look at that Segment filter.  Notice that when I make changes to it, it only changes the worksheet that it was tied to. What if I want the entire dashboard to update based on my selection?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</p:spTree>
    <p:extLst>
      <p:ext uri="{BB962C8B-B14F-4D97-AF65-F5344CB8AC3E}">
        <p14:creationId xmlns:p14="http://schemas.microsoft.com/office/powerpoint/2010/main" val="37788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  <p:pic>
        <p:nvPicPr>
          <p:cNvPr id="5" name="Basic Dashboard_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55512" y="1189630"/>
            <a:ext cx="9778181" cy="61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1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1800493"/>
          </a:xfrm>
        </p:spPr>
        <p:txBody>
          <a:bodyPr/>
          <a:lstStyle/>
          <a:p>
            <a:r>
              <a:rPr lang="en-US" dirty="0"/>
              <a:t>Select the menu on the </a:t>
            </a:r>
            <a:r>
              <a:rPr lang="en-US" b="1" dirty="0"/>
              <a:t>Segment filter</a:t>
            </a:r>
            <a:r>
              <a:rPr lang="en-US" dirty="0"/>
              <a:t>, select </a:t>
            </a:r>
            <a:r>
              <a:rPr lang="en-US" b="1" dirty="0"/>
              <a:t>Apply to Worksheets</a:t>
            </a:r>
            <a:r>
              <a:rPr lang="en-US" dirty="0"/>
              <a:t>….All Using This Data Source.</a:t>
            </a:r>
          </a:p>
          <a:p>
            <a:r>
              <a:rPr lang="en-US" dirty="0"/>
              <a:t>Make a couple of Segment selections to demonstrate how the change applies to the entire dashboard, finish with “All” categories selected.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</p:spTree>
    <p:extLst>
      <p:ext uri="{BB962C8B-B14F-4D97-AF65-F5344CB8AC3E}">
        <p14:creationId xmlns:p14="http://schemas.microsoft.com/office/powerpoint/2010/main" val="2741969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  <p:pic>
        <p:nvPicPr>
          <p:cNvPr id="2" name="Basic Dashboard_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03893" y="1189630"/>
            <a:ext cx="9881419" cy="617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3323987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In addition to interacting with drop down filters like this, we can also use the </a:t>
            </a:r>
            <a:r>
              <a:rPr lang="en-US" b="1" dirty="0"/>
              <a:t>worksheets themselves as filters</a:t>
            </a:r>
            <a:r>
              <a:rPr lang="en-US" dirty="0"/>
              <a:t>.  For example, I’d like to zero in on the different discount levels: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Select the ‘</a:t>
            </a:r>
            <a:r>
              <a:rPr lang="en-US" b="1" dirty="0"/>
              <a:t>use as a filter</a:t>
            </a:r>
            <a:r>
              <a:rPr lang="en-US" dirty="0"/>
              <a:t>’ icon on the </a:t>
            </a:r>
            <a:r>
              <a:rPr lang="en-US" b="1" dirty="0"/>
              <a:t>Histogram</a:t>
            </a:r>
            <a:r>
              <a:rPr lang="en-US" dirty="0"/>
              <a:t> (next to the drop-down arrow).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/>
              <a:t>Click a few histogram bars and discuss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</p:spTree>
    <p:extLst>
      <p:ext uri="{BB962C8B-B14F-4D97-AF65-F5344CB8AC3E}">
        <p14:creationId xmlns:p14="http://schemas.microsoft.com/office/powerpoint/2010/main" val="308344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90931"/>
          </a:xfrm>
          <a:prstGeom prst="rect">
            <a:avLst/>
          </a:prstGeom>
        </p:spPr>
        <p:txBody>
          <a:bodyPr/>
          <a:lstStyle/>
          <a:p>
            <a:r>
              <a:rPr lang="en-US" sz="4800" dirty="0"/>
              <a:t>Creating a Basic Dashboard</a:t>
            </a:r>
          </a:p>
        </p:txBody>
      </p:sp>
      <p:pic>
        <p:nvPicPr>
          <p:cNvPr id="4" name="Basic Dashboard_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29254" y="1189630"/>
            <a:ext cx="9630697" cy="60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3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53998"/>
          </a:xfrm>
        </p:spPr>
        <p:txBody>
          <a:bodyPr/>
          <a:lstStyle/>
          <a:p>
            <a:r>
              <a:rPr lang="en-US" dirty="0"/>
              <a:t>Creating a 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2154436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Now click the </a:t>
            </a:r>
            <a:r>
              <a:rPr lang="en-US" b="1" dirty="0"/>
              <a:t>New Story</a:t>
            </a:r>
            <a:r>
              <a:rPr lang="en-US" dirty="0"/>
              <a:t> icon, and demonstrate how sheets or dashboards can be dragged in, captions written, etc. to develop a sequential walk through your analysis.  Our current Tableau file might not be ideal for creating a Story, since we did a number of unrelated analyses, but this gives you an idea of what a Story can do – it is very powerful and simple!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539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Creating a Story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539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Creating a Story</a:t>
            </a:r>
          </a:p>
        </p:txBody>
      </p:sp>
      <p:pic>
        <p:nvPicPr>
          <p:cNvPr id="5" name="Create a Stor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08341" y="1152697"/>
            <a:ext cx="10072524" cy="629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0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PPT_Corporate_Template_BentonSans_16.9_c">
  <a:themeElements>
    <a:clrScheme name="Custom 8">
      <a:dk1>
        <a:srgbClr val="666666"/>
      </a:dk1>
      <a:lt1>
        <a:sysClr val="window" lastClr="FFFFFF"/>
      </a:lt1>
      <a:dk2>
        <a:srgbClr val="5B6591"/>
      </a:dk2>
      <a:lt2>
        <a:srgbClr val="FFFFFF"/>
      </a:lt2>
      <a:accent1>
        <a:srgbClr val="1F447D"/>
      </a:accent1>
      <a:accent2>
        <a:srgbClr val="E8762C"/>
      </a:accent2>
      <a:accent3>
        <a:srgbClr val="7099A6"/>
      </a:accent3>
      <a:accent4>
        <a:srgbClr val="59879B"/>
      </a:accent4>
      <a:accent5>
        <a:srgbClr val="4C4C4C"/>
      </a:accent5>
      <a:accent6>
        <a:srgbClr val="C72035"/>
      </a:accent6>
      <a:hlink>
        <a:srgbClr val="EB912C"/>
      </a:hlink>
      <a:folHlink>
        <a:srgbClr val="969696"/>
      </a:folHlink>
    </a:clrScheme>
    <a:fontScheme name="Tableau Corporate Fonts">
      <a:majorFont>
        <a:latin typeface="BentonSans Book"/>
        <a:ea typeface=""/>
        <a:cs typeface=""/>
      </a:majorFont>
      <a:minorFont>
        <a:latin typeface="Merriweather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PPT_Corporate_Template_BentonSans_16.9_c</Template>
  <TotalTime>0</TotalTime>
  <Words>495</Words>
  <Application>Microsoft Office PowerPoint</Application>
  <PresentationFormat>Custom</PresentationFormat>
  <Paragraphs>44</Paragraphs>
  <Slides>16</Slides>
  <Notes>6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BentonSans Book</vt:lpstr>
      <vt:lpstr>Gill Sans MT</vt:lpstr>
      <vt:lpstr>Merriweather Light</vt:lpstr>
      <vt:lpstr>PPT_Corporate_Template_BentonSans_16.9_c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2021-11-12T17:13:40Z</dcterms:created>
  <dcterms:modified xsi:type="dcterms:W3CDTF">2021-11-12T17:13:47Z</dcterms:modified>
  <cp:category/>
</cp:coreProperties>
</file>