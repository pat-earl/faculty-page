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75" r:id="rId1"/>
  </p:sldMasterIdLst>
  <p:notesMasterIdLst>
    <p:notesMasterId r:id="rId14"/>
  </p:notesMasterIdLst>
  <p:handoutMasterIdLst>
    <p:handoutMasterId r:id="rId15"/>
  </p:handoutMasterIdLst>
  <p:sldIdLst>
    <p:sldId id="256" r:id="rId2"/>
    <p:sldId id="540" r:id="rId3"/>
    <p:sldId id="549" r:id="rId4"/>
    <p:sldId id="557" r:id="rId5"/>
    <p:sldId id="556" r:id="rId6"/>
    <p:sldId id="560" r:id="rId7"/>
    <p:sldId id="559" r:id="rId8"/>
    <p:sldId id="561" r:id="rId9"/>
    <p:sldId id="562" r:id="rId10"/>
    <p:sldId id="564" r:id="rId11"/>
    <p:sldId id="565" r:id="rId12"/>
    <p:sldId id="548" r:id="rId13"/>
  </p:sldIdLst>
  <p:sldSz cx="14630400" cy="8229600"/>
  <p:notesSz cx="6858000" cy="9144000"/>
  <p:custDataLst>
    <p:tags r:id="rId16"/>
  </p:custDataLst>
  <p:defaultTextStyle>
    <a:defPPr>
      <a:defRPr lang="en-US"/>
    </a:defPPr>
    <a:lvl1pPr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1pPr>
    <a:lvl2pPr marL="652463" indent="-195263"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2pPr>
    <a:lvl3pPr marL="1304925" indent="-39052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3pPr>
    <a:lvl4pPr marL="1958975" indent="-587375"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4pPr>
    <a:lvl5pPr marL="2611438" indent="-782638" algn="l" defTabSz="1304925" rtl="0" fontAlgn="base">
      <a:spcBef>
        <a:spcPct val="0"/>
      </a:spcBef>
      <a:spcAft>
        <a:spcPct val="0"/>
      </a:spcAft>
      <a:defRPr sz="2600" kern="1200">
        <a:solidFill>
          <a:schemeClr val="tx1"/>
        </a:solidFill>
        <a:latin typeface="Gill Sans MT" charset="0"/>
        <a:ea typeface="ＭＳ Ｐゴシック" charset="0"/>
        <a:cs typeface="ＭＳ Ｐゴシック" charset="0"/>
      </a:defRPr>
    </a:lvl5pPr>
    <a:lvl6pPr marL="2286000" algn="l" defTabSz="457200" rtl="0" eaLnBrk="1" latinLnBrk="0" hangingPunct="1">
      <a:defRPr sz="2600" kern="1200">
        <a:solidFill>
          <a:schemeClr val="tx1"/>
        </a:solidFill>
        <a:latin typeface="Gill Sans MT" charset="0"/>
        <a:ea typeface="ＭＳ Ｐゴシック" charset="0"/>
        <a:cs typeface="ＭＳ Ｐゴシック" charset="0"/>
      </a:defRPr>
    </a:lvl6pPr>
    <a:lvl7pPr marL="2743200" algn="l" defTabSz="457200" rtl="0" eaLnBrk="1" latinLnBrk="0" hangingPunct="1">
      <a:defRPr sz="2600" kern="1200">
        <a:solidFill>
          <a:schemeClr val="tx1"/>
        </a:solidFill>
        <a:latin typeface="Gill Sans MT" charset="0"/>
        <a:ea typeface="ＭＳ Ｐゴシック" charset="0"/>
        <a:cs typeface="ＭＳ Ｐゴシック" charset="0"/>
      </a:defRPr>
    </a:lvl7pPr>
    <a:lvl8pPr marL="3200400" algn="l" defTabSz="457200" rtl="0" eaLnBrk="1" latinLnBrk="0" hangingPunct="1">
      <a:defRPr sz="2600" kern="1200">
        <a:solidFill>
          <a:schemeClr val="tx1"/>
        </a:solidFill>
        <a:latin typeface="Gill Sans MT" charset="0"/>
        <a:ea typeface="ＭＳ Ｐゴシック" charset="0"/>
        <a:cs typeface="ＭＳ Ｐゴシック" charset="0"/>
      </a:defRPr>
    </a:lvl8pPr>
    <a:lvl9pPr marL="3657600" algn="l" defTabSz="457200" rtl="0" eaLnBrk="1" latinLnBrk="0" hangingPunct="1">
      <a:defRPr sz="2600" kern="1200">
        <a:solidFill>
          <a:schemeClr val="tx1"/>
        </a:solidFill>
        <a:latin typeface="Gill Sans MT"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181">
          <p15:clr>
            <a:srgbClr val="A4A3A4"/>
          </p15:clr>
        </p15:guide>
        <p15:guide id="2" orient="horz" pos="369">
          <p15:clr>
            <a:srgbClr val="A4A3A4"/>
          </p15:clr>
        </p15:guide>
        <p15:guide id="3" pos="432">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FFFF"/>
    <a:srgbClr val="000000"/>
    <a:srgbClr val="B2E4D7"/>
    <a:srgbClr val="E0E0E0"/>
    <a:srgbClr val="59879B"/>
    <a:srgbClr val="1F447D"/>
    <a:srgbClr val="6666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758" autoAdjust="0"/>
  </p:normalViewPr>
  <p:slideViewPr>
    <p:cSldViewPr snapToGrid="0">
      <p:cViewPr varScale="1">
        <p:scale>
          <a:sx n="72" d="100"/>
          <a:sy n="72" d="100"/>
        </p:scale>
        <p:origin x="1404" y="66"/>
      </p:cViewPr>
      <p:guideLst>
        <p:guide orient="horz" pos="1181"/>
        <p:guide orient="horz" pos="369"/>
        <p:guide pos="43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defTabSz="1306221" fontAlgn="auto">
              <a:spcBef>
                <a:spcPts val="0"/>
              </a:spcBef>
              <a:spcAft>
                <a:spcPts val="0"/>
              </a:spcAft>
              <a:defRPr sz="1200" smtClean="0">
                <a:latin typeface="BentonSans Book"/>
                <a:ea typeface="+mn-ea"/>
                <a:cs typeface="+mn-cs"/>
              </a:defRPr>
            </a:lvl1pPr>
          </a:lstStyle>
          <a:p>
            <a:pPr>
              <a:defRPr/>
            </a:pPr>
            <a:fld id="{85591767-110F-A243-83F9-36645DAA76CB}" type="datetime1">
              <a:rPr lang="en-US"/>
              <a:pPr>
                <a:defRPr/>
              </a:pPr>
              <a:t>9/13/2021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defTabSz="1306221" fontAlgn="auto">
              <a:spcBef>
                <a:spcPts val="0"/>
              </a:spcBef>
              <a:spcAft>
                <a:spcPts val="0"/>
              </a:spcAft>
              <a:defRPr sz="1200" smtClean="0">
                <a:latin typeface="BentonSans Book"/>
                <a:ea typeface="+mn-ea"/>
                <a:cs typeface="+mn-cs"/>
              </a:defRPr>
            </a:lvl1pPr>
          </a:lstStyle>
          <a:p>
            <a:pPr>
              <a:defRPr/>
            </a:pPr>
            <a:fld id="{183AF4F7-31B0-B643-9B95-E1F087EE11A4}" type="slidenum">
              <a:rPr lang="en-US"/>
              <a:pPr>
                <a:defRPr/>
              </a:pPr>
              <a:t>‹#›</a:t>
            </a:fld>
            <a:endParaRPr lang="en-US"/>
          </a:p>
        </p:txBody>
      </p:sp>
    </p:spTree>
    <p:extLst>
      <p:ext uri="{BB962C8B-B14F-4D97-AF65-F5344CB8AC3E}">
        <p14:creationId xmlns:p14="http://schemas.microsoft.com/office/powerpoint/2010/main" val="353554104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306221" fontAlgn="auto">
              <a:spcBef>
                <a:spcPts val="0"/>
              </a:spcBef>
              <a:spcAft>
                <a:spcPts val="0"/>
              </a:spcAft>
              <a:defRPr sz="1200" smtClean="0">
                <a:latin typeface="BentonSans Book"/>
                <a:ea typeface="+mn-ea"/>
                <a:cs typeface="+mn-cs"/>
              </a:defRPr>
            </a:lvl1pPr>
          </a:lstStyle>
          <a:p>
            <a:pPr>
              <a:defRPr/>
            </a:pPr>
            <a:fld id="{7850FBDF-363D-BA4E-BF53-7E974FE76827}" type="datetime1">
              <a:rPr lang="en-US"/>
              <a:pPr>
                <a:defRPr/>
              </a:pPr>
              <a:t>9/13/2021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306221" fontAlgn="auto">
              <a:spcBef>
                <a:spcPts val="0"/>
              </a:spcBef>
              <a:spcAft>
                <a:spcPts val="0"/>
              </a:spcAft>
              <a:defRPr sz="1200" dirty="0">
                <a:latin typeface="BentonSans Book"/>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defTabSz="1306221" fontAlgn="auto">
              <a:spcBef>
                <a:spcPts val="0"/>
              </a:spcBef>
              <a:spcAft>
                <a:spcPts val="0"/>
              </a:spcAft>
              <a:defRPr sz="1200" smtClean="0">
                <a:latin typeface="BentonSans Book"/>
                <a:ea typeface="+mn-ea"/>
                <a:cs typeface="+mn-cs"/>
              </a:defRPr>
            </a:lvl1pPr>
          </a:lstStyle>
          <a:p>
            <a:pPr>
              <a:defRPr/>
            </a:pPr>
            <a:fld id="{BE318CCB-9EB4-A04E-B82B-4EF927884A69}" type="slidenum">
              <a:rPr lang="en-US"/>
              <a:pPr>
                <a:defRPr/>
              </a:pPr>
              <a:t>‹#›</a:t>
            </a:fld>
            <a:endParaRPr lang="en-US"/>
          </a:p>
        </p:txBody>
      </p:sp>
    </p:spTree>
    <p:extLst>
      <p:ext uri="{BB962C8B-B14F-4D97-AF65-F5344CB8AC3E}">
        <p14:creationId xmlns:p14="http://schemas.microsoft.com/office/powerpoint/2010/main" val="1518684071"/>
      </p:ext>
    </p:extLst>
  </p:cSld>
  <p:clrMap bg1="lt1" tx1="dk1" bg2="lt2" tx2="dk2" accent1="accent1" accent2="accent2" accent3="accent3" accent4="accent4" accent5="accent5" accent6="accent6" hlink="hlink" folHlink="folHlink"/>
  <p:hf sldNum="0" hdr="0" ftr="0" dt="0"/>
  <p:notesStyle>
    <a:lvl1pPr algn="l" defTabSz="1304925" rtl="0" fontAlgn="base">
      <a:spcBef>
        <a:spcPct val="30000"/>
      </a:spcBef>
      <a:spcAft>
        <a:spcPct val="0"/>
      </a:spcAft>
      <a:defRPr kern="1200">
        <a:solidFill>
          <a:schemeClr val="tx1"/>
        </a:solidFill>
        <a:latin typeface="BentonSans Book"/>
        <a:ea typeface="ＭＳ Ｐゴシック" charset="0"/>
        <a:cs typeface="ＭＳ Ｐゴシック" charset="0"/>
      </a:defRPr>
    </a:lvl1pPr>
    <a:lvl2pPr marL="652463" algn="l" defTabSz="1304925" rtl="0" fontAlgn="base">
      <a:spcBef>
        <a:spcPct val="30000"/>
      </a:spcBef>
      <a:spcAft>
        <a:spcPct val="0"/>
      </a:spcAft>
      <a:defRPr kern="1200">
        <a:solidFill>
          <a:schemeClr val="tx1"/>
        </a:solidFill>
        <a:latin typeface="BentonSans Book"/>
        <a:ea typeface="ＭＳ Ｐゴシック" charset="0"/>
        <a:cs typeface="+mn-cs"/>
      </a:defRPr>
    </a:lvl2pPr>
    <a:lvl3pPr marL="1304925" algn="l" defTabSz="1304925" rtl="0" fontAlgn="base">
      <a:spcBef>
        <a:spcPct val="30000"/>
      </a:spcBef>
      <a:spcAft>
        <a:spcPct val="0"/>
      </a:spcAft>
      <a:defRPr kern="1200">
        <a:solidFill>
          <a:schemeClr val="tx1"/>
        </a:solidFill>
        <a:latin typeface="BentonSans Book"/>
        <a:ea typeface="ＭＳ Ｐゴシック" charset="0"/>
        <a:cs typeface="+mn-cs"/>
      </a:defRPr>
    </a:lvl3pPr>
    <a:lvl4pPr marL="1958975" algn="l" defTabSz="1304925" rtl="0" fontAlgn="base">
      <a:spcBef>
        <a:spcPct val="30000"/>
      </a:spcBef>
      <a:spcAft>
        <a:spcPct val="0"/>
      </a:spcAft>
      <a:defRPr kern="1200">
        <a:solidFill>
          <a:schemeClr val="tx1"/>
        </a:solidFill>
        <a:latin typeface="BentonSans Book"/>
        <a:ea typeface="ＭＳ Ｐゴシック" charset="0"/>
        <a:cs typeface="+mn-cs"/>
      </a:defRPr>
    </a:lvl4pPr>
    <a:lvl5pPr marL="2611438" algn="l" defTabSz="1304925" rtl="0" fontAlgn="base">
      <a:spcBef>
        <a:spcPct val="30000"/>
      </a:spcBef>
      <a:spcAft>
        <a:spcPct val="0"/>
      </a:spcAft>
      <a:defRPr kern="1200">
        <a:solidFill>
          <a:schemeClr val="tx1"/>
        </a:solidFill>
        <a:latin typeface="BentonSans Book"/>
        <a:ea typeface="ＭＳ Ｐゴシック" charset="0"/>
        <a:cs typeface="+mn-cs"/>
      </a:defRPr>
    </a:lvl5pPr>
    <a:lvl6pPr marL="3265550" algn="l" defTabSz="1306221" rtl="0" eaLnBrk="1" latinLnBrk="0" hangingPunct="1">
      <a:defRPr sz="1800" kern="1200">
        <a:solidFill>
          <a:schemeClr val="tx1"/>
        </a:solidFill>
        <a:latin typeface="+mn-lt"/>
        <a:ea typeface="+mn-ea"/>
        <a:cs typeface="+mn-cs"/>
      </a:defRPr>
    </a:lvl6pPr>
    <a:lvl7pPr marL="3918661" algn="l" defTabSz="1306221" rtl="0" eaLnBrk="1" latinLnBrk="0" hangingPunct="1">
      <a:defRPr sz="1800" kern="1200">
        <a:solidFill>
          <a:schemeClr val="tx1"/>
        </a:solidFill>
        <a:latin typeface="+mn-lt"/>
        <a:ea typeface="+mn-ea"/>
        <a:cs typeface="+mn-cs"/>
      </a:defRPr>
    </a:lvl7pPr>
    <a:lvl8pPr marL="4571771" algn="l" defTabSz="1306221" rtl="0" eaLnBrk="1" latinLnBrk="0" hangingPunct="1">
      <a:defRPr sz="1800" kern="1200">
        <a:solidFill>
          <a:schemeClr val="tx1"/>
        </a:solidFill>
        <a:latin typeface="+mn-lt"/>
        <a:ea typeface="+mn-ea"/>
        <a:cs typeface="+mn-cs"/>
      </a:defRPr>
    </a:lvl8pPr>
    <a:lvl9pPr marL="5224882" algn="l" defTabSz="1306221"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onlinegrammar.com.au/top-10-grammar-myths-data-is-plural-so-must-take-a-plural-verb/"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tableau.com/products/desktop?_ga=2.152332283.350376687.1578950597-123116840.1560793840&amp;_fsi=kj4bIexc#data-sources"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help.tableau.com/current/pro/desktop/en-us/data_tips.htm"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help.tableau.com/current/pro/desktop/en-us/data_tips.htm"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686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Title Slide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CD91A26F-ABB8-4D73-8368-15783F093E3D}"/>
              </a:ext>
            </a:extLst>
          </p:cNvPr>
          <p:cNvSpPr>
            <a:spLocks noGrp="1" noRot="1" noChangeAspect="1" noTextEdit="1"/>
          </p:cNvSpPr>
          <p:nvPr>
            <p:ph type="sldImg"/>
          </p:nvPr>
        </p:nvSpPr>
        <p:spPr bwMode="auto">
          <a:xfrm>
            <a:off x="2322513" y="530225"/>
            <a:ext cx="4718050" cy="2654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E624FB2F-F12F-438A-848C-4D3D62FAFD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Remind students of the definition of data literacy.</a:t>
            </a:r>
          </a:p>
          <a:p>
            <a:r>
              <a:rPr lang="en-US" altLang="en-US" dirty="0"/>
              <a:t>We begin to connect to the terms that we use when working with and describing data.</a:t>
            </a:r>
          </a:p>
          <a:p>
            <a:endParaRPr lang="en-US" altLang="en-US" dirty="0"/>
          </a:p>
          <a:p>
            <a:r>
              <a:rPr lang="en-US" altLang="en-US" dirty="0"/>
              <a:t>Note that Jeff uses the plural form of data.  There are times when data can be used as singular and our language is evolving</a:t>
            </a:r>
          </a:p>
          <a:p>
            <a:r>
              <a:rPr lang="en-US" dirty="0">
                <a:hlinkClick r:id="rId3"/>
              </a:rPr>
              <a:t>https://www.onlinegrammar.com.au/top-10-grammar-myths-data-is-plural-so-must-take-a-plural-verb/</a:t>
            </a:r>
            <a:endParaRPr lang="en-US" altLang="en-US" dirty="0"/>
          </a:p>
          <a:p>
            <a:endParaRPr lang="en-US" altLang="en-US" dirty="0"/>
          </a:p>
        </p:txBody>
      </p:sp>
      <p:sp>
        <p:nvSpPr>
          <p:cNvPr id="35844" name="Slide Number Placeholder 3">
            <a:extLst>
              <a:ext uri="{FF2B5EF4-FFF2-40B4-BE49-F238E27FC236}">
                <a16:creationId xmlns:a16="http://schemas.microsoft.com/office/drawing/2014/main" id="{6F33FB53-A13B-468F-A261-3883F7BFD78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289F43D-9CDA-4ADB-870F-ABF83D6FD957}" type="slidenum">
              <a:rPr lang="en-US" altLang="en-US" smtClean="0"/>
              <a:pPr>
                <a:spcBef>
                  <a:spcPct val="0"/>
                </a:spcBef>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8A1F63E1-ED9D-413A-BC2A-B1A9E428A49A}"/>
              </a:ext>
            </a:extLst>
          </p:cNvPr>
          <p:cNvSpPr>
            <a:spLocks noGrp="1" noRot="1" noChangeAspect="1" noTextEdit="1"/>
          </p:cNvSpPr>
          <p:nvPr>
            <p:ph type="sldImg"/>
          </p:nvPr>
        </p:nvSpPr>
        <p:spPr bwMode="auto">
          <a:xfrm>
            <a:off x="2322513" y="530225"/>
            <a:ext cx="4718050" cy="2654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D4A608C6-2E74-409C-837B-D33154EB9B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7892" name="Slide Number Placeholder 3">
            <a:extLst>
              <a:ext uri="{FF2B5EF4-FFF2-40B4-BE49-F238E27FC236}">
                <a16:creationId xmlns:a16="http://schemas.microsoft.com/office/drawing/2014/main" id="{49F1CE8E-322C-4A8A-AE18-F6E3385D2A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FDF0035-F929-4B73-924E-215E220D525E}" type="slidenum">
              <a:rPr lang="en-US" altLang="en-US" smtClean="0"/>
              <a:pPr>
                <a:spcBef>
                  <a:spcPct val="0"/>
                </a:spcBef>
              </a:pPr>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608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BentonSans Book" charset="0"/>
              </a:rPr>
              <a:t>Refer to Elements of Data Style reading page 11.</a:t>
            </a:r>
          </a:p>
          <a:p>
            <a:pPr>
              <a:spcBef>
                <a:spcPct val="0"/>
              </a:spcBef>
            </a:pPr>
            <a:r>
              <a:rPr lang="en-US" dirty="0">
                <a:latin typeface="BentonSans Book" charset="0"/>
              </a:rPr>
              <a:t>Mention that “raw data is relative” and depends on the situation.  </a:t>
            </a:r>
          </a:p>
        </p:txBody>
      </p:sp>
    </p:spTree>
    <p:extLst>
      <p:ext uri="{BB962C8B-B14F-4D97-AF65-F5344CB8AC3E}">
        <p14:creationId xmlns:p14="http://schemas.microsoft.com/office/powerpoint/2010/main" val="384960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want to make this slide easier to read.</a:t>
            </a:r>
          </a:p>
          <a:p>
            <a:r>
              <a:rPr lang="en-US" dirty="0"/>
              <a:t>From our website: </a:t>
            </a:r>
            <a:r>
              <a:rPr lang="en-US" dirty="0">
                <a:hlinkClick r:id="rId3"/>
              </a:rPr>
              <a:t>https://www.tableau.com/products/desktop?_ga=2.152332283.350376687.1578950597-123116840.1560793840&amp;_fsi=kj4bIexc#data-sources</a:t>
            </a:r>
            <a:endParaRPr lang="en-US" dirty="0"/>
          </a:p>
        </p:txBody>
      </p:sp>
    </p:spTree>
    <p:extLst>
      <p:ext uri="{BB962C8B-B14F-4D97-AF65-F5344CB8AC3E}">
        <p14:creationId xmlns:p14="http://schemas.microsoft.com/office/powerpoint/2010/main" val="3296522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710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BentonSans Book" charset="0"/>
              </a:rPr>
              <a:t>Discuss Stephen </a:t>
            </a:r>
            <a:r>
              <a:rPr lang="en-US" dirty="0" err="1">
                <a:latin typeface="BentonSans Book" charset="0"/>
              </a:rPr>
              <a:t>Few’s</a:t>
            </a:r>
            <a:r>
              <a:rPr lang="en-US" dirty="0">
                <a:latin typeface="BentonSans Book" charset="0"/>
              </a:rPr>
              <a:t> reading here.  Ask students how having these characteristics help us ask great questions.</a:t>
            </a:r>
          </a:p>
        </p:txBody>
      </p:sp>
    </p:spTree>
    <p:extLst>
      <p:ext uri="{BB962C8B-B14F-4D97-AF65-F5344CB8AC3E}">
        <p14:creationId xmlns:p14="http://schemas.microsoft.com/office/powerpoint/2010/main" val="4151497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608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BentonSans Book" charset="0"/>
              </a:rPr>
              <a:t>Tip for beginner students:  If you have students who are very new to data, have them create a dataset on the board by having them list Name, height, eye color, favorite movie, or other variables.  The act of physically making a dataset can help students remember the concept.  </a:t>
            </a:r>
          </a:p>
        </p:txBody>
      </p:sp>
    </p:spTree>
    <p:extLst>
      <p:ext uri="{BB962C8B-B14F-4D97-AF65-F5344CB8AC3E}">
        <p14:creationId xmlns:p14="http://schemas.microsoft.com/office/powerpoint/2010/main" val="3700735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608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BentonSans Book" charset="0"/>
              </a:rPr>
              <a:t>Note: the italicized bullets will not be covered in this course but are part of the definition of tidy data.  Students who will be moving on to programing materials in future coursework will need to be aware of these characteristics of tidy data.</a:t>
            </a:r>
          </a:p>
        </p:txBody>
      </p:sp>
    </p:spTree>
    <p:extLst>
      <p:ext uri="{BB962C8B-B14F-4D97-AF65-F5344CB8AC3E}">
        <p14:creationId xmlns:p14="http://schemas.microsoft.com/office/powerpoint/2010/main" val="3339576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BentonSans Book" charset="0"/>
              </a:rPr>
              <a:t>Discuss example in Tips for working with data: </a:t>
            </a:r>
            <a:r>
              <a:rPr lang="en-US" dirty="0">
                <a:hlinkClick r:id="rId3"/>
              </a:rPr>
              <a:t>https://help.tableau.com/current/pro/desktop/en-us/data_tips.htm</a:t>
            </a:r>
            <a:endParaRPr lang="en-US" dirty="0">
              <a:latin typeface="BentonSans Book" charset="0"/>
            </a:endParaRPr>
          </a:p>
        </p:txBody>
      </p:sp>
    </p:spTree>
    <p:extLst>
      <p:ext uri="{BB962C8B-B14F-4D97-AF65-F5344CB8AC3E}">
        <p14:creationId xmlns:p14="http://schemas.microsoft.com/office/powerpoint/2010/main" val="1342269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1304925" rtl="0" eaLnBrk="1" fontAlgn="base" latinLnBrk="0" hangingPunct="1">
              <a:lnSpc>
                <a:spcPct val="100000"/>
              </a:lnSpc>
              <a:spcBef>
                <a:spcPct val="0"/>
              </a:spcBef>
              <a:spcAft>
                <a:spcPct val="0"/>
              </a:spcAft>
              <a:buClrTx/>
              <a:buSzTx/>
              <a:buFontTx/>
              <a:buNone/>
              <a:tabLst/>
              <a:defRPr/>
            </a:pPr>
            <a:r>
              <a:rPr lang="en-US" dirty="0">
                <a:latin typeface="BentonSans Book" charset="0"/>
              </a:rPr>
              <a:t>Discuss example in Tips for working with data: </a:t>
            </a:r>
            <a:r>
              <a:rPr lang="en-US" dirty="0">
                <a:hlinkClick r:id="rId3"/>
              </a:rPr>
              <a:t>https://help.tableau.com/current/pro/desktop/en-us/data_tips.htm</a:t>
            </a:r>
            <a:endParaRPr lang="en-US" dirty="0">
              <a:latin typeface="BentonSans Book" charset="0"/>
            </a:endParaRPr>
          </a:p>
          <a:p>
            <a:pPr>
              <a:spcBef>
                <a:spcPct val="0"/>
              </a:spcBef>
            </a:pPr>
            <a:endParaRPr lang="en-US" dirty="0">
              <a:latin typeface="BentonSans Book" charset="0"/>
            </a:endParaRPr>
          </a:p>
        </p:txBody>
      </p:sp>
    </p:spTree>
    <p:extLst>
      <p:ext uri="{BB962C8B-B14F-4D97-AF65-F5344CB8AC3E}">
        <p14:creationId xmlns:p14="http://schemas.microsoft.com/office/powerpoint/2010/main" val="458875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latin typeface="BentonSans Book" charset="0"/>
              </a:rPr>
              <a:t>Ask students to name all that is wrong with this file and why the file is not a real “dataset”.  </a:t>
            </a:r>
          </a:p>
          <a:p>
            <a:pPr>
              <a:spcBef>
                <a:spcPct val="0"/>
              </a:spcBef>
            </a:pPr>
            <a:r>
              <a:rPr lang="en-US" dirty="0">
                <a:latin typeface="BentonSans Book" charset="0"/>
              </a:rPr>
              <a:t>Use as in-class activity: </a:t>
            </a:r>
          </a:p>
          <a:p>
            <a:pPr>
              <a:spcBef>
                <a:spcPct val="0"/>
              </a:spcBef>
            </a:pPr>
            <a:r>
              <a:rPr lang="en-US" dirty="0">
                <a:latin typeface="BentonSans Book" charset="0"/>
              </a:rPr>
              <a:t>1)      Have them first work on their own</a:t>
            </a:r>
          </a:p>
          <a:p>
            <a:pPr marL="342900" indent="-342900">
              <a:spcBef>
                <a:spcPct val="0"/>
              </a:spcBef>
              <a:buAutoNum type="arabicParenR" startAt="2"/>
            </a:pPr>
            <a:r>
              <a:rPr lang="en-US" dirty="0">
                <a:latin typeface="BentonSans Book" charset="0"/>
              </a:rPr>
              <a:t>Discuss in pairs or groups</a:t>
            </a:r>
          </a:p>
          <a:p>
            <a:pPr marL="342900" indent="-342900">
              <a:spcBef>
                <a:spcPct val="0"/>
              </a:spcBef>
              <a:buAutoNum type="arabicParenR" startAt="2"/>
            </a:pPr>
            <a:r>
              <a:rPr lang="en-US" dirty="0">
                <a:latin typeface="BentonSans Book" charset="0"/>
              </a:rPr>
              <a:t>Whole class discussion</a:t>
            </a:r>
          </a:p>
          <a:p>
            <a:pPr>
              <a:spcBef>
                <a:spcPct val="0"/>
              </a:spcBef>
            </a:pPr>
            <a:endParaRPr lang="en-US" dirty="0">
              <a:latin typeface="BentonSans Book" charset="0"/>
            </a:endParaRPr>
          </a:p>
          <a:p>
            <a:pPr>
              <a:spcBef>
                <a:spcPct val="0"/>
              </a:spcBef>
            </a:pPr>
            <a:r>
              <a:rPr lang="en-US" dirty="0">
                <a:latin typeface="BentonSans Book" charset="0"/>
              </a:rPr>
              <a:t>Example answers: Many titles in differing rows.  Should have headings in first row only.</a:t>
            </a:r>
          </a:p>
          <a:p>
            <a:pPr>
              <a:spcBef>
                <a:spcPct val="0"/>
              </a:spcBef>
            </a:pPr>
            <a:r>
              <a:rPr lang="en-US" dirty="0">
                <a:latin typeface="BentonSans Book" charset="0"/>
              </a:rPr>
              <a:t>Subtitles (such Age Group, Sex, Race) in first column that are variables</a:t>
            </a:r>
          </a:p>
          <a:p>
            <a:pPr>
              <a:spcBef>
                <a:spcPct val="0"/>
              </a:spcBef>
            </a:pPr>
            <a:r>
              <a:rPr lang="en-US" dirty="0">
                <a:latin typeface="BentonSans Book" charset="0"/>
              </a:rPr>
              <a:t>Highlighted cells will not be read by most software programs, including Tableau</a:t>
            </a:r>
          </a:p>
        </p:txBody>
      </p:sp>
    </p:spTree>
    <p:extLst>
      <p:ext uri="{BB962C8B-B14F-4D97-AF65-F5344CB8AC3E}">
        <p14:creationId xmlns:p14="http://schemas.microsoft.com/office/powerpoint/2010/main" val="36688923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198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atin typeface="BentonSans Book" charset="0"/>
              </a:rPr>
              <a:t>Tableau Logo</a:t>
            </a:r>
          </a:p>
        </p:txBody>
      </p:sp>
    </p:spTree>
    <p:extLst>
      <p:ext uri="{BB962C8B-B14F-4D97-AF65-F5344CB8AC3E}">
        <p14:creationId xmlns:p14="http://schemas.microsoft.com/office/powerpoint/2010/main" val="42591223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Slide">
    <p:spTree>
      <p:nvGrpSpPr>
        <p:cNvPr id="1" name=""/>
        <p:cNvGrpSpPr/>
        <p:nvPr/>
      </p:nvGrpSpPr>
      <p:grpSpPr>
        <a:xfrm>
          <a:off x="0" y="0"/>
          <a:ext cx="0" cy="0"/>
          <a:chOff x="0" y="0"/>
          <a:chExt cx="0" cy="0"/>
        </a:xfrm>
      </p:grpSpPr>
      <p:pic>
        <p:nvPicPr>
          <p:cNvPr id="5" name="Picture 6"/>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1038" y="609600"/>
            <a:ext cx="2593975" cy="539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Click to edit Master text styles</a:t>
            </a:r>
          </a:p>
        </p:txBody>
      </p:sp>
    </p:spTree>
    <p:extLst>
      <p:ext uri="{BB962C8B-B14F-4D97-AF65-F5344CB8AC3E}">
        <p14:creationId xmlns:p14="http://schemas.microsoft.com/office/powerpoint/2010/main" val="1530990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3" name="Text Placeholder 32"/>
          <p:cNvSpPr>
            <a:spLocks noGrp="1"/>
          </p:cNvSpPr>
          <p:nvPr>
            <p:ph type="body" sz="quarter" idx="11"/>
          </p:nvPr>
        </p:nvSpPr>
        <p:spPr>
          <a:xfrm>
            <a:off x="706102" y="1813044"/>
            <a:ext cx="5337174" cy="3643818"/>
          </a:xfrm>
          <a:prstGeom prst="rect">
            <a:avLst/>
          </a:prstGeom>
        </p:spPr>
        <p:txBody>
          <a:bodyPr vert="horz" lIns="0" tIns="0" rIns="0" bIns="0">
            <a:spAutoFit/>
          </a:bodyPr>
          <a:lstStyle>
            <a:lvl1pPr marL="0" indent="0">
              <a:lnSpc>
                <a:spcPct val="150000"/>
              </a:lnSpc>
              <a:spcBef>
                <a:spcPts val="0"/>
              </a:spcBef>
              <a:buFontTx/>
              <a:buNone/>
              <a:defRPr sz="2800" b="0" i="0" baseline="0">
                <a:solidFill>
                  <a:schemeClr val="accent5"/>
                </a:solidFill>
                <a:latin typeface="Merriweather Light"/>
                <a:cs typeface="Merriweather Light"/>
              </a:defRPr>
            </a:lvl1pPr>
            <a:lvl2pPr marL="0" indent="0">
              <a:lnSpc>
                <a:spcPct val="150000"/>
              </a:lnSpc>
              <a:buFontTx/>
              <a:buNone/>
              <a:defRPr sz="2900" baseline="0">
                <a:solidFill>
                  <a:schemeClr val="accent5"/>
                </a:solidFill>
              </a:defRPr>
            </a:lvl2pPr>
            <a:lvl3pPr marL="0" indent="0">
              <a:lnSpc>
                <a:spcPct val="150000"/>
              </a:lnSpc>
              <a:buFontTx/>
              <a:buNone/>
              <a:defRPr sz="2900" baseline="0">
                <a:solidFill>
                  <a:schemeClr val="accent5"/>
                </a:solidFill>
              </a:defRPr>
            </a:lvl3pPr>
            <a:lvl4pPr marL="0" indent="0">
              <a:lnSpc>
                <a:spcPct val="150000"/>
              </a:lnSpc>
              <a:buFontTx/>
              <a:buNone/>
              <a:defRPr sz="2900" baseline="0">
                <a:solidFill>
                  <a:schemeClr val="accent5"/>
                </a:solidFill>
              </a:defRPr>
            </a:lvl4pPr>
            <a:lvl5pPr marL="0" indent="0">
              <a:lnSpc>
                <a:spcPct val="150000"/>
              </a:lnSpc>
              <a:buFontTx/>
              <a:buNone/>
              <a:defRPr sz="2900" baseline="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2"/>
          <p:cNvSpPr>
            <a:spLocks noGrp="1"/>
          </p:cNvSpPr>
          <p:nvPr>
            <p:ph type="body" sz="quarter" idx="12"/>
          </p:nvPr>
        </p:nvSpPr>
        <p:spPr>
          <a:xfrm>
            <a:off x="8545513" y="1813044"/>
            <a:ext cx="5414961" cy="3643818"/>
          </a:xfrm>
          <a:prstGeom prst="rect">
            <a:avLst/>
          </a:prstGeom>
        </p:spPr>
        <p:txBody>
          <a:bodyPr vert="horz" wrap="square" lIns="0" tIns="0" rIns="0" bIns="0">
            <a:spAutoFit/>
          </a:bodyPr>
          <a:lstStyle>
            <a:lvl1pPr marL="0" marR="0" indent="0" algn="l" defTabSz="1306221" rtl="0" eaLnBrk="1" fontAlgn="auto" latinLnBrk="0" hangingPunct="1">
              <a:lnSpc>
                <a:spcPct val="150000"/>
              </a:lnSpc>
              <a:spcBef>
                <a:spcPts val="0"/>
              </a:spcBef>
              <a:spcAft>
                <a:spcPts val="0"/>
              </a:spcAft>
              <a:buClrTx/>
              <a:buSzTx/>
              <a:buFontTx/>
              <a:buNone/>
              <a:tabLst/>
              <a:defRPr sz="2800" b="0" i="0" baseline="0">
                <a:solidFill>
                  <a:srgbClr val="4C4C4C"/>
                </a:solidFill>
                <a:latin typeface="Merriweather Light"/>
                <a:cs typeface="Merriweather Light"/>
              </a:defRPr>
            </a:lvl1pPr>
            <a:lvl2pPr marL="0" indent="0">
              <a:lnSpc>
                <a:spcPct val="150000"/>
              </a:lnSpc>
              <a:buFontTx/>
              <a:buNone/>
              <a:defRPr sz="2900" baseline="0">
                <a:solidFill>
                  <a:srgbClr val="4C4C4C"/>
                </a:solidFill>
              </a:defRPr>
            </a:lvl2pPr>
            <a:lvl3pPr marL="0" indent="0">
              <a:lnSpc>
                <a:spcPct val="150000"/>
              </a:lnSpc>
              <a:buFontTx/>
              <a:buNone/>
              <a:defRPr sz="2900" baseline="0">
                <a:solidFill>
                  <a:srgbClr val="4C4C4C"/>
                </a:solidFill>
              </a:defRPr>
            </a:lvl3pPr>
            <a:lvl4pPr marL="0" indent="0">
              <a:lnSpc>
                <a:spcPct val="150000"/>
              </a:lnSpc>
              <a:buFontTx/>
              <a:buNone/>
              <a:defRPr sz="2900" baseline="0">
                <a:solidFill>
                  <a:srgbClr val="4C4C4C"/>
                </a:solidFill>
              </a:defRPr>
            </a:lvl4pPr>
            <a:lvl5pPr marL="0" indent="0">
              <a:lnSpc>
                <a:spcPct val="150000"/>
              </a:lnSpc>
              <a:buFontTx/>
              <a:buNone/>
              <a:defRPr sz="2900" baseline="0">
                <a:solidFill>
                  <a:srgbClr val="4C4C4C"/>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5"/>
          <p:cNvSpPr>
            <a:spLocks noGrp="1"/>
          </p:cNvSpPr>
          <p:nvPr>
            <p:ph type="body" sz="quarter" idx="13"/>
          </p:nvPr>
        </p:nvSpPr>
        <p:spPr>
          <a:xfrm>
            <a:off x="715321" y="600286"/>
            <a:ext cx="13245154" cy="577081"/>
          </a:xfrm>
          <a:prstGeom prst="rect">
            <a:avLst/>
          </a:prstGeom>
        </p:spPr>
        <p:txBody>
          <a:bodyPr wrap="square" lIns="0" tIns="0" rIns="0" bIns="0">
            <a:spAutoFit/>
          </a:bodyPr>
          <a:lstStyle>
            <a:lvl1pPr marL="0" indent="0">
              <a:lnSpc>
                <a:spcPct val="80000"/>
              </a:lnSpc>
              <a:buFontTx/>
              <a:buNone/>
              <a:defRPr sz="4500" b="0" i="0" baseline="0">
                <a:solidFill>
                  <a:schemeClr val="accent5"/>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2246969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7" name="Picture 6" descr="Bottom_Viz_August-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b="-3328"/>
          <a:stretch/>
        </p:blipFill>
        <p:spPr>
          <a:xfrm>
            <a:off x="0" y="3225800"/>
            <a:ext cx="14630400" cy="3153156"/>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Click to edit Master text styles</a:t>
            </a:r>
          </a:p>
        </p:txBody>
      </p:sp>
    </p:spTree>
    <p:extLst>
      <p:ext uri="{BB962C8B-B14F-4D97-AF65-F5344CB8AC3E}">
        <p14:creationId xmlns:p14="http://schemas.microsoft.com/office/powerpoint/2010/main" val="142870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5" name="Picture 4" descr="SectionDivider-03.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658" r="12503"/>
          <a:stretch/>
        </p:blipFill>
        <p:spPr>
          <a:xfrm>
            <a:off x="0" y="2362200"/>
            <a:ext cx="14630400" cy="5482336"/>
          </a:xfrm>
          <a:prstGeom prst="rect">
            <a:avLst/>
          </a:prstGeom>
        </p:spPr>
      </p:pic>
      <p:sp>
        <p:nvSpPr>
          <p:cNvPr id="7"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Click to edit Master text styles</a:t>
            </a:r>
          </a:p>
        </p:txBody>
      </p:sp>
    </p:spTree>
    <p:extLst>
      <p:ext uri="{BB962C8B-B14F-4D97-AF65-F5344CB8AC3E}">
        <p14:creationId xmlns:p14="http://schemas.microsoft.com/office/powerpoint/2010/main" val="2254307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ew Topic">
    <p:spTree>
      <p:nvGrpSpPr>
        <p:cNvPr id="1" name=""/>
        <p:cNvGrpSpPr/>
        <p:nvPr/>
      </p:nvGrpSpPr>
      <p:grpSpPr>
        <a:xfrm>
          <a:off x="0" y="0"/>
          <a:ext cx="0" cy="0"/>
          <a:chOff x="0" y="0"/>
          <a:chExt cx="0" cy="0"/>
        </a:xfrm>
      </p:grpSpPr>
      <p:sp>
        <p:nvSpPr>
          <p:cNvPr id="3" name="Rectangle 2"/>
          <p:cNvSpPr/>
          <p:nvPr/>
        </p:nvSpPr>
        <p:spPr>
          <a:xfrm>
            <a:off x="0" y="0"/>
            <a:ext cx="14630400"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7" name="Picture 6" descr="SectionDivider-02.png"/>
          <p:cNvPicPr>
            <a:picLocks noChangeAspect="1"/>
          </p:cNvPicPr>
          <p:nvPr userDrawn="1"/>
        </p:nvPicPr>
        <p:blipFill rotWithShape="1">
          <a:blip r:embed="rId2" cstate="email">
            <a:extLst>
              <a:ext uri="{28A0092B-C50C-407E-A947-70E740481C1C}">
                <a14:useLocalDpi xmlns:a14="http://schemas.microsoft.com/office/drawing/2010/main" val="0"/>
              </a:ext>
            </a:extLst>
          </a:blip>
          <a:srcRect l="5541"/>
          <a:stretch/>
        </p:blipFill>
        <p:spPr>
          <a:xfrm>
            <a:off x="0" y="2946400"/>
            <a:ext cx="14630400" cy="4749800"/>
          </a:xfrm>
          <a:prstGeom prst="rect">
            <a:avLst/>
          </a:prstGeom>
        </p:spPr>
      </p:pic>
      <p:sp>
        <p:nvSpPr>
          <p:cNvPr id="5" name="Text Placeholder 3"/>
          <p:cNvSpPr>
            <a:spLocks noGrp="1"/>
          </p:cNvSpPr>
          <p:nvPr>
            <p:ph type="body" sz="quarter" idx="11"/>
          </p:nvPr>
        </p:nvSpPr>
        <p:spPr>
          <a:xfrm>
            <a:off x="705985" y="1891756"/>
            <a:ext cx="13245156" cy="577081"/>
          </a:xfrm>
          <a:prstGeom prst="rect">
            <a:avLst/>
          </a:prstGeom>
        </p:spPr>
        <p:txBody>
          <a:bodyPr wrap="square" lIns="0" tIns="0" rIns="0" bIns="0">
            <a:spAutoFit/>
          </a:bodyPr>
          <a:lstStyle>
            <a:lvl1pPr marL="0" indent="0">
              <a:lnSpc>
                <a:spcPct val="80000"/>
              </a:lnSpc>
              <a:buNone/>
              <a:defRPr sz="4500" b="0" i="0" baseline="0">
                <a:solidFill>
                  <a:schemeClr val="accent5"/>
                </a:solidFill>
                <a:latin typeface="BentonSans Book"/>
                <a:cs typeface="BentonSans Book"/>
              </a:defRPr>
            </a:lvl1pPr>
            <a:lvl2pPr marL="653110" indent="0">
              <a:buNone/>
              <a:defRPr/>
            </a:lvl2pPr>
            <a:lvl3pPr marL="1306221" indent="0">
              <a:buNone/>
              <a:defRPr/>
            </a:lvl3pPr>
            <a:lvl4pPr marL="1959331" indent="0">
              <a:buNone/>
              <a:defRPr/>
            </a:lvl4pPr>
            <a:lvl5pPr marL="2612442" indent="0">
              <a:buNone/>
              <a:defRPr/>
            </a:lvl5pPr>
          </a:lstStyle>
          <a:p>
            <a:pPr lvl="0"/>
            <a:r>
              <a:rPr lang="en-US"/>
              <a:t>Click to edit Master text styles</a:t>
            </a:r>
          </a:p>
        </p:txBody>
      </p:sp>
    </p:spTree>
    <p:extLst>
      <p:ext uri="{BB962C8B-B14F-4D97-AF65-F5344CB8AC3E}">
        <p14:creationId xmlns:p14="http://schemas.microsoft.com/office/powerpoint/2010/main" val="476552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4122793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ulti-level content">
    <p:spTree>
      <p:nvGrpSpPr>
        <p:cNvPr id="1" name=""/>
        <p:cNvGrpSpPr/>
        <p:nvPr/>
      </p:nvGrpSpPr>
      <p:grpSpPr>
        <a:xfrm>
          <a:off x="0" y="0"/>
          <a:ext cx="0" cy="0"/>
          <a:chOff x="0" y="0"/>
          <a:chExt cx="0" cy="0"/>
        </a:xfrm>
      </p:grpSpPr>
      <p:sp>
        <p:nvSpPr>
          <p:cNvPr id="18"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
        <p:nvSpPr>
          <p:cNvPr id="4" name="Content Placeholder 2"/>
          <p:cNvSpPr>
            <a:spLocks noGrp="1"/>
          </p:cNvSpPr>
          <p:nvPr>
            <p:ph idx="14"/>
          </p:nvPr>
        </p:nvSpPr>
        <p:spPr>
          <a:xfrm>
            <a:off x="704476" y="1893515"/>
            <a:ext cx="13274793" cy="443198"/>
          </a:xfrm>
          <a:prstGeom prst="rect">
            <a:avLst/>
          </a:prstGeom>
        </p:spPr>
        <p:txBody>
          <a:bodyPr wrap="square" lIns="0" tIns="0" rIns="0" bIns="0">
            <a:spAutoFit/>
          </a:bodyPr>
          <a:lstStyle>
            <a:lvl1pPr marL="6350" indent="0">
              <a:spcBef>
                <a:spcPts val="0"/>
              </a:spcBef>
              <a:spcAft>
                <a:spcPts val="600"/>
              </a:spcAft>
              <a:buSzPct val="100000"/>
              <a:buFont typeface="+mj-lt"/>
              <a:buNone/>
              <a:tabLst/>
              <a:defRPr sz="2800" b="0" i="0" baseline="0">
                <a:solidFill>
                  <a:srgbClr val="4C4C4C"/>
                </a:solidFill>
                <a:latin typeface="Merriweather Light"/>
                <a:cs typeface="Merriweather Light"/>
              </a:defRPr>
            </a:lvl1pPr>
            <a:lvl2pPr marL="288925" indent="0">
              <a:spcBef>
                <a:spcPts val="0"/>
              </a:spcBef>
              <a:spcAft>
                <a:spcPts val="600"/>
              </a:spcAft>
              <a:buSzPct val="100000"/>
              <a:buFont typeface="+mj-lt"/>
              <a:buNone/>
              <a:defRPr sz="2400" baseline="0">
                <a:solidFill>
                  <a:schemeClr val="accent5"/>
                </a:solidFill>
              </a:defRPr>
            </a:lvl2pPr>
            <a:lvl3pPr marL="512763" indent="0">
              <a:spcBef>
                <a:spcPts val="0"/>
              </a:spcBef>
              <a:spcAft>
                <a:spcPts val="600"/>
              </a:spcAft>
              <a:buSzPct val="100000"/>
              <a:buFont typeface="+mj-lt"/>
              <a:buNone/>
              <a:defRPr sz="2100" baseline="0">
                <a:solidFill>
                  <a:schemeClr val="accent5"/>
                </a:solidFill>
              </a:defRPr>
            </a:lvl3pPr>
            <a:lvl4pPr marL="741363" indent="0">
              <a:spcBef>
                <a:spcPts val="0"/>
              </a:spcBef>
              <a:spcAft>
                <a:spcPts val="600"/>
              </a:spcAft>
              <a:buSzPct val="100000"/>
              <a:buFont typeface="+mj-lt"/>
              <a:buNone/>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p:txBody>
      </p:sp>
    </p:spTree>
    <p:extLst>
      <p:ext uri="{BB962C8B-B14F-4D97-AF65-F5344CB8AC3E}">
        <p14:creationId xmlns:p14="http://schemas.microsoft.com/office/powerpoint/2010/main" val="3635177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3276599" y="2438401"/>
            <a:ext cx="9133131" cy="761747"/>
          </a:xfrm>
        </p:spPr>
        <p:txBody>
          <a:bodyPr/>
          <a:lstStyle>
            <a:lvl1pPr>
              <a:defRPr sz="5400" baseline="0">
                <a:solidFill>
                  <a:schemeClr val="accent5"/>
                </a:solidFill>
              </a:defRPr>
            </a:lvl1pPr>
          </a:lstStyle>
          <a:p>
            <a:r>
              <a:rPr lang="en-US"/>
              <a:t>Click to edit Master title style</a:t>
            </a:r>
          </a:p>
        </p:txBody>
      </p:sp>
      <p:sp>
        <p:nvSpPr>
          <p:cNvPr id="13" name="Text Placeholder 12"/>
          <p:cNvSpPr>
            <a:spLocks noGrp="1"/>
          </p:cNvSpPr>
          <p:nvPr>
            <p:ph type="body" sz="quarter" idx="11"/>
          </p:nvPr>
        </p:nvSpPr>
        <p:spPr>
          <a:xfrm>
            <a:off x="3561080" y="3733800"/>
            <a:ext cx="8077200" cy="369332"/>
          </a:xfrm>
          <a:prstGeom prst="rect">
            <a:avLst/>
          </a:prstGeom>
        </p:spPr>
        <p:txBody>
          <a:bodyPr lIns="0" tIns="0" rIns="0" bIns="0">
            <a:spAutoFit/>
          </a:bodyPr>
          <a:lstStyle>
            <a:lvl1pPr marL="0" indent="0">
              <a:buNone/>
              <a:defRPr sz="2400" baseline="0">
                <a:solidFill>
                  <a:schemeClr val="accent5"/>
                </a:solidFill>
                <a:latin typeface="Merriweather Light"/>
                <a:cs typeface="Merriweather Light"/>
              </a:defRPr>
            </a:lvl1pPr>
            <a:lvl2pPr marL="653110" indent="0">
              <a:buNone/>
              <a:defRPr sz="1000"/>
            </a:lvl2pPr>
            <a:lvl3pPr marL="1306221" indent="0">
              <a:buNone/>
              <a:defRPr sz="1000"/>
            </a:lvl3pPr>
            <a:lvl4pPr marL="1959331" indent="0">
              <a:buNone/>
              <a:defRPr sz="1000"/>
            </a:lvl4pPr>
            <a:lvl5pPr marL="2612442" indent="0">
              <a:buNone/>
              <a:defRPr sz="1000"/>
            </a:lvl5pPr>
          </a:lstStyle>
          <a:p>
            <a:pPr lvl="0"/>
            <a:r>
              <a:rPr lang="en-US"/>
              <a:t>Click to edit Master text styles</a:t>
            </a:r>
          </a:p>
        </p:txBody>
      </p:sp>
    </p:spTree>
    <p:extLst>
      <p:ext uri="{BB962C8B-B14F-4D97-AF65-F5344CB8AC3E}">
        <p14:creationId xmlns:p14="http://schemas.microsoft.com/office/powerpoint/2010/main" val="1972645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357" y="1893515"/>
            <a:ext cx="13274793" cy="1631216"/>
          </a:xfrm>
          <a:prstGeom prst="rect">
            <a:avLst/>
          </a:prstGeom>
        </p:spPr>
        <p:txBody>
          <a:bodyPr wrap="square" lIns="0" tIns="0" rIns="0" bIns="0">
            <a:spAutoFit/>
          </a:bodyPr>
          <a:lstStyle>
            <a:lvl1pPr marL="520701" indent="-514350">
              <a:spcBef>
                <a:spcPts val="0"/>
              </a:spcBef>
              <a:spcAft>
                <a:spcPts val="600"/>
              </a:spcAft>
              <a:buSzPct val="100000"/>
              <a:buFont typeface="+mj-lt"/>
              <a:buAutoNum type="arabicPeriod"/>
              <a:tabLst/>
              <a:defRPr sz="2800" baseline="0">
                <a:solidFill>
                  <a:schemeClr val="accent5"/>
                </a:solidFill>
                <a:latin typeface="Merriweather Light"/>
                <a:cs typeface="Merriweather Light"/>
              </a:defRPr>
            </a:lvl1pPr>
            <a:lvl2pPr marL="746125" indent="-457200">
              <a:spcBef>
                <a:spcPts val="0"/>
              </a:spcBef>
              <a:spcAft>
                <a:spcPts val="600"/>
              </a:spcAft>
              <a:buSzPct val="100000"/>
              <a:buFont typeface="+mj-lt"/>
              <a:buAutoNum type="romanUcPeriod"/>
              <a:defRPr sz="2400" baseline="0">
                <a:solidFill>
                  <a:schemeClr val="accent5"/>
                </a:solidFill>
                <a:latin typeface="Merriweather Light"/>
                <a:cs typeface="Merriweather Light"/>
              </a:defRPr>
            </a:lvl2pPr>
            <a:lvl3pPr marL="969963" indent="-457200">
              <a:spcBef>
                <a:spcPts val="0"/>
              </a:spcBef>
              <a:spcAft>
                <a:spcPts val="600"/>
              </a:spcAft>
              <a:buSzPct val="100000"/>
              <a:buFont typeface="+mj-lt"/>
              <a:buAutoNum type="arabicPeriod"/>
              <a:defRPr sz="2100" baseline="0">
                <a:solidFill>
                  <a:schemeClr val="accent5"/>
                </a:solidFill>
                <a:latin typeface="Merriweather Light"/>
                <a:cs typeface="Merriweather Light"/>
              </a:defRPr>
            </a:lvl3pPr>
            <a:lvl4pPr marL="1084262" indent="-342901">
              <a:spcBef>
                <a:spcPts val="0"/>
              </a:spcBef>
              <a:spcAft>
                <a:spcPts val="600"/>
              </a:spcAft>
              <a:buSzPct val="100000"/>
              <a:buFont typeface="+mj-lt"/>
              <a:buAutoNum type="arabicPeriod"/>
              <a:defRPr sz="1800" baseline="0">
                <a:solidFill>
                  <a:schemeClr val="accent5"/>
                </a:solidFill>
              </a:defRPr>
            </a:lvl4pPr>
            <a:lvl5pPr marL="2063749" indent="0">
              <a:buSzPct val="100000"/>
              <a:buFont typeface="+mj-lt"/>
              <a:buNone/>
              <a:defRPr sz="1600">
                <a:solidFill>
                  <a:srgbClr val="4C4C4C"/>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737769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Copy">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4476" y="1893515"/>
            <a:ext cx="1327382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rgbClr val="4C4C4C"/>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1644417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Copy - 2 Column">
    <p:spTree>
      <p:nvGrpSpPr>
        <p:cNvPr id="1" name=""/>
        <p:cNvGrpSpPr/>
        <p:nvPr/>
      </p:nvGrpSpPr>
      <p:grpSpPr>
        <a:xfrm>
          <a:off x="0" y="0"/>
          <a:ext cx="0" cy="0"/>
          <a:chOff x="0" y="0"/>
          <a:chExt cx="0" cy="0"/>
        </a:xfrm>
      </p:grpSpPr>
      <p:sp>
        <p:nvSpPr>
          <p:cNvPr id="4" name="Content Placeholder 2"/>
          <p:cNvSpPr>
            <a:spLocks noGrp="1"/>
          </p:cNvSpPr>
          <p:nvPr>
            <p:ph idx="14"/>
          </p:nvPr>
        </p:nvSpPr>
        <p:spPr>
          <a:xfrm>
            <a:off x="705331" y="1893749"/>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5"/>
          </p:nvPr>
        </p:nvSpPr>
        <p:spPr>
          <a:xfrm>
            <a:off x="7311907" y="1893515"/>
            <a:ext cx="5943600" cy="1631216"/>
          </a:xfrm>
          <a:prstGeom prst="rect">
            <a:avLst/>
          </a:prstGeom>
        </p:spPr>
        <p:txBody>
          <a:bodyPr wrap="square" lIns="0" tIns="0" rIns="0" bIns="0" numCol="1" spcCol="365760">
            <a:spAutoFit/>
          </a:bodyPr>
          <a:lstStyle>
            <a:lvl1pPr marL="6350" indent="274320">
              <a:spcBef>
                <a:spcPts val="0"/>
              </a:spcBef>
              <a:spcAft>
                <a:spcPts val="600"/>
              </a:spcAft>
              <a:buSzPct val="100000"/>
              <a:buFont typeface="Arial"/>
              <a:buChar char="•"/>
              <a:tabLst/>
              <a:defRPr sz="2800" baseline="0">
                <a:solidFill>
                  <a:schemeClr val="accent5"/>
                </a:solidFill>
                <a:latin typeface="Merriweather Light"/>
                <a:cs typeface="Merriweather Light"/>
              </a:defRPr>
            </a:lvl1pPr>
            <a:lvl2pPr marL="288925" indent="273050">
              <a:spcBef>
                <a:spcPts val="0"/>
              </a:spcBef>
              <a:spcAft>
                <a:spcPts val="600"/>
              </a:spcAft>
              <a:buSzPct val="100000"/>
              <a:buFont typeface="Arial"/>
              <a:buChar char="•"/>
              <a:defRPr sz="2400" baseline="0">
                <a:solidFill>
                  <a:schemeClr val="accent5"/>
                </a:solidFill>
                <a:latin typeface="Merriweather Light"/>
                <a:cs typeface="Merriweather Light"/>
              </a:defRPr>
            </a:lvl2pPr>
            <a:lvl3pPr marL="512763" indent="273050">
              <a:spcBef>
                <a:spcPts val="0"/>
              </a:spcBef>
              <a:spcAft>
                <a:spcPts val="600"/>
              </a:spcAft>
              <a:buSzPct val="100000"/>
              <a:buFont typeface="Arial"/>
              <a:buChar char="•"/>
              <a:defRPr sz="2100" baseline="0">
                <a:solidFill>
                  <a:schemeClr val="accent5"/>
                </a:solidFill>
              </a:defRPr>
            </a:lvl3pPr>
            <a:lvl4pPr marL="1027114" indent="-285750">
              <a:spcBef>
                <a:spcPts val="0"/>
              </a:spcBef>
              <a:spcAft>
                <a:spcPts val="600"/>
              </a:spcAft>
              <a:buSzPct val="100000"/>
              <a:buFont typeface="Arial"/>
              <a:buChar char="•"/>
              <a:defRPr sz="1800" baseline="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266054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mp; Copy">
    <p:spTree>
      <p:nvGrpSpPr>
        <p:cNvPr id="1" name=""/>
        <p:cNvGrpSpPr/>
        <p:nvPr/>
      </p:nvGrpSpPr>
      <p:grpSpPr>
        <a:xfrm>
          <a:off x="0" y="0"/>
          <a:ext cx="0" cy="0"/>
          <a:chOff x="0" y="0"/>
          <a:chExt cx="0" cy="0"/>
        </a:xfrm>
      </p:grpSpPr>
      <p:sp>
        <p:nvSpPr>
          <p:cNvPr id="6" name="Content Placeholder 2"/>
          <p:cNvSpPr>
            <a:spLocks noGrp="1"/>
          </p:cNvSpPr>
          <p:nvPr>
            <p:ph idx="13"/>
          </p:nvPr>
        </p:nvSpPr>
        <p:spPr>
          <a:xfrm>
            <a:off x="7329803" y="1887752"/>
            <a:ext cx="6649347" cy="443198"/>
          </a:xfrm>
          <a:prstGeom prst="rect">
            <a:avLst/>
          </a:prstGeom>
        </p:spPr>
        <p:txBody>
          <a:bodyPr wrap="square" lIns="0" tIns="0" rIns="0" bIns="0">
            <a:spAutoFit/>
          </a:bodyPr>
          <a:lstStyle>
            <a:lvl1pPr marL="0" indent="0">
              <a:buSzPct val="100000"/>
              <a:buFont typeface="Arial"/>
              <a:buNone/>
              <a:defRPr sz="2800">
                <a:solidFill>
                  <a:schemeClr val="accent5"/>
                </a:solidFill>
                <a:latin typeface="Merriweather Light"/>
                <a:cs typeface="Merriweather Light"/>
              </a:defRPr>
            </a:lvl1pPr>
            <a:lvl2pPr marL="339725" indent="0">
              <a:buSzPct val="100000"/>
              <a:buFont typeface="Arial"/>
              <a:buNone/>
              <a:defRPr sz="2400">
                <a:solidFill>
                  <a:schemeClr val="accent5"/>
                </a:solidFill>
              </a:defRPr>
            </a:lvl2pPr>
            <a:lvl3pPr marL="692150" indent="0">
              <a:buSzPct val="100000"/>
              <a:buFont typeface="Arial"/>
              <a:buNone/>
              <a:defRPr sz="2100">
                <a:solidFill>
                  <a:schemeClr val="accent5"/>
                </a:solidFill>
              </a:defRPr>
            </a:lvl3pPr>
            <a:lvl4pPr marL="1384301" indent="0">
              <a:buSzPct val="100000"/>
              <a:buFont typeface="Arial"/>
              <a:buNone/>
              <a:defRPr sz="1800">
                <a:solidFill>
                  <a:schemeClr val="accent5"/>
                </a:solidFill>
              </a:defRPr>
            </a:lvl4pPr>
            <a:lvl5pPr marL="2406650" indent="-342901">
              <a:buSzPct val="100000"/>
              <a:buFont typeface="+mj-lt"/>
              <a:buAutoNum type="arabicPeriod"/>
              <a:defRPr sz="1600">
                <a:solidFill>
                  <a:schemeClr val="accent5"/>
                </a:solidFill>
              </a:defRPr>
            </a:lvl5pPr>
          </a:lstStyle>
          <a:p>
            <a:pPr lvl="0"/>
            <a:r>
              <a:rPr lang="en-US"/>
              <a:t>Click to edit Master text styles</a:t>
            </a:r>
          </a:p>
        </p:txBody>
      </p:sp>
      <p:sp>
        <p:nvSpPr>
          <p:cNvPr id="4" name="Picture Placeholder 4"/>
          <p:cNvSpPr>
            <a:spLocks noGrp="1"/>
          </p:cNvSpPr>
          <p:nvPr>
            <p:ph type="pic" sz="quarter" idx="10"/>
          </p:nvPr>
        </p:nvSpPr>
        <p:spPr>
          <a:xfrm>
            <a:off x="704476" y="1869074"/>
            <a:ext cx="6019800" cy="5407933"/>
          </a:xfrm>
          <a:prstGeom prst="rect">
            <a:avLst/>
          </a:prstGeom>
          <a:ln w="6350" cmpd="sng">
            <a:solidFill>
              <a:srgbClr val="666666"/>
            </a:solidFill>
          </a:ln>
        </p:spPr>
        <p:txBody>
          <a:bodyPr lIns="91440" tIns="45720" rIns="91440" bIns="45720"/>
          <a:lstStyle>
            <a:lvl1pPr marL="0" indent="0">
              <a:buFontTx/>
              <a:buNone/>
              <a:defRPr sz="2800">
                <a:solidFill>
                  <a:srgbClr val="4C4C4C"/>
                </a:solidFill>
                <a:latin typeface="Merriweather Light"/>
                <a:cs typeface="Merriweather Light"/>
              </a:defRPr>
            </a:lvl1pPr>
          </a:lstStyle>
          <a:p>
            <a:pPr lvl="0"/>
            <a:r>
              <a:rPr lang="en-US" noProof="0"/>
              <a:t>Click icon to add picture</a:t>
            </a:r>
          </a:p>
        </p:txBody>
      </p:sp>
      <p:sp>
        <p:nvSpPr>
          <p:cNvPr id="7"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732568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704476" y="1893515"/>
            <a:ext cx="13273731" cy="5358966"/>
          </a:xfrm>
          <a:prstGeom prst="rect">
            <a:avLst/>
          </a:prstGeom>
        </p:spPr>
        <p:txBody>
          <a:bodyPr lIns="0" tIns="0" rIns="0" bIns="0"/>
          <a:lstStyle>
            <a:lvl1pPr marL="0" indent="0">
              <a:buSzPct val="120000"/>
              <a:buFontTx/>
              <a:buNone/>
              <a:defRPr sz="2800">
                <a:solidFill>
                  <a:schemeClr val="accent5"/>
                </a:solidFill>
                <a:latin typeface="Merriweather Light"/>
                <a:cs typeface="Merriweather Light"/>
              </a:defRPr>
            </a:lvl1pPr>
          </a:lstStyle>
          <a:p>
            <a:pPr lvl="0"/>
            <a:r>
              <a:rPr lang="en-US" noProof="0"/>
              <a:t>Click icon to add table</a:t>
            </a:r>
          </a:p>
        </p:txBody>
      </p:sp>
      <p:sp>
        <p:nvSpPr>
          <p:cNvPr id="5" name="Text Placeholder 5"/>
          <p:cNvSpPr>
            <a:spLocks noGrp="1"/>
          </p:cNvSpPr>
          <p:nvPr>
            <p:ph type="body" sz="quarter" idx="12"/>
          </p:nvPr>
        </p:nvSpPr>
        <p:spPr>
          <a:xfrm>
            <a:off x="710057" y="598699"/>
            <a:ext cx="13269093" cy="577081"/>
          </a:xfrm>
          <a:prstGeom prst="rect">
            <a:avLst/>
          </a:prstGeom>
        </p:spPr>
        <p:txBody>
          <a:bodyPr wrap="square" lIns="0" tIns="0" rIns="0" bIns="0">
            <a:spAutoFit/>
          </a:bodyPr>
          <a:lstStyle>
            <a:lvl1pPr marL="0" indent="0">
              <a:lnSpc>
                <a:spcPct val="80000"/>
              </a:lnSpc>
              <a:buFontTx/>
              <a:buNone/>
              <a:defRPr sz="4500" b="0" i="0">
                <a:solidFill>
                  <a:srgbClr val="4C4C4C"/>
                </a:solidFill>
                <a:latin typeface="BentonSans Book"/>
                <a:cs typeface="BentonSans Book"/>
              </a:defRPr>
            </a:lvl1pPr>
          </a:lstStyle>
          <a:p>
            <a:pPr lvl="0"/>
            <a:r>
              <a:rPr lang="en-US"/>
              <a:t>Click to edit Master text styles</a:t>
            </a:r>
          </a:p>
        </p:txBody>
      </p:sp>
    </p:spTree>
    <p:extLst>
      <p:ext uri="{BB962C8B-B14F-4D97-AF65-F5344CB8AC3E}">
        <p14:creationId xmlns:p14="http://schemas.microsoft.com/office/powerpoint/2010/main" val="3841633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PageImage_NoColorBar">
    <p:spTree>
      <p:nvGrpSpPr>
        <p:cNvPr id="1" name=""/>
        <p:cNvGrpSpPr/>
        <p:nvPr/>
      </p:nvGrpSpPr>
      <p:grpSpPr>
        <a:xfrm>
          <a:off x="0" y="0"/>
          <a:ext cx="0" cy="0"/>
          <a:chOff x="0" y="0"/>
          <a:chExt cx="0" cy="0"/>
        </a:xfrm>
      </p:grpSpPr>
      <p:sp>
        <p:nvSpPr>
          <p:cNvPr id="11" name="Picture Placeholder 2"/>
          <p:cNvSpPr>
            <a:spLocks noGrp="1"/>
          </p:cNvSpPr>
          <p:nvPr>
            <p:ph type="pic" sz="quarter" idx="10"/>
          </p:nvPr>
        </p:nvSpPr>
        <p:spPr>
          <a:xfrm>
            <a:off x="0" y="0"/>
            <a:ext cx="14630400" cy="8229600"/>
          </a:xfrm>
          <a:prstGeom prst="rect">
            <a:avLst/>
          </a:prstGeom>
          <a:solidFill>
            <a:schemeClr val="bg1"/>
          </a:solidFill>
          <a:ln w="6350" cmpd="sng">
            <a:solidFill>
              <a:srgbClr val="666666"/>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p>
        </p:txBody>
      </p:sp>
    </p:spTree>
    <p:extLst>
      <p:ext uri="{BB962C8B-B14F-4D97-AF65-F5344CB8AC3E}">
        <p14:creationId xmlns:p14="http://schemas.microsoft.com/office/powerpoint/2010/main" val="1015207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Page Image w Color Ba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4630400" cy="8229602"/>
          </a:xfrm>
          <a:prstGeom prst="rect">
            <a:avLst/>
          </a:prstGeom>
          <a:ln w="6350" cmpd="sng">
            <a:solidFill>
              <a:schemeClr val="tx1"/>
            </a:solidFill>
          </a:ln>
        </p:spPr>
        <p:txBody>
          <a:bodyPr lIns="91440" tIns="45720" rIns="91440" bIns="45720"/>
          <a:lstStyle>
            <a:lvl1pPr marL="0" indent="0">
              <a:buFontTx/>
              <a:buNone/>
              <a:defRPr sz="2800">
                <a:solidFill>
                  <a:schemeClr val="accent5"/>
                </a:solidFill>
                <a:latin typeface="Merriweather Light"/>
                <a:cs typeface="Merriweather Light"/>
              </a:defRPr>
            </a:lvl1pPr>
          </a:lstStyle>
          <a:p>
            <a:pPr lvl="0"/>
            <a:r>
              <a:rPr lang="en-US" noProof="0"/>
              <a:t>Click icon to add picture</a:t>
            </a:r>
          </a:p>
        </p:txBody>
      </p:sp>
    </p:spTree>
    <p:extLst>
      <p:ext uri="{BB962C8B-B14F-4D97-AF65-F5344CB8AC3E}">
        <p14:creationId xmlns:p14="http://schemas.microsoft.com/office/powerpoint/2010/main" val="3730614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043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sp>
        <p:nvSpPr>
          <p:cNvPr id="2" name="Rectangle 1"/>
          <p:cNvSpPr/>
          <p:nvPr/>
        </p:nvSpPr>
        <p:spPr>
          <a:xfrm>
            <a:off x="0" y="0"/>
            <a:ext cx="14630400" cy="838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306221" fontAlgn="auto">
              <a:spcBef>
                <a:spcPts val="0"/>
              </a:spcBef>
              <a:spcAft>
                <a:spcPts val="0"/>
              </a:spcAft>
              <a:defRPr/>
            </a:pPr>
            <a:endParaRPr lang="en-US">
              <a:latin typeface="BentonSans Book"/>
            </a:endParaRPr>
          </a:p>
        </p:txBody>
      </p:sp>
      <p:pic>
        <p:nvPicPr>
          <p:cNvPr id="3" name="Picture 6" descr="tableau_rgb.eps"/>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946400" y="3206750"/>
            <a:ext cx="8737600" cy="1816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96416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2C22C4-3638-4C46-AE9E-7C242D85ACEE}"/>
              </a:ext>
            </a:extLst>
          </p:cNvPr>
          <p:cNvSpPr>
            <a:spLocks noGrp="1"/>
          </p:cNvSpPr>
          <p:nvPr>
            <p:ph type="dt" sz="half" idx="10"/>
          </p:nvPr>
        </p:nvSpPr>
        <p:spPr/>
        <p:txBody>
          <a:bodyPr/>
          <a:lstStyle>
            <a:lvl1pPr>
              <a:defRPr/>
            </a:lvl1pPr>
          </a:lstStyle>
          <a:p>
            <a:pPr>
              <a:defRPr/>
            </a:pPr>
            <a:fld id="{DFC246AB-6B0F-4845-9064-1989DDA0B24B}" type="datetimeFigureOut">
              <a:rPr lang="en-US"/>
              <a:pPr>
                <a:defRPr/>
              </a:pPr>
              <a:t>9/13/2021</a:t>
            </a:fld>
            <a:endParaRPr lang="en-US"/>
          </a:p>
        </p:txBody>
      </p:sp>
      <p:sp>
        <p:nvSpPr>
          <p:cNvPr id="5" name="Footer Placeholder 4">
            <a:extLst>
              <a:ext uri="{FF2B5EF4-FFF2-40B4-BE49-F238E27FC236}">
                <a16:creationId xmlns:a16="http://schemas.microsoft.com/office/drawing/2014/main" id="{8C786ABA-2091-4A31-80BF-F23AAD688A5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12CF2B6-6905-465D-AA2E-679049A375EC}"/>
              </a:ext>
            </a:extLst>
          </p:cNvPr>
          <p:cNvSpPr>
            <a:spLocks noGrp="1"/>
          </p:cNvSpPr>
          <p:nvPr>
            <p:ph type="sldNum" sz="quarter" idx="12"/>
          </p:nvPr>
        </p:nvSpPr>
        <p:spPr/>
        <p:txBody>
          <a:bodyPr/>
          <a:lstStyle>
            <a:lvl1pPr>
              <a:defRPr/>
            </a:lvl1pPr>
          </a:lstStyle>
          <a:p>
            <a:pPr>
              <a:defRPr/>
            </a:pPr>
            <a:fld id="{A1F0FA6C-E89F-4E60-8F6F-DE9379A19F9C}" type="slidenum">
              <a:rPr lang="en-US" altLang="en-US"/>
              <a:pPr>
                <a:defRPr/>
              </a:pPr>
              <a:t>‹#›</a:t>
            </a:fld>
            <a:endParaRPr lang="en-US" altLang="en-US"/>
          </a:p>
        </p:txBody>
      </p:sp>
    </p:spTree>
    <p:extLst>
      <p:ext uri="{BB962C8B-B14F-4D97-AF65-F5344CB8AC3E}">
        <p14:creationId xmlns:p14="http://schemas.microsoft.com/office/powerpoint/2010/main" val="39864026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2556511"/>
            <a:ext cx="12435840" cy="1764030"/>
          </a:xfrm>
        </p:spPr>
        <p:txBody>
          <a:bodyPr/>
          <a:lstStyle/>
          <a:p>
            <a:r>
              <a:rPr lang="en-US"/>
              <a:t>Click to edit Master title style</a:t>
            </a:r>
          </a:p>
        </p:txBody>
      </p:sp>
      <p:sp>
        <p:nvSpPr>
          <p:cNvPr id="3" name="Subtitle 2"/>
          <p:cNvSpPr>
            <a:spLocks noGrp="1"/>
          </p:cNvSpPr>
          <p:nvPr>
            <p:ph type="subTitle" idx="1"/>
          </p:nvPr>
        </p:nvSpPr>
        <p:spPr>
          <a:xfrm>
            <a:off x="2194560" y="4663440"/>
            <a:ext cx="10241280" cy="210312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2090880-AFB9-4636-BBB5-1BCB59921F51}"/>
              </a:ext>
            </a:extLst>
          </p:cNvPr>
          <p:cNvSpPr>
            <a:spLocks noGrp="1"/>
          </p:cNvSpPr>
          <p:nvPr>
            <p:ph type="dt" sz="half" idx="10"/>
          </p:nvPr>
        </p:nvSpPr>
        <p:spPr/>
        <p:txBody>
          <a:bodyPr/>
          <a:lstStyle>
            <a:lvl1pPr>
              <a:defRPr/>
            </a:lvl1pPr>
          </a:lstStyle>
          <a:p>
            <a:pPr>
              <a:defRPr/>
            </a:pPr>
            <a:fld id="{FB61B1E9-7324-47C7-AB48-951429EE70EF}" type="datetimeFigureOut">
              <a:rPr lang="en-US"/>
              <a:pPr>
                <a:defRPr/>
              </a:pPr>
              <a:t>9/13/2021</a:t>
            </a:fld>
            <a:endParaRPr lang="en-US"/>
          </a:p>
        </p:txBody>
      </p:sp>
      <p:sp>
        <p:nvSpPr>
          <p:cNvPr id="5" name="Footer Placeholder 4">
            <a:extLst>
              <a:ext uri="{FF2B5EF4-FFF2-40B4-BE49-F238E27FC236}">
                <a16:creationId xmlns:a16="http://schemas.microsoft.com/office/drawing/2014/main" id="{A9524568-9574-4049-9944-58E5A3E2998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1B11519-82D6-41B8-8B82-ADE98583567D}"/>
              </a:ext>
            </a:extLst>
          </p:cNvPr>
          <p:cNvSpPr>
            <a:spLocks noGrp="1"/>
          </p:cNvSpPr>
          <p:nvPr>
            <p:ph type="sldNum" sz="quarter" idx="12"/>
          </p:nvPr>
        </p:nvSpPr>
        <p:spPr/>
        <p:txBody>
          <a:bodyPr/>
          <a:lstStyle>
            <a:lvl1pPr>
              <a:defRPr/>
            </a:lvl1pPr>
          </a:lstStyle>
          <a:p>
            <a:pPr>
              <a:defRPr/>
            </a:pPr>
            <a:fld id="{694C503F-507D-406D-8480-1009A03AF4AF}" type="slidenum">
              <a:rPr lang="en-US" altLang="en-US"/>
              <a:pPr>
                <a:defRPr/>
              </a:pPr>
              <a:t>‹#›</a:t>
            </a:fld>
            <a:endParaRPr lang="en-US" altLang="en-US"/>
          </a:p>
        </p:txBody>
      </p:sp>
    </p:spTree>
    <p:extLst>
      <p:ext uri="{BB962C8B-B14F-4D97-AF65-F5344CB8AC3E}">
        <p14:creationId xmlns:p14="http://schemas.microsoft.com/office/powerpoint/2010/main" val="3272641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5" name="Picture 4" descr="Bottom_Viz_August-02.png"/>
          <p:cNvPicPr>
            <a:picLocks noChangeAspect="1"/>
          </p:cNvPicPr>
          <p:nvPr/>
        </p:nvPicPr>
        <p:blipFill rotWithShape="1">
          <a:blip r:embed="rId21" cstate="email">
            <a:extLst>
              <a:ext uri="{28A0092B-C50C-407E-A947-70E740481C1C}">
                <a14:useLocalDpi xmlns:a14="http://schemas.microsoft.com/office/drawing/2010/main" val="0"/>
              </a:ext>
            </a:extLst>
          </a:blip>
          <a:srcRect b="18483"/>
          <a:stretch/>
        </p:blipFill>
        <p:spPr>
          <a:xfrm flipH="1">
            <a:off x="0" y="6932613"/>
            <a:ext cx="14630400" cy="1296987"/>
          </a:xfrm>
          <a:prstGeom prst="rect">
            <a:avLst/>
          </a:prstGeom>
        </p:spPr>
      </p:pic>
      <p:pic>
        <p:nvPicPr>
          <p:cNvPr id="1027" name="Picture 7" descr="tableau_white.eps"/>
          <p:cNvPicPr>
            <a:picLocks noChangeAspect="1"/>
          </p:cNvPicPr>
          <p:nvPr/>
        </p:nvPicPr>
        <p:blipFill>
          <a:blip r:embed="rId22" cstate="email">
            <a:extLst>
              <a:ext uri="{28A0092B-C50C-407E-A947-70E740481C1C}">
                <a14:useLocalDpi xmlns:a14="http://schemas.microsoft.com/office/drawing/2010/main" val="0"/>
              </a:ext>
            </a:extLst>
          </a:blip>
          <a:srcRect/>
          <a:stretch>
            <a:fillRect/>
          </a:stretch>
        </p:blipFill>
        <p:spPr bwMode="auto">
          <a:xfrm>
            <a:off x="12669838" y="7724775"/>
            <a:ext cx="1727200" cy="360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8" name="Title Placeholder 1"/>
          <p:cNvSpPr>
            <a:spLocks noGrp="1"/>
          </p:cNvSpPr>
          <p:nvPr>
            <p:ph type="title"/>
          </p:nvPr>
        </p:nvSpPr>
        <p:spPr bwMode="auto">
          <a:xfrm>
            <a:off x="712788" y="601314"/>
            <a:ext cx="13244512" cy="5770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spAutoFit/>
          </a:bodyPr>
          <a:lstStyle/>
          <a:p>
            <a:pPr lvl="0"/>
            <a:r>
              <a:rPr lang="en-US"/>
              <a:t>Master Title Style</a:t>
            </a:r>
          </a:p>
        </p:txBody>
      </p:sp>
    </p:spTree>
  </p:cSld>
  <p:clrMap bg1="lt1" tx1="dk1" bg2="lt2" tx2="dk2" accent1="accent1" accent2="accent2" accent3="accent3" accent4="accent4" accent5="accent5" accent6="accent6" hlink="hlink" folHlink="folHlink"/>
  <p:sldLayoutIdLst>
    <p:sldLayoutId id="2147484147" r:id="rId1"/>
    <p:sldLayoutId id="2147484135" r:id="rId2"/>
    <p:sldLayoutId id="2147484148" r:id="rId3"/>
    <p:sldLayoutId id="2147484150" r:id="rId4"/>
    <p:sldLayoutId id="2147484152" r:id="rId5"/>
    <p:sldLayoutId id="2147484136" r:id="rId6"/>
    <p:sldLayoutId id="2147484137" r:id="rId7"/>
    <p:sldLayoutId id="2147484138" r:id="rId8"/>
    <p:sldLayoutId id="2147484139" r:id="rId9"/>
    <p:sldLayoutId id="2147484140" r:id="rId10"/>
    <p:sldLayoutId id="2147484141" r:id="rId11"/>
    <p:sldLayoutId id="2147484142" r:id="rId12"/>
    <p:sldLayoutId id="2147484143" r:id="rId13"/>
    <p:sldLayoutId id="2147484144" r:id="rId14"/>
    <p:sldLayoutId id="2147484145" r:id="rId15"/>
    <p:sldLayoutId id="2147484146" r:id="rId16"/>
    <p:sldLayoutId id="2147484149" r:id="rId17"/>
    <p:sldLayoutId id="2147484153" r:id="rId18"/>
    <p:sldLayoutId id="2147484154" r:id="rId19"/>
  </p:sldLayoutIdLst>
  <p:txStyles>
    <p:titleStyle>
      <a:lvl1pPr algn="l" defTabSz="1304925" rtl="0" eaLnBrk="1" fontAlgn="base" hangingPunct="1">
        <a:lnSpc>
          <a:spcPct val="80000"/>
        </a:lnSpc>
        <a:spcBef>
          <a:spcPct val="0"/>
        </a:spcBef>
        <a:spcAft>
          <a:spcPct val="0"/>
        </a:spcAft>
        <a:defRPr sz="4500" kern="1200">
          <a:solidFill>
            <a:srgbClr val="4C4C4C"/>
          </a:solidFill>
          <a:latin typeface="BentonSans Book"/>
          <a:ea typeface="ＭＳ Ｐゴシック" charset="0"/>
          <a:cs typeface="BentonSans Book"/>
        </a:defRPr>
      </a:lvl1pPr>
      <a:lvl2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2pPr>
      <a:lvl3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3pPr>
      <a:lvl4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4pPr>
      <a:lvl5pPr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5pPr>
      <a:lvl6pPr marL="4572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6pPr>
      <a:lvl7pPr marL="9144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7pPr>
      <a:lvl8pPr marL="13716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8pPr>
      <a:lvl9pPr marL="1828800" algn="l" defTabSz="1304925" rtl="0" eaLnBrk="1" fontAlgn="base" hangingPunct="1">
        <a:lnSpc>
          <a:spcPct val="90000"/>
        </a:lnSpc>
        <a:spcBef>
          <a:spcPct val="0"/>
        </a:spcBef>
        <a:spcAft>
          <a:spcPct val="0"/>
        </a:spcAft>
        <a:defRPr sz="4500">
          <a:solidFill>
            <a:srgbClr val="4C4C4C"/>
          </a:solidFill>
          <a:latin typeface="BentonSans Book" charset="0"/>
          <a:ea typeface="ＭＳ Ｐゴシック" charset="0"/>
        </a:defRPr>
      </a:lvl9pPr>
    </p:titleStyle>
    <p:bodyStyle>
      <a:lvl1pPr marL="488950" indent="-488950" algn="l" defTabSz="1304925" rtl="0" eaLnBrk="1" fontAlgn="base" hangingPunct="1">
        <a:spcBef>
          <a:spcPct val="20000"/>
        </a:spcBef>
        <a:spcAft>
          <a:spcPct val="0"/>
        </a:spcAft>
        <a:buFont typeface="Arial" charset="0"/>
        <a:buChar char="•"/>
        <a:defRPr sz="4600" kern="1200">
          <a:solidFill>
            <a:schemeClr val="tx1"/>
          </a:solidFill>
          <a:latin typeface="+mn-lt"/>
          <a:ea typeface="ＭＳ Ｐゴシック" charset="0"/>
          <a:cs typeface="ＭＳ Ｐゴシック" charset="0"/>
        </a:defRPr>
      </a:lvl1pPr>
      <a:lvl2pPr marL="1060450" indent="-407988" algn="l" defTabSz="1304925" rtl="0" eaLnBrk="1" fontAlgn="base" hangingPunct="1">
        <a:spcBef>
          <a:spcPct val="20000"/>
        </a:spcBef>
        <a:spcAft>
          <a:spcPct val="0"/>
        </a:spcAft>
        <a:buFont typeface="Arial" charset="0"/>
        <a:buChar char="–"/>
        <a:defRPr sz="4000" kern="1200">
          <a:solidFill>
            <a:schemeClr val="tx1"/>
          </a:solidFill>
          <a:latin typeface="+mn-lt"/>
          <a:ea typeface="ＭＳ Ｐゴシック" charset="0"/>
          <a:cs typeface="+mn-cs"/>
        </a:defRPr>
      </a:lvl2pPr>
      <a:lvl3pPr marL="1631950" indent="-325438" algn="l" defTabSz="1304925" rtl="0" eaLnBrk="1" fontAlgn="base" hangingPunct="1">
        <a:spcBef>
          <a:spcPct val="20000"/>
        </a:spcBef>
        <a:spcAft>
          <a:spcPct val="0"/>
        </a:spcAft>
        <a:buFont typeface="Arial" charset="0"/>
        <a:buChar char="•"/>
        <a:defRPr sz="3400" kern="1200">
          <a:solidFill>
            <a:schemeClr val="tx1"/>
          </a:solidFill>
          <a:latin typeface="+mn-lt"/>
          <a:ea typeface="ＭＳ Ｐゴシック" charset="0"/>
          <a:cs typeface="+mn-cs"/>
        </a:defRPr>
      </a:lvl3pPr>
      <a:lvl4pPr marL="228441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4pPr>
      <a:lvl5pPr marL="2938463" indent="-325438" algn="l" defTabSz="1304925" rtl="0" eaLnBrk="1" fontAlgn="base" hangingPunct="1">
        <a:spcBef>
          <a:spcPct val="20000"/>
        </a:spcBef>
        <a:spcAft>
          <a:spcPct val="0"/>
        </a:spcAft>
        <a:buFont typeface="Arial" charset="0"/>
        <a:buChar char="»"/>
        <a:defRPr sz="2900" kern="1200">
          <a:solidFill>
            <a:schemeClr val="tx1"/>
          </a:solidFill>
          <a:latin typeface="+mn-lt"/>
          <a:ea typeface="ＭＳ Ｐゴシック" charset="0"/>
          <a:cs typeface="+mn-cs"/>
        </a:defRPr>
      </a:lvl5pPr>
      <a:lvl6pPr marL="359210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6pPr>
      <a:lvl7pPr marL="424521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7pPr>
      <a:lvl8pPr marL="4898326"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8pPr>
      <a:lvl9pPr marL="5551437" indent="-326555" algn="l" defTabSz="1306221" rtl="0" eaLnBrk="1" latinLnBrk="0" hangingPunct="1">
        <a:spcBef>
          <a:spcPct val="20000"/>
        </a:spcBef>
        <a:buFont typeface="Arial" panose="020B0604020202020204" pitchFamily="34" charset="0"/>
        <a:buChar char="•"/>
        <a:defRPr sz="2900" kern="1200">
          <a:solidFill>
            <a:schemeClr val="tx1"/>
          </a:solidFill>
          <a:latin typeface="+mn-lt"/>
          <a:ea typeface="+mn-ea"/>
          <a:cs typeface="+mn-cs"/>
        </a:defRPr>
      </a:lvl9pPr>
    </p:bodyStyle>
    <p:otherStyle>
      <a:defPPr>
        <a:defRPr lang="en-US"/>
      </a:defPPr>
      <a:lvl1pPr marL="0" algn="l" defTabSz="1306221" rtl="0" eaLnBrk="1" latinLnBrk="0" hangingPunct="1">
        <a:defRPr sz="2600" kern="1200">
          <a:solidFill>
            <a:schemeClr val="tx1"/>
          </a:solidFill>
          <a:latin typeface="+mn-lt"/>
          <a:ea typeface="+mn-ea"/>
          <a:cs typeface="+mn-cs"/>
        </a:defRPr>
      </a:lvl1pPr>
      <a:lvl2pPr marL="653110" algn="l" defTabSz="1306221" rtl="0" eaLnBrk="1" latinLnBrk="0" hangingPunct="1">
        <a:defRPr sz="2600" kern="1200">
          <a:solidFill>
            <a:schemeClr val="tx1"/>
          </a:solidFill>
          <a:latin typeface="+mn-lt"/>
          <a:ea typeface="+mn-ea"/>
          <a:cs typeface="+mn-cs"/>
        </a:defRPr>
      </a:lvl2pPr>
      <a:lvl3pPr marL="1306221" algn="l" defTabSz="1306221" rtl="0" eaLnBrk="1" latinLnBrk="0" hangingPunct="1">
        <a:defRPr sz="2600" kern="1200">
          <a:solidFill>
            <a:schemeClr val="tx1"/>
          </a:solidFill>
          <a:latin typeface="+mn-lt"/>
          <a:ea typeface="+mn-ea"/>
          <a:cs typeface="+mn-cs"/>
        </a:defRPr>
      </a:lvl3pPr>
      <a:lvl4pPr marL="1959331" algn="l" defTabSz="1306221" rtl="0" eaLnBrk="1" latinLnBrk="0" hangingPunct="1">
        <a:defRPr sz="2600" kern="1200">
          <a:solidFill>
            <a:schemeClr val="tx1"/>
          </a:solidFill>
          <a:latin typeface="+mn-lt"/>
          <a:ea typeface="+mn-ea"/>
          <a:cs typeface="+mn-cs"/>
        </a:defRPr>
      </a:lvl4pPr>
      <a:lvl5pPr marL="2612442" algn="l" defTabSz="1306221" rtl="0" eaLnBrk="1" latinLnBrk="0" hangingPunct="1">
        <a:defRPr sz="2600" kern="1200">
          <a:solidFill>
            <a:schemeClr val="tx1"/>
          </a:solidFill>
          <a:latin typeface="+mn-lt"/>
          <a:ea typeface="+mn-ea"/>
          <a:cs typeface="+mn-cs"/>
        </a:defRPr>
      </a:lvl5pPr>
      <a:lvl6pPr marL="3265550" algn="l" defTabSz="1306221" rtl="0" eaLnBrk="1" latinLnBrk="0" hangingPunct="1">
        <a:defRPr sz="2600" kern="1200">
          <a:solidFill>
            <a:schemeClr val="tx1"/>
          </a:solidFill>
          <a:latin typeface="+mn-lt"/>
          <a:ea typeface="+mn-ea"/>
          <a:cs typeface="+mn-cs"/>
        </a:defRPr>
      </a:lvl6pPr>
      <a:lvl7pPr marL="3918661" algn="l" defTabSz="1306221" rtl="0" eaLnBrk="1" latinLnBrk="0" hangingPunct="1">
        <a:defRPr sz="2600" kern="1200">
          <a:solidFill>
            <a:schemeClr val="tx1"/>
          </a:solidFill>
          <a:latin typeface="+mn-lt"/>
          <a:ea typeface="+mn-ea"/>
          <a:cs typeface="+mn-cs"/>
        </a:defRPr>
      </a:lvl7pPr>
      <a:lvl8pPr marL="4571771" algn="l" defTabSz="1306221" rtl="0" eaLnBrk="1" latinLnBrk="0" hangingPunct="1">
        <a:defRPr sz="2600" kern="1200">
          <a:solidFill>
            <a:schemeClr val="tx1"/>
          </a:solidFill>
          <a:latin typeface="+mn-lt"/>
          <a:ea typeface="+mn-ea"/>
          <a:cs typeface="+mn-cs"/>
        </a:defRPr>
      </a:lvl8pPr>
      <a:lvl9pPr marL="5224882" algn="l" defTabSz="1306221" rtl="0" eaLnBrk="1" latinLnBrk="0" hangingPunct="1">
        <a:defRPr sz="2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tags" Target="../tags/tag4.xml"/><Relationship Id="rId6" Type="http://schemas.openxmlformats.org/officeDocument/2006/relationships/hyperlink" Target="https://en.wikipedia.org/wiki/Glucose_meter" TargetMode="External"/><Relationship Id="rId5" Type="http://schemas.openxmlformats.org/officeDocument/2006/relationships/image" Target="../media/image8.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hyperlink" Target="https://commons.wikimedia.org/wiki/File:DNA_sequence.svg" TargetMode="External"/><Relationship Id="rId2" Type="http://schemas.openxmlformats.org/officeDocument/2006/relationships/slideLayout" Target="../slideLayouts/slideLayout10.xml"/><Relationship Id="rId1" Type="http://schemas.openxmlformats.org/officeDocument/2006/relationships/tags" Target="../tags/tag5.xml"/><Relationship Id="rId6" Type="http://schemas.openxmlformats.org/officeDocument/2006/relationships/image" Target="../media/image10.png"/><Relationship Id="rId5" Type="http://schemas.openxmlformats.org/officeDocument/2006/relationships/hyperlink" Target="https://en.wikipedia.org/wiki/1880_United_States_Census" TargetMode="External"/><Relationship Id="rId4" Type="http://schemas.openxmlformats.org/officeDocument/2006/relationships/image" Target="../media/image9.gi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8.xml"/><Relationship Id="rId1" Type="http://schemas.openxmlformats.org/officeDocument/2006/relationships/tags" Target="../tags/tag6.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8.xml"/><Relationship Id="rId5" Type="http://schemas.openxmlformats.org/officeDocument/2006/relationships/hyperlink" Target="https://stackoverflow.com/questions/46519627/perform-group-by-in-tableau"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10.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1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7.xml"/><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705985" y="1891756"/>
            <a:ext cx="13245156" cy="3337837"/>
          </a:xfrm>
          <a:prstGeom prst="rect">
            <a:avLst/>
          </a:prstGeom>
        </p:spPr>
        <p:txBody>
          <a:bodyPr/>
          <a:lstStyle/>
          <a:p>
            <a:pPr defTabSz="1306221" fontAlgn="auto">
              <a:spcAft>
                <a:spcPts val="0"/>
              </a:spcAft>
              <a:buFont typeface="Arial" panose="020B0604020202020204" pitchFamily="34" charset="0"/>
              <a:buNone/>
              <a:defRPr/>
            </a:pPr>
            <a:r>
              <a:rPr lang="en-US" dirty="0">
                <a:ea typeface="+mn-ea"/>
              </a:rPr>
              <a:t>Data Fundamentals</a:t>
            </a:r>
          </a:p>
          <a:p>
            <a:pPr defTabSz="1306221" fontAlgn="auto">
              <a:spcAft>
                <a:spcPts val="0"/>
              </a:spcAft>
              <a:buFont typeface="Arial" panose="020B0604020202020204" pitchFamily="34" charset="0"/>
              <a:buNone/>
              <a:defRPr/>
            </a:pPr>
            <a:endParaRPr lang="en-US" dirty="0">
              <a:ea typeface="+mn-ea"/>
            </a:endParaRPr>
          </a:p>
          <a:p>
            <a:pPr defTabSz="1306221" fontAlgn="auto">
              <a:spcAft>
                <a:spcPts val="0"/>
              </a:spcAft>
              <a:buFont typeface="Arial" panose="020B0604020202020204" pitchFamily="34" charset="0"/>
              <a:buNone/>
              <a:defRPr/>
            </a:pPr>
            <a:r>
              <a:rPr lang="en-US" dirty="0">
                <a:ea typeface="+mn-ea"/>
              </a:rPr>
              <a:t>CSC105</a:t>
            </a:r>
          </a:p>
          <a:p>
            <a:pPr defTabSz="1306221" fontAlgn="auto">
              <a:spcAft>
                <a:spcPts val="0"/>
              </a:spcAft>
              <a:buFont typeface="Arial" panose="020B0604020202020204" pitchFamily="34" charset="0"/>
              <a:buNone/>
              <a:defRPr/>
            </a:pPr>
            <a:endParaRPr lang="en-US" dirty="0">
              <a:ea typeface="+mn-ea"/>
            </a:endParaRPr>
          </a:p>
          <a:p>
            <a:pPr defTabSz="1306221" fontAlgn="auto">
              <a:spcAft>
                <a:spcPts val="0"/>
              </a:spcAft>
              <a:buFont typeface="Arial" panose="020B0604020202020204" pitchFamily="34" charset="0"/>
              <a:buNone/>
              <a:defRPr/>
            </a:pPr>
            <a:r>
              <a:rPr lang="en-US" dirty="0">
                <a:ea typeface="+mn-ea"/>
              </a:rPr>
              <a:t>Prof. Earl</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73FA7-1D2A-4B32-BD94-6A0872071BB5}"/>
              </a:ext>
            </a:extLst>
          </p:cNvPr>
          <p:cNvSpPr>
            <a:spLocks noGrp="1"/>
          </p:cNvSpPr>
          <p:nvPr>
            <p:ph type="title"/>
          </p:nvPr>
        </p:nvSpPr>
        <p:spPr>
          <a:xfrm>
            <a:off x="329184" y="-116206"/>
            <a:ext cx="9875520" cy="1371600"/>
          </a:xfrm>
        </p:spPr>
        <p:txBody>
          <a:bodyPr>
            <a:normAutofit fontScale="90000"/>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65311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30622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9593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61244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326555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391866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457177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5224882"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br>
              <a:rPr lang="en-US" b="1" dirty="0">
                <a:latin typeface="+mj-lt"/>
              </a:rPr>
            </a:br>
            <a:r>
              <a:rPr lang="en-US" b="1" dirty="0">
                <a:latin typeface="+mj-lt"/>
              </a:rPr>
              <a:t>Definition of data</a:t>
            </a:r>
            <a:br>
              <a:rPr lang="en-US" b="1" dirty="0">
                <a:latin typeface="+mj-lt"/>
              </a:rPr>
            </a:br>
            <a:endParaRPr lang="en-US" b="1" dirty="0">
              <a:latin typeface="+mj-lt"/>
            </a:endParaRPr>
          </a:p>
        </p:txBody>
      </p:sp>
      <p:sp>
        <p:nvSpPr>
          <p:cNvPr id="3" name="Content Placeholder 2">
            <a:extLst>
              <a:ext uri="{FF2B5EF4-FFF2-40B4-BE49-F238E27FC236}">
                <a16:creationId xmlns:a16="http://schemas.microsoft.com/office/drawing/2014/main" id="{763ACE78-D60A-47BB-86E5-39D21BAC506E}"/>
              </a:ext>
            </a:extLst>
          </p:cNvPr>
          <p:cNvSpPr>
            <a:spLocks noGrp="1"/>
          </p:cNvSpPr>
          <p:nvPr>
            <p:ph idx="1"/>
          </p:nvPr>
        </p:nvSpPr>
        <p:spPr>
          <a:xfrm>
            <a:off x="867726" y="1439227"/>
            <a:ext cx="12894947" cy="6162676"/>
          </a:xfrm>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65311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30622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9593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61244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326555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391866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457177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5224882"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marL="0" indent="0">
              <a:buFont typeface="Arial" charset="0"/>
              <a:buNone/>
              <a:defRPr/>
            </a:pPr>
            <a:r>
              <a:rPr lang="en-US" dirty="0">
                <a:latin typeface="+mn-lt"/>
              </a:rPr>
              <a:t>“Data are values of </a:t>
            </a:r>
            <a:r>
              <a:rPr lang="en-US" dirty="0">
                <a:solidFill>
                  <a:schemeClr val="accent2"/>
                </a:solidFill>
                <a:latin typeface="+mn-lt"/>
              </a:rPr>
              <a:t>qualitative</a:t>
            </a:r>
            <a:r>
              <a:rPr lang="en-US" dirty="0">
                <a:latin typeface="+mn-lt"/>
              </a:rPr>
              <a:t> or </a:t>
            </a:r>
            <a:r>
              <a:rPr lang="en-US" dirty="0">
                <a:solidFill>
                  <a:schemeClr val="accent2"/>
                </a:solidFill>
                <a:latin typeface="+mn-lt"/>
              </a:rPr>
              <a:t>quantitative variables</a:t>
            </a:r>
            <a:r>
              <a:rPr lang="en-US" dirty="0">
                <a:latin typeface="+mn-lt"/>
              </a:rPr>
              <a:t>, belonging to a </a:t>
            </a:r>
            <a:r>
              <a:rPr lang="en-US" dirty="0">
                <a:solidFill>
                  <a:schemeClr val="accent2"/>
                </a:solidFill>
                <a:latin typeface="+mn-lt"/>
              </a:rPr>
              <a:t>set of items</a:t>
            </a:r>
            <a:r>
              <a:rPr lang="en-US" dirty="0">
                <a:latin typeface="+mn-lt"/>
              </a:rPr>
              <a:t>.”</a:t>
            </a:r>
            <a:br>
              <a:rPr lang="en-US" dirty="0">
                <a:latin typeface="+mn-lt"/>
              </a:rPr>
            </a:br>
            <a:endParaRPr lang="en-US" sz="2880" dirty="0">
              <a:latin typeface="+mn-lt"/>
            </a:endParaRPr>
          </a:p>
          <a:p>
            <a:pPr>
              <a:buFont typeface="Arial" charset="0"/>
              <a:buChar char="•"/>
              <a:defRPr/>
            </a:pPr>
            <a:r>
              <a:rPr lang="en-US" sz="2880" b="1" dirty="0">
                <a:solidFill>
                  <a:schemeClr val="accent2"/>
                </a:solidFill>
                <a:latin typeface="+mn-lt"/>
              </a:rPr>
              <a:t>Set of items</a:t>
            </a:r>
            <a:r>
              <a:rPr lang="en-US" sz="2880" dirty="0">
                <a:latin typeface="+mn-lt"/>
              </a:rPr>
              <a:t>: Sometimes called the population; the set of objects you are interested in</a:t>
            </a:r>
          </a:p>
          <a:p>
            <a:pPr>
              <a:buFont typeface="Arial" charset="0"/>
              <a:buChar char="•"/>
              <a:defRPr/>
            </a:pPr>
            <a:r>
              <a:rPr lang="en-US" sz="2880" b="1" dirty="0">
                <a:solidFill>
                  <a:schemeClr val="accent2"/>
                </a:solidFill>
                <a:latin typeface="+mn-lt"/>
              </a:rPr>
              <a:t>Variable</a:t>
            </a:r>
            <a:r>
              <a:rPr lang="en-US" sz="2880" dirty="0">
                <a:latin typeface="+mn-lt"/>
              </a:rPr>
              <a:t>: A measurement or characteristic of an item.</a:t>
            </a:r>
          </a:p>
          <a:p>
            <a:pPr lvl="1">
              <a:buFont typeface="Arial" charset="0"/>
              <a:buChar char="–"/>
              <a:defRPr/>
            </a:pPr>
            <a:r>
              <a:rPr lang="en-US" sz="2880" b="1" dirty="0">
                <a:solidFill>
                  <a:schemeClr val="accent2"/>
                </a:solidFill>
                <a:latin typeface="+mn-lt"/>
              </a:rPr>
              <a:t>Qualitative</a:t>
            </a:r>
            <a:r>
              <a:rPr lang="en-US" sz="2880" dirty="0">
                <a:latin typeface="+mn-lt"/>
              </a:rPr>
              <a:t>: Country of origin, sex, treatment</a:t>
            </a:r>
          </a:p>
          <a:p>
            <a:pPr lvl="1">
              <a:buFont typeface="Arial" charset="0"/>
              <a:buChar char="–"/>
              <a:defRPr/>
            </a:pPr>
            <a:r>
              <a:rPr lang="en-US" sz="2880" b="1" dirty="0">
                <a:solidFill>
                  <a:schemeClr val="accent2"/>
                </a:solidFill>
                <a:latin typeface="+mn-lt"/>
              </a:rPr>
              <a:t>Quantitative</a:t>
            </a:r>
            <a:r>
              <a:rPr lang="en-US" sz="2880" dirty="0">
                <a:latin typeface="+mn-lt"/>
              </a:rPr>
              <a:t>: Height, weight, blood pressure reading</a:t>
            </a:r>
          </a:p>
        </p:txBody>
      </p:sp>
      <p:sp>
        <p:nvSpPr>
          <p:cNvPr id="34820" name="TextBox 3">
            <a:extLst>
              <a:ext uri="{FF2B5EF4-FFF2-40B4-BE49-F238E27FC236}">
                <a16:creationId xmlns:a16="http://schemas.microsoft.com/office/drawing/2014/main" id="{515318D7-1DD3-4DFE-AB5F-4DE15A49927E}"/>
              </a:ext>
            </a:extLst>
          </p:cNvPr>
          <p:cNvSpPr txBox="1">
            <a:spLocks noChangeArrowheads="1"/>
          </p:cNvSpPr>
          <p:nvPr/>
        </p:nvSpPr>
        <p:spPr bwMode="auto">
          <a:xfrm>
            <a:off x="867727" y="6790373"/>
            <a:ext cx="7980046"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65311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30622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9593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61244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326555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391866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457177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5224882"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spcBef>
                <a:spcPct val="0"/>
              </a:spcBef>
              <a:buFontTx/>
              <a:buNone/>
            </a:pPr>
            <a:r>
              <a:rPr lang="en-US" altLang="en-US" sz="2160" i="1">
                <a:latin typeface="Arial" panose="020B0604020202020204" pitchFamily="34" charset="0"/>
              </a:rPr>
              <a:t>Adapted from Jeff Leek, Johns Hopkins School of Public Health</a:t>
            </a:r>
          </a:p>
        </p:txBody>
      </p:sp>
    </p:spTree>
    <p:custDataLst>
      <p:tags r:id="rId1"/>
    </p:custDataLst>
    <p:extLst>
      <p:ext uri="{BB962C8B-B14F-4D97-AF65-F5344CB8AC3E}">
        <p14:creationId xmlns:p14="http://schemas.microsoft.com/office/powerpoint/2010/main" val="381284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7297564E-B2EE-4BD9-B8C6-ED9C78073830}"/>
              </a:ext>
            </a:extLst>
          </p:cNvPr>
          <p:cNvSpPr>
            <a:spLocks noGrp="1"/>
          </p:cNvSpPr>
          <p:nvPr>
            <p:ph type="title"/>
          </p:nvPr>
        </p:nvSpPr>
        <p:spPr>
          <a:xfrm>
            <a:off x="350478" y="453304"/>
            <a:ext cx="13244512" cy="567848"/>
          </a:xfrm>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65311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30622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9593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61244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326555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391866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457177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5224882"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en-US" altLang="en-US" dirty="0">
                <a:latin typeface="+mj-lt"/>
              </a:rPr>
              <a:t>How Data Are Collected</a:t>
            </a:r>
          </a:p>
        </p:txBody>
      </p:sp>
      <p:sp>
        <p:nvSpPr>
          <p:cNvPr id="36867" name="Content Placeholder 2">
            <a:extLst>
              <a:ext uri="{FF2B5EF4-FFF2-40B4-BE49-F238E27FC236}">
                <a16:creationId xmlns:a16="http://schemas.microsoft.com/office/drawing/2014/main" id="{DADEF59A-1957-46F2-A99F-2021655267E1}"/>
              </a:ext>
            </a:extLst>
          </p:cNvPr>
          <p:cNvSpPr>
            <a:spLocks noGrp="1"/>
          </p:cNvSpPr>
          <p:nvPr>
            <p:ph idx="1"/>
          </p:nvPr>
        </p:nvSpPr>
        <p:spPr>
          <a:xfrm>
            <a:off x="731919" y="1178395"/>
            <a:ext cx="12180498" cy="6309360"/>
          </a:xfrm>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65311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130622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95933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2612441"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326555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391866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4571771"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5224882" algn="l" defTabSz="130622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marL="0" indent="0" eaLnBrk="1" hangingPunct="1">
              <a:buNone/>
            </a:pPr>
            <a:r>
              <a:rPr lang="en-US" altLang="en-US" dirty="0">
                <a:latin typeface="+mn-lt"/>
              </a:rPr>
              <a:t>Data can be collected in a variety of ways:</a:t>
            </a:r>
          </a:p>
          <a:p>
            <a:pPr lvl="1" eaLnBrk="1" hangingPunct="1"/>
            <a:r>
              <a:rPr lang="en-US" altLang="en-US" dirty="0">
                <a:latin typeface="+mn-lt"/>
              </a:rPr>
              <a:t>Questionnaire</a:t>
            </a:r>
          </a:p>
          <a:p>
            <a:pPr lvl="1" eaLnBrk="1" hangingPunct="1"/>
            <a:r>
              <a:rPr lang="en-US" altLang="en-US" dirty="0">
                <a:latin typeface="+mn-lt"/>
              </a:rPr>
              <a:t>Interview</a:t>
            </a:r>
          </a:p>
          <a:p>
            <a:pPr lvl="1" eaLnBrk="1" hangingPunct="1"/>
            <a:r>
              <a:rPr lang="en-US" altLang="en-US" dirty="0">
                <a:latin typeface="+mn-lt"/>
              </a:rPr>
              <a:t>Observation</a:t>
            </a:r>
          </a:p>
          <a:p>
            <a:pPr lvl="1" eaLnBrk="1" hangingPunct="1"/>
            <a:r>
              <a:rPr lang="en-US" altLang="en-US" dirty="0">
                <a:latin typeface="+mn-lt"/>
              </a:rPr>
              <a:t>Analysis of Documents</a:t>
            </a:r>
          </a:p>
          <a:p>
            <a:pPr lvl="1" eaLnBrk="1" hangingPunct="1"/>
            <a:r>
              <a:rPr lang="en-US" altLang="en-US" dirty="0">
                <a:latin typeface="+mn-lt"/>
              </a:rPr>
              <a:t>Web scraping</a:t>
            </a:r>
          </a:p>
          <a:p>
            <a:pPr lvl="1" eaLnBrk="1" hangingPunct="1"/>
            <a:r>
              <a:rPr lang="en-US" altLang="en-US" dirty="0">
                <a:latin typeface="+mn-lt"/>
              </a:rPr>
              <a:t>Machine measurements</a:t>
            </a:r>
          </a:p>
          <a:p>
            <a:pPr marL="245122" lvl="1" indent="0" eaLnBrk="1" hangingPunct="1">
              <a:buNone/>
            </a:pPr>
            <a:endParaRPr lang="en-US" altLang="en-US" dirty="0">
              <a:latin typeface="+mn-lt"/>
            </a:endParaRPr>
          </a:p>
        </p:txBody>
      </p:sp>
      <p:pic>
        <p:nvPicPr>
          <p:cNvPr id="36868" name="Picture 5" descr="Image result for survey">
            <a:extLst>
              <a:ext uri="{FF2B5EF4-FFF2-40B4-BE49-F238E27FC236}">
                <a16:creationId xmlns:a16="http://schemas.microsoft.com/office/drawing/2014/main" id="{ED617DF4-F0E6-49FB-8BD7-E15770A96C61}"/>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340418" y="2296336"/>
            <a:ext cx="2937510" cy="194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A picture containing man, young, table, bat&#10;&#10;Description automatically generated">
            <a:extLst>
              <a:ext uri="{FF2B5EF4-FFF2-40B4-BE49-F238E27FC236}">
                <a16:creationId xmlns:a16="http://schemas.microsoft.com/office/drawing/2014/main" id="{35174C53-9840-476A-8304-8D788B6C973D}"/>
              </a:ext>
            </a:extLst>
          </p:cNvPr>
          <p:cNvPicPr>
            <a:picLocks noChangeAspect="1"/>
          </p:cNvPicPr>
          <p:nvPr/>
        </p:nvPicPr>
        <p:blipFill rotWithShape="1">
          <a:blip r:embed="rId5" cstate="email">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b="11823"/>
          <a:stretch/>
        </p:blipFill>
        <p:spPr>
          <a:xfrm>
            <a:off x="9410756" y="4486567"/>
            <a:ext cx="3168219" cy="2095238"/>
          </a:xfrm>
          <a:prstGeom prst="rect">
            <a:avLst/>
          </a:prstGeom>
        </p:spPr>
      </p:pic>
    </p:spTree>
    <p:custDataLst>
      <p:tags r:id="rId1"/>
    </p:custDataLst>
    <p:extLst>
      <p:ext uri="{BB962C8B-B14F-4D97-AF65-F5344CB8AC3E}">
        <p14:creationId xmlns:p14="http://schemas.microsoft.com/office/powerpoint/2010/main" val="3081595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10057" y="1546043"/>
            <a:ext cx="13649198" cy="3616948"/>
          </a:xfrm>
        </p:spPr>
        <p:txBody>
          <a:bodyPr/>
          <a:lstStyle/>
          <a:p>
            <a:pPr marL="457200" indent="-457200" defTabSz="1306221" fontAlgn="auto">
              <a:defRPr/>
            </a:pPr>
            <a:r>
              <a:rPr lang="en-US" dirty="0">
                <a:ea typeface="+mn-ea"/>
              </a:rPr>
              <a:t>The file your measurement machine gives you</a:t>
            </a:r>
          </a:p>
          <a:p>
            <a:pPr marL="457200" indent="-457200" defTabSz="1306221" fontAlgn="auto">
              <a:defRPr/>
            </a:pPr>
            <a:r>
              <a:rPr lang="en-US" dirty="0">
                <a:ea typeface="+mn-ea"/>
              </a:rPr>
              <a:t>Unformatted Excel file with 10 worksheets that the company you contracted with sent you</a:t>
            </a:r>
          </a:p>
          <a:p>
            <a:pPr marL="457200" indent="-457200" defTabSz="1306221" fontAlgn="auto">
              <a:defRPr/>
            </a:pPr>
            <a:r>
              <a:rPr lang="en-US" dirty="0">
                <a:ea typeface="+mn-ea"/>
              </a:rPr>
              <a:t>Complicated data file from scraping Twitter </a:t>
            </a:r>
          </a:p>
          <a:p>
            <a:pPr marL="457200" indent="-457200" defTabSz="1306221" fontAlgn="auto">
              <a:defRPr/>
            </a:pPr>
            <a:r>
              <a:rPr lang="en-US" dirty="0">
                <a:ea typeface="+mn-ea"/>
              </a:rPr>
              <a:t>Hand-entered numbers you collected from observations</a:t>
            </a:r>
          </a:p>
        </p:txBody>
      </p:sp>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dirty="0">
                <a:ea typeface="+mn-ea"/>
              </a:rPr>
              <a:t>Raw data: The form that we receive or collect the data</a:t>
            </a:r>
          </a:p>
        </p:txBody>
      </p:sp>
      <p:pic>
        <p:nvPicPr>
          <p:cNvPr id="14" name="Picture 13" descr="A close up of text on a white surface&#10;&#10;Description automatically generated">
            <a:extLst>
              <a:ext uri="{FF2B5EF4-FFF2-40B4-BE49-F238E27FC236}">
                <a16:creationId xmlns:a16="http://schemas.microsoft.com/office/drawing/2014/main" id="{4AC4EB4E-ADBF-489F-BF7E-2E8497497867}"/>
              </a:ext>
            </a:extLst>
          </p:cNvPr>
          <p:cNvPicPr>
            <a:picLocks noChangeAspect="1"/>
          </p:cNvPicPr>
          <p:nvPr/>
        </p:nvPicPr>
        <p:blipFill rotWithShape="1">
          <a:blip r:embed="rId4" cstate="email">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21559" t="6943" r="5232" b="61828"/>
          <a:stretch/>
        </p:blipFill>
        <p:spPr>
          <a:xfrm>
            <a:off x="7669210" y="3746580"/>
            <a:ext cx="6388768" cy="3272589"/>
          </a:xfrm>
          <a:prstGeom prst="rect">
            <a:avLst/>
          </a:prstGeom>
        </p:spPr>
      </p:pic>
      <p:pic>
        <p:nvPicPr>
          <p:cNvPr id="20" name="Picture 19" descr="A picture containing stationary, implement, pencil, colorful&#10;&#10;Description automatically generated">
            <a:extLst>
              <a:ext uri="{FF2B5EF4-FFF2-40B4-BE49-F238E27FC236}">
                <a16:creationId xmlns:a16="http://schemas.microsoft.com/office/drawing/2014/main" id="{CA48AB41-0AD0-451E-A4F7-A77D58968C73}"/>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101892" y="3638885"/>
            <a:ext cx="5659855" cy="3665267"/>
          </a:xfrm>
          <a:prstGeom prst="rect">
            <a:avLst/>
          </a:prstGeom>
        </p:spPr>
      </p:pic>
    </p:spTree>
    <p:custDataLst>
      <p:tags r:id="rId1"/>
    </p:custDataLst>
    <p:extLst>
      <p:ext uri="{BB962C8B-B14F-4D97-AF65-F5344CB8AC3E}">
        <p14:creationId xmlns:p14="http://schemas.microsoft.com/office/powerpoint/2010/main" val="2874501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8030-2C29-47C2-A392-35002E6DF837}"/>
              </a:ext>
            </a:extLst>
          </p:cNvPr>
          <p:cNvSpPr>
            <a:spLocks noGrp="1"/>
          </p:cNvSpPr>
          <p:nvPr>
            <p:ph type="title"/>
          </p:nvPr>
        </p:nvSpPr>
        <p:spPr>
          <a:xfrm>
            <a:off x="439615" y="215945"/>
            <a:ext cx="13244512" cy="577081"/>
          </a:xfrm>
        </p:spPr>
        <p:txBody>
          <a:bodyPr/>
          <a:lstStyle/>
          <a:p>
            <a:r>
              <a:rPr lang="en-US" dirty="0">
                <a:ea typeface="ＭＳ Ｐゴシック"/>
              </a:rPr>
              <a:t>Many types of data sources</a:t>
            </a:r>
          </a:p>
        </p:txBody>
      </p:sp>
      <p:pic>
        <p:nvPicPr>
          <p:cNvPr id="5" name="Content Placeholder 4" descr="A screen shot of a computer&#10;&#10;Description automatically generated">
            <a:extLst>
              <a:ext uri="{FF2B5EF4-FFF2-40B4-BE49-F238E27FC236}">
                <a16:creationId xmlns:a16="http://schemas.microsoft.com/office/drawing/2014/main" id="{8066573A-B48A-4F1D-9DF3-0A0A8869BCBB}"/>
              </a:ext>
            </a:extLst>
          </p:cNvPr>
          <p:cNvPicPr>
            <a:picLocks noGrp="1" noChangeAspect="1"/>
          </p:cNvPicPr>
          <p:nvPr>
            <p:ph idx="1"/>
          </p:nvPr>
        </p:nvPicPr>
        <p:blipFill>
          <a:blip r:embed="rId4"/>
          <a:stretch>
            <a:fillRect/>
          </a:stretch>
        </p:blipFill>
        <p:spPr/>
      </p:pic>
      <p:pic>
        <p:nvPicPr>
          <p:cNvPr id="7" name="Picture 6" descr="A screen shot of a computer&#10;&#10;Description automatically generated">
            <a:extLst>
              <a:ext uri="{FF2B5EF4-FFF2-40B4-BE49-F238E27FC236}">
                <a16:creationId xmlns:a16="http://schemas.microsoft.com/office/drawing/2014/main" id="{6D016A48-6D73-42D3-B45D-90A5DF7CA35A}"/>
              </a:ext>
            </a:extLst>
          </p:cNvPr>
          <p:cNvPicPr>
            <a:picLocks noChangeAspect="1"/>
          </p:cNvPicPr>
          <p:nvPr/>
        </p:nvPicPr>
        <p:blipFill rotWithShape="1">
          <a:blip r:embed="rId5" cstate="email">
            <a:extLst>
              <a:ext uri="{28A0092B-C50C-407E-A947-70E740481C1C}">
                <a14:useLocalDpi xmlns:a14="http://schemas.microsoft.com/office/drawing/2010/main" val="0"/>
              </a:ext>
            </a:extLst>
          </a:blip>
          <a:srcRect t="-818"/>
          <a:stretch/>
        </p:blipFill>
        <p:spPr>
          <a:xfrm>
            <a:off x="165688" y="1371600"/>
            <a:ext cx="14100323" cy="5431535"/>
          </a:xfrm>
          <a:prstGeom prst="rect">
            <a:avLst/>
          </a:prstGeom>
        </p:spPr>
      </p:pic>
    </p:spTree>
    <p:custDataLst>
      <p:tags r:id="rId1"/>
    </p:custDataLst>
    <p:extLst>
      <p:ext uri="{BB962C8B-B14F-4D97-AF65-F5344CB8AC3E}">
        <p14:creationId xmlns:p14="http://schemas.microsoft.com/office/powerpoint/2010/main" val="2323394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4"/>
          </p:nvPr>
        </p:nvSpPr>
        <p:spPr>
          <a:xfrm>
            <a:off x="705331" y="1893749"/>
            <a:ext cx="5943600" cy="2462213"/>
          </a:xfrm>
        </p:spPr>
        <p:txBody>
          <a:bodyPr/>
          <a:lstStyle/>
          <a:p>
            <a:pPr marL="457200" indent="-457200" defTabSz="1306221" fontAlgn="auto">
              <a:defRPr/>
            </a:pPr>
            <a:r>
              <a:rPr lang="en-US">
                <a:ea typeface="+mn-ea"/>
              </a:rPr>
              <a:t>High Volume</a:t>
            </a:r>
          </a:p>
          <a:p>
            <a:pPr marL="457200" indent="-457200" defTabSz="1306221" fontAlgn="auto">
              <a:defRPr/>
            </a:pPr>
            <a:r>
              <a:rPr lang="en-US">
                <a:ea typeface="+mn-ea"/>
              </a:rPr>
              <a:t>Historical</a:t>
            </a:r>
          </a:p>
          <a:p>
            <a:pPr marL="457200" indent="-457200" defTabSz="1306221" fontAlgn="auto">
              <a:defRPr/>
            </a:pPr>
            <a:r>
              <a:rPr lang="en-US">
                <a:ea typeface="+mn-ea"/>
              </a:rPr>
              <a:t>Consistent</a:t>
            </a:r>
          </a:p>
          <a:p>
            <a:pPr marL="457200" indent="-457200" defTabSz="1306221" fontAlgn="auto">
              <a:defRPr/>
            </a:pPr>
            <a:r>
              <a:rPr lang="en-US">
                <a:ea typeface="+mn-ea"/>
              </a:rPr>
              <a:t>Multivariate</a:t>
            </a:r>
          </a:p>
          <a:p>
            <a:pPr marL="457200" indent="-457200" defTabSz="1306221" fontAlgn="auto">
              <a:defRPr/>
            </a:pPr>
            <a:r>
              <a:rPr lang="en-US">
                <a:ea typeface="+mn-ea"/>
              </a:rPr>
              <a:t>Atomic</a:t>
            </a:r>
          </a:p>
        </p:txBody>
      </p:sp>
      <p:sp>
        <p:nvSpPr>
          <p:cNvPr id="7" name="Content Placeholder 4"/>
          <p:cNvSpPr>
            <a:spLocks noGrp="1"/>
          </p:cNvSpPr>
          <p:nvPr>
            <p:ph idx="15"/>
          </p:nvPr>
        </p:nvSpPr>
        <p:spPr>
          <a:xfrm>
            <a:off x="7311907" y="1893515"/>
            <a:ext cx="5943600" cy="2462213"/>
          </a:xfrm>
        </p:spPr>
        <p:txBody>
          <a:bodyPr/>
          <a:lstStyle/>
          <a:p>
            <a:pPr marL="457200" indent="-457200" defTabSz="1306221" fontAlgn="auto">
              <a:defRPr/>
            </a:pPr>
            <a:r>
              <a:rPr lang="en-US">
                <a:ea typeface="+mn-ea"/>
              </a:rPr>
              <a:t>Clean</a:t>
            </a:r>
          </a:p>
          <a:p>
            <a:pPr marL="457200" indent="-457200" defTabSz="1306221" fontAlgn="auto">
              <a:defRPr/>
            </a:pPr>
            <a:r>
              <a:rPr lang="en-US">
                <a:ea typeface="+mn-ea"/>
              </a:rPr>
              <a:t>Clear</a:t>
            </a:r>
          </a:p>
          <a:p>
            <a:pPr marL="457200" indent="-457200" defTabSz="1306221" fontAlgn="auto">
              <a:defRPr/>
            </a:pPr>
            <a:r>
              <a:rPr lang="en-US">
                <a:ea typeface="+mn-ea"/>
              </a:rPr>
              <a:t>Dimensionally Structured</a:t>
            </a:r>
          </a:p>
          <a:p>
            <a:pPr marL="457200" indent="-457200" defTabSz="1306221" fontAlgn="auto">
              <a:defRPr/>
            </a:pPr>
            <a:r>
              <a:rPr lang="en-US">
                <a:ea typeface="+mn-ea"/>
              </a:rPr>
              <a:t>Richly Segmented</a:t>
            </a:r>
          </a:p>
          <a:p>
            <a:pPr marL="457200" indent="-457200" defTabSz="1306221" fontAlgn="auto">
              <a:defRPr/>
            </a:pPr>
            <a:r>
              <a:rPr lang="en-US">
                <a:ea typeface="+mn-ea"/>
              </a:rPr>
              <a:t>Of known Pedigree</a:t>
            </a:r>
          </a:p>
        </p:txBody>
      </p:sp>
      <p:sp>
        <p:nvSpPr>
          <p:cNvPr id="4" name="Text Placeholder 3"/>
          <p:cNvSpPr>
            <a:spLocks noGrp="1"/>
          </p:cNvSpPr>
          <p:nvPr>
            <p:ph type="body" sz="quarter" idx="12"/>
          </p:nvPr>
        </p:nvSpPr>
        <p:spPr>
          <a:xfrm>
            <a:off x="710057" y="598699"/>
            <a:ext cx="13269093" cy="577081"/>
          </a:xfrm>
        </p:spPr>
        <p:txBody>
          <a:bodyPr wrap="square" lIns="0" tIns="0" rIns="0" bIns="0" anchor="t">
            <a:spAutoFit/>
          </a:bodyPr>
          <a:lstStyle/>
          <a:p>
            <a:r>
              <a:rPr lang="en-US" dirty="0">
                <a:ea typeface="ＭＳ Ｐゴシック"/>
              </a:rPr>
              <a:t>Characteristics of Data</a:t>
            </a:r>
          </a:p>
        </p:txBody>
      </p:sp>
    </p:spTree>
    <p:custDataLst>
      <p:tags r:id="rId1"/>
    </p:custDataLst>
    <p:extLst>
      <p:ext uri="{BB962C8B-B14F-4D97-AF65-F5344CB8AC3E}">
        <p14:creationId xmlns:p14="http://schemas.microsoft.com/office/powerpoint/2010/main" val="2969357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07693" y="1017799"/>
            <a:ext cx="13273820" cy="1785104"/>
          </a:xfrm>
        </p:spPr>
        <p:txBody>
          <a:bodyPr/>
          <a:lstStyle/>
          <a:p>
            <a:pPr marL="457200" indent="-457200" defTabSz="1306221" fontAlgn="auto">
              <a:defRPr/>
            </a:pPr>
            <a:r>
              <a:rPr lang="en-US" dirty="0">
                <a:ea typeface="+mn-ea"/>
              </a:rPr>
              <a:t>Rows (across)</a:t>
            </a:r>
          </a:p>
          <a:p>
            <a:pPr marL="739775" lvl="1" indent="-457200" defTabSz="1306221" fontAlgn="auto">
              <a:defRPr/>
            </a:pPr>
            <a:r>
              <a:rPr lang="en-US" dirty="0">
                <a:ea typeface="+mn-ea"/>
              </a:rPr>
              <a:t>Each row represents on unit of analysis</a:t>
            </a:r>
          </a:p>
          <a:p>
            <a:pPr marL="457200" indent="-457200" defTabSz="1306221" fontAlgn="auto">
              <a:defRPr/>
            </a:pPr>
            <a:r>
              <a:rPr lang="en-US" dirty="0">
                <a:ea typeface="+mn-ea"/>
              </a:rPr>
              <a:t>Columns (down)</a:t>
            </a:r>
          </a:p>
          <a:p>
            <a:pPr marL="681038" lvl="2" indent="-457200" defTabSz="1306221" fontAlgn="auto">
              <a:defRPr/>
            </a:pPr>
            <a:r>
              <a:rPr lang="en-US" dirty="0">
                <a:latin typeface="Merriweather Light"/>
                <a:ea typeface="+mn-ea"/>
                <a:cs typeface="Merriweather Light"/>
              </a:rPr>
              <a:t>Each column represents a different variable </a:t>
            </a:r>
            <a:r>
              <a:rPr lang="en-US" dirty="0">
                <a:solidFill>
                  <a:schemeClr val="tx1"/>
                </a:solidFill>
                <a:latin typeface="Merriweather Light"/>
                <a:ea typeface="+mn-ea"/>
                <a:cs typeface="Merriweather Light"/>
              </a:rPr>
              <a:t>(or field)</a:t>
            </a:r>
          </a:p>
        </p:txBody>
      </p:sp>
      <p:sp>
        <p:nvSpPr>
          <p:cNvPr id="5" name="Text Placeholder 1"/>
          <p:cNvSpPr>
            <a:spLocks noGrp="1"/>
          </p:cNvSpPr>
          <p:nvPr>
            <p:ph type="body" sz="quarter" idx="12"/>
          </p:nvPr>
        </p:nvSpPr>
        <p:spPr>
          <a:xfrm>
            <a:off x="710057" y="306091"/>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dirty="0">
                <a:ea typeface="+mn-ea"/>
              </a:rPr>
              <a:t>How do we organize data?</a:t>
            </a:r>
          </a:p>
        </p:txBody>
      </p:sp>
      <p:pic>
        <p:nvPicPr>
          <p:cNvPr id="3" name="Picture 2" descr="A screenshot of a cell phone&#10;&#10;Description automatically generated">
            <a:extLst>
              <a:ext uri="{FF2B5EF4-FFF2-40B4-BE49-F238E27FC236}">
                <a16:creationId xmlns:a16="http://schemas.microsoft.com/office/drawing/2014/main" id="{233B1E2A-7A59-4B42-83DE-06B626500B8C}"/>
              </a:ext>
            </a:extLst>
          </p:cNvPr>
          <p:cNvPicPr>
            <a:picLocks noChangeAspect="1"/>
          </p:cNvPicPr>
          <p:nvPr/>
        </p:nvPicPr>
        <p:blipFill rotWithShape="1">
          <a:blip r:embed="rId4" cstate="email">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a:stretch/>
        </p:blipFill>
        <p:spPr>
          <a:xfrm>
            <a:off x="349469" y="3273552"/>
            <a:ext cx="13962538" cy="3700505"/>
          </a:xfrm>
          <a:prstGeom prst="rect">
            <a:avLst/>
          </a:prstGeom>
          <a:effectLst>
            <a:outerShdw blurRad="63500" sx="102000" sy="102000" algn="ctr" rotWithShape="0">
              <a:prstClr val="black">
                <a:alpha val="40000"/>
              </a:prstClr>
            </a:outerShdw>
          </a:effectLst>
        </p:spPr>
      </p:pic>
    </p:spTree>
    <p:custDataLst>
      <p:tags r:id="rId1"/>
    </p:custDataLst>
    <p:extLst>
      <p:ext uri="{BB962C8B-B14F-4D97-AF65-F5344CB8AC3E}">
        <p14:creationId xmlns:p14="http://schemas.microsoft.com/office/powerpoint/2010/main" val="1447070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4"/>
          </p:nvPr>
        </p:nvSpPr>
        <p:spPr>
          <a:xfrm>
            <a:off x="704476" y="1893515"/>
            <a:ext cx="13273820" cy="2385268"/>
          </a:xfrm>
        </p:spPr>
        <p:txBody>
          <a:bodyPr wrap="square" lIns="0" tIns="0" rIns="0" bIns="0" numCol="1" spcCol="365760" anchor="t">
            <a:spAutoFit/>
          </a:bodyPr>
          <a:lstStyle/>
          <a:p>
            <a:pPr marL="457200" indent="-457200" defTabSz="1306221" fontAlgn="auto">
              <a:defRPr/>
            </a:pPr>
            <a:r>
              <a:rPr lang="en-US">
                <a:ea typeface="+mn-ea"/>
              </a:rPr>
              <a:t>Each variable should be in one column</a:t>
            </a:r>
          </a:p>
          <a:p>
            <a:pPr marL="457200" indent="-457200" defTabSz="1306221" fontAlgn="auto">
              <a:defRPr/>
            </a:pPr>
            <a:r>
              <a:rPr lang="en-US">
                <a:ea typeface="+mn-ea"/>
              </a:rPr>
              <a:t>Each different observation of that variable should be in a different row</a:t>
            </a:r>
          </a:p>
          <a:p>
            <a:pPr marL="457200" indent="-457200" defTabSz="1306221" fontAlgn="auto">
              <a:defRPr/>
            </a:pPr>
            <a:r>
              <a:rPr lang="en-US" i="1">
                <a:ea typeface="+mn-ea"/>
              </a:rPr>
              <a:t>There should be one table for each kind of variable</a:t>
            </a:r>
          </a:p>
          <a:p>
            <a:pPr marL="457200" indent="-457200" defTabSz="1306221" fontAlgn="auto">
              <a:defRPr/>
            </a:pPr>
            <a:r>
              <a:rPr lang="en-US" i="1">
                <a:ea typeface="+mn-ea"/>
              </a:rPr>
              <a:t>If you have multiple tables, they should include a column in the table that allows them to be joined</a:t>
            </a:r>
          </a:p>
        </p:txBody>
      </p:sp>
      <p:sp>
        <p:nvSpPr>
          <p:cNvPr id="5" name="Text Placeholder 1"/>
          <p:cNvSpPr>
            <a:spLocks noGrp="1"/>
          </p:cNvSpPr>
          <p:nvPr>
            <p:ph type="body" sz="quarter" idx="12"/>
          </p:nvPr>
        </p:nvSpPr>
        <p:spPr>
          <a:xfrm>
            <a:off x="710057" y="598699"/>
            <a:ext cx="13269093" cy="577081"/>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Tidy Data</a:t>
            </a:r>
          </a:p>
        </p:txBody>
      </p:sp>
    </p:spTree>
    <p:custDataLst>
      <p:tags r:id="rId1"/>
    </p:custDataLst>
    <p:extLst>
      <p:ext uri="{BB962C8B-B14F-4D97-AF65-F5344CB8AC3E}">
        <p14:creationId xmlns:p14="http://schemas.microsoft.com/office/powerpoint/2010/main" val="493422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p:cNvSpPr>
            <a:spLocks noGrp="1"/>
          </p:cNvSpPr>
          <p:nvPr>
            <p:ph type="body" sz="quarter" idx="12"/>
          </p:nvPr>
        </p:nvSpPr>
        <p:spPr>
          <a:xfrm>
            <a:off x="710057" y="598699"/>
            <a:ext cx="13583459" cy="1061659"/>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Example: individual observations are in rows and columns</a:t>
            </a:r>
          </a:p>
          <a:p>
            <a:pPr defTabSz="1306221" fontAlgn="auto">
              <a:lnSpc>
                <a:spcPct val="80000"/>
              </a:lnSpc>
              <a:spcAft>
                <a:spcPts val="0"/>
              </a:spcAft>
              <a:buFont typeface="Arial" panose="020B0604020202020204" pitchFamily="34" charset="0"/>
              <a:buNone/>
              <a:defRPr/>
            </a:pPr>
            <a:endParaRPr lang="en-US">
              <a:ea typeface="+mn-ea"/>
            </a:endParaRPr>
          </a:p>
        </p:txBody>
      </p:sp>
      <p:pic>
        <p:nvPicPr>
          <p:cNvPr id="3" name="Picture 2" descr="A screenshot of a cell phone&#10;&#10;Description automatically generated">
            <a:extLst>
              <a:ext uri="{FF2B5EF4-FFF2-40B4-BE49-F238E27FC236}">
                <a16:creationId xmlns:a16="http://schemas.microsoft.com/office/drawing/2014/main" id="{98FCA7E3-ADD0-422D-9CC6-6389DEAC8590}"/>
              </a:ext>
            </a:extLst>
          </p:cNvPr>
          <p:cNvPicPr>
            <a:picLocks noChangeAspect="1"/>
          </p:cNvPicPr>
          <p:nvPr/>
        </p:nvPicPr>
        <p:blipFill rotWithShape="1">
          <a:blip r:embed="rId4" cstate="email">
            <a:extLst>
              <a:ext uri="{28A0092B-C50C-407E-A947-70E740481C1C}">
                <a14:useLocalDpi xmlns:a14="http://schemas.microsoft.com/office/drawing/2010/main" val="0"/>
              </a:ext>
            </a:extLst>
          </a:blip>
          <a:srcRect/>
          <a:stretch/>
        </p:blipFill>
        <p:spPr>
          <a:xfrm>
            <a:off x="529390" y="2935705"/>
            <a:ext cx="5859185" cy="1632871"/>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40DB47F3-ECEB-43FC-B261-CF8291E2E87B}"/>
              </a:ext>
            </a:extLst>
          </p:cNvPr>
          <p:cNvPicPr>
            <a:picLocks noChangeAspect="1"/>
          </p:cNvPicPr>
          <p:nvPr/>
        </p:nvPicPr>
        <p:blipFill rotWithShape="1">
          <a:blip r:embed="rId5" cstate="email">
            <a:extLst>
              <a:ext uri="{28A0092B-C50C-407E-A947-70E740481C1C}">
                <a14:useLocalDpi xmlns:a14="http://schemas.microsoft.com/office/drawing/2010/main" val="0"/>
              </a:ext>
            </a:extLst>
          </a:blip>
          <a:srcRect/>
          <a:stretch/>
        </p:blipFill>
        <p:spPr>
          <a:xfrm>
            <a:off x="7825839" y="2176003"/>
            <a:ext cx="6491730" cy="3573379"/>
          </a:xfrm>
          <a:prstGeom prst="rect">
            <a:avLst/>
          </a:prstGeom>
        </p:spPr>
      </p:pic>
      <p:sp>
        <p:nvSpPr>
          <p:cNvPr id="6" name="Arrow: Right 5">
            <a:extLst>
              <a:ext uri="{FF2B5EF4-FFF2-40B4-BE49-F238E27FC236}">
                <a16:creationId xmlns:a16="http://schemas.microsoft.com/office/drawing/2014/main" id="{B3154E09-9130-4363-B5B0-A9126D0432D5}"/>
              </a:ext>
            </a:extLst>
          </p:cNvPr>
          <p:cNvSpPr/>
          <p:nvPr/>
        </p:nvSpPr>
        <p:spPr>
          <a:xfrm>
            <a:off x="6328415" y="3441032"/>
            <a:ext cx="1468046" cy="469231"/>
          </a:xfrm>
          <a:prstGeom prst="rightArrow">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0447255-CBF8-4C82-BB3C-C63C9F656995}"/>
              </a:ext>
            </a:extLst>
          </p:cNvPr>
          <p:cNvSpPr txBox="1"/>
          <p:nvPr/>
        </p:nvSpPr>
        <p:spPr>
          <a:xfrm>
            <a:off x="710057" y="2443262"/>
            <a:ext cx="2576945" cy="492443"/>
          </a:xfrm>
          <a:prstGeom prst="rect">
            <a:avLst/>
          </a:prstGeom>
          <a:noFill/>
        </p:spPr>
        <p:txBody>
          <a:bodyPr wrap="square" rtlCol="0">
            <a:spAutoFit/>
          </a:bodyPr>
          <a:lstStyle/>
          <a:p>
            <a:r>
              <a:rPr lang="en-US" dirty="0">
                <a:latin typeface="Merriweather Light"/>
              </a:rPr>
              <a:t>Column Oriented</a:t>
            </a:r>
          </a:p>
        </p:txBody>
      </p:sp>
      <p:sp>
        <p:nvSpPr>
          <p:cNvPr id="8" name="TextBox 7">
            <a:extLst>
              <a:ext uri="{FF2B5EF4-FFF2-40B4-BE49-F238E27FC236}">
                <a16:creationId xmlns:a16="http://schemas.microsoft.com/office/drawing/2014/main" id="{77192724-E7FA-4FF9-A23D-42282DD2E292}"/>
              </a:ext>
            </a:extLst>
          </p:cNvPr>
          <p:cNvSpPr txBox="1"/>
          <p:nvPr/>
        </p:nvSpPr>
        <p:spPr>
          <a:xfrm>
            <a:off x="7991007" y="1559367"/>
            <a:ext cx="2576945" cy="492443"/>
          </a:xfrm>
          <a:prstGeom prst="rect">
            <a:avLst/>
          </a:prstGeom>
          <a:noFill/>
        </p:spPr>
        <p:txBody>
          <a:bodyPr wrap="square" rtlCol="0">
            <a:spAutoFit/>
          </a:bodyPr>
          <a:lstStyle/>
          <a:p>
            <a:r>
              <a:rPr lang="en-US">
                <a:latin typeface="Merriweather Light"/>
              </a:rPr>
              <a:t>Row Oriented</a:t>
            </a:r>
          </a:p>
        </p:txBody>
      </p:sp>
    </p:spTree>
    <p:custDataLst>
      <p:tags r:id="rId1"/>
    </p:custDataLst>
    <p:extLst>
      <p:ext uri="{BB962C8B-B14F-4D97-AF65-F5344CB8AC3E}">
        <p14:creationId xmlns:p14="http://schemas.microsoft.com/office/powerpoint/2010/main" val="3624903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p:cNvSpPr>
            <a:spLocks noGrp="1"/>
          </p:cNvSpPr>
          <p:nvPr>
            <p:ph type="body" sz="quarter" idx="12"/>
          </p:nvPr>
        </p:nvSpPr>
        <p:spPr>
          <a:xfrm>
            <a:off x="710057" y="598699"/>
            <a:ext cx="13269093" cy="567848"/>
          </a:xfrm>
          <a:prstGeom prst="rect">
            <a:avLst/>
          </a:prstGeom>
        </p:spPr>
        <p:txBody>
          <a:bodyPr/>
          <a:lstStyle/>
          <a:p>
            <a:pPr defTabSz="1306221" fontAlgn="auto">
              <a:lnSpc>
                <a:spcPct val="80000"/>
              </a:lnSpc>
              <a:spcAft>
                <a:spcPts val="0"/>
              </a:spcAft>
              <a:buFont typeface="Arial" panose="020B0604020202020204" pitchFamily="34" charset="0"/>
              <a:buNone/>
              <a:defRPr/>
            </a:pPr>
            <a:r>
              <a:rPr lang="en-US">
                <a:ea typeface="+mn-ea"/>
              </a:rPr>
              <a:t>Watch out for extra rows and columns</a:t>
            </a:r>
          </a:p>
        </p:txBody>
      </p:sp>
      <p:pic>
        <p:nvPicPr>
          <p:cNvPr id="3" name="Picture 2" descr="A screenshot of a cell phone&#10;&#10;Description automatically generated">
            <a:extLst>
              <a:ext uri="{FF2B5EF4-FFF2-40B4-BE49-F238E27FC236}">
                <a16:creationId xmlns:a16="http://schemas.microsoft.com/office/drawing/2014/main" id="{61593547-E6DC-4AA8-8F59-13C96BE430C6}"/>
              </a:ext>
            </a:extLst>
          </p:cNvPr>
          <p:cNvPicPr>
            <a:picLocks noChangeAspect="1"/>
          </p:cNvPicPr>
          <p:nvPr/>
        </p:nvPicPr>
        <p:blipFill rotWithShape="1">
          <a:blip r:embed="rId4" cstate="email">
            <a:extLst>
              <a:ext uri="{28A0092B-C50C-407E-A947-70E740481C1C}">
                <a14:useLocalDpi xmlns:a14="http://schemas.microsoft.com/office/drawing/2010/main" val="0"/>
              </a:ext>
            </a:extLst>
          </a:blip>
          <a:srcRect/>
          <a:stretch/>
        </p:blipFill>
        <p:spPr>
          <a:xfrm>
            <a:off x="4551505" y="4508379"/>
            <a:ext cx="3777018" cy="2660413"/>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DF2126B8-D5CC-42BC-B3EE-B671E21E9140}"/>
              </a:ext>
            </a:extLst>
          </p:cNvPr>
          <p:cNvPicPr>
            <a:picLocks noChangeAspect="1"/>
          </p:cNvPicPr>
          <p:nvPr/>
        </p:nvPicPr>
        <p:blipFill rotWithShape="1">
          <a:blip r:embed="rId5" cstate="email">
            <a:extLst>
              <a:ext uri="{28A0092B-C50C-407E-A947-70E740481C1C}">
                <a14:useLocalDpi xmlns:a14="http://schemas.microsoft.com/office/drawing/2010/main" val="0"/>
              </a:ext>
            </a:extLst>
          </a:blip>
          <a:srcRect/>
          <a:stretch/>
        </p:blipFill>
        <p:spPr>
          <a:xfrm>
            <a:off x="2237874" y="1423706"/>
            <a:ext cx="3033375" cy="2638878"/>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9695C63A-AF77-4D37-BE19-49FEC6B8EABD}"/>
              </a:ext>
            </a:extLst>
          </p:cNvPr>
          <p:cNvPicPr>
            <a:picLocks noChangeAspect="1"/>
          </p:cNvPicPr>
          <p:nvPr/>
        </p:nvPicPr>
        <p:blipFill rotWithShape="1">
          <a:blip r:embed="rId6" cstate="email">
            <a:extLst>
              <a:ext uri="{28A0092B-C50C-407E-A947-70E740481C1C}">
                <a14:useLocalDpi xmlns:a14="http://schemas.microsoft.com/office/drawing/2010/main" val="0"/>
              </a:ext>
            </a:extLst>
          </a:blip>
          <a:srcRect/>
          <a:stretch/>
        </p:blipFill>
        <p:spPr>
          <a:xfrm>
            <a:off x="5876751" y="1757457"/>
            <a:ext cx="4711038" cy="2459814"/>
          </a:xfrm>
          <a:prstGeom prst="rect">
            <a:avLst/>
          </a:prstGeom>
        </p:spPr>
      </p:pic>
      <p:sp>
        <p:nvSpPr>
          <p:cNvPr id="9" name="Arrow: Right 8">
            <a:extLst>
              <a:ext uri="{FF2B5EF4-FFF2-40B4-BE49-F238E27FC236}">
                <a16:creationId xmlns:a16="http://schemas.microsoft.com/office/drawing/2014/main" id="{CE64F4CA-92C7-44F4-9300-57EF0EF2C139}"/>
              </a:ext>
            </a:extLst>
          </p:cNvPr>
          <p:cNvSpPr/>
          <p:nvPr/>
        </p:nvSpPr>
        <p:spPr>
          <a:xfrm>
            <a:off x="5341513" y="2722397"/>
            <a:ext cx="660602" cy="523220"/>
          </a:xfrm>
          <a:prstGeom prst="rightArrow">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97964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
          <p:cNvSpPr>
            <a:spLocks noGrp="1"/>
          </p:cNvSpPr>
          <p:nvPr>
            <p:ph type="body" sz="quarter" idx="12"/>
          </p:nvPr>
        </p:nvSpPr>
        <p:spPr>
          <a:xfrm>
            <a:off x="710057" y="598699"/>
            <a:ext cx="13269093" cy="567848"/>
          </a:xfrm>
          <a:prstGeom prst="rect">
            <a:avLst/>
          </a:prstGeom>
        </p:spPr>
        <p:txBody>
          <a:bodyPr wrap="square" lIns="0" tIns="0" rIns="0" bIns="0" anchor="t">
            <a:spAutoFit/>
          </a:bodyPr>
          <a:lstStyle/>
          <a:p>
            <a:pPr defTabSz="1306221" fontAlgn="auto">
              <a:lnSpc>
                <a:spcPct val="80000"/>
              </a:lnSpc>
              <a:spcAft>
                <a:spcPts val="0"/>
              </a:spcAft>
              <a:buFont typeface="Arial" panose="020B0604020202020204" pitchFamily="34" charset="0"/>
              <a:buNone/>
              <a:defRPr/>
            </a:pPr>
            <a:r>
              <a:rPr lang="en-US">
                <a:ea typeface="+mn-ea"/>
              </a:rPr>
              <a:t>Watch out when working with excel</a:t>
            </a:r>
          </a:p>
        </p:txBody>
      </p:sp>
      <p:pic>
        <p:nvPicPr>
          <p:cNvPr id="4" name="Picture 3" descr="A screenshot of a cell phone&#10;&#10;Description automatically generated">
            <a:extLst>
              <a:ext uri="{FF2B5EF4-FFF2-40B4-BE49-F238E27FC236}">
                <a16:creationId xmlns:a16="http://schemas.microsoft.com/office/drawing/2014/main" id="{88C1DFCB-3B35-46B3-9A81-C4B189824B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0063" y="1166547"/>
            <a:ext cx="7736305" cy="6213604"/>
          </a:xfrm>
          <a:prstGeom prst="rect">
            <a:avLst/>
          </a:prstGeom>
        </p:spPr>
      </p:pic>
    </p:spTree>
    <p:custDataLst>
      <p:tags r:id="rId1"/>
    </p:custDataLst>
    <p:extLst>
      <p:ext uri="{BB962C8B-B14F-4D97-AF65-F5344CB8AC3E}">
        <p14:creationId xmlns:p14="http://schemas.microsoft.com/office/powerpoint/2010/main" val="1389586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8296951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PT_Corporate_Template_BentonSans_16.9_c">
  <a:themeElements>
    <a:clrScheme name="Custom 8">
      <a:dk1>
        <a:srgbClr val="666666"/>
      </a:dk1>
      <a:lt1>
        <a:sysClr val="window" lastClr="FFFFFF"/>
      </a:lt1>
      <a:dk2>
        <a:srgbClr val="5B6591"/>
      </a:dk2>
      <a:lt2>
        <a:srgbClr val="FFFFFF"/>
      </a:lt2>
      <a:accent1>
        <a:srgbClr val="1F447D"/>
      </a:accent1>
      <a:accent2>
        <a:srgbClr val="E8762C"/>
      </a:accent2>
      <a:accent3>
        <a:srgbClr val="7099A6"/>
      </a:accent3>
      <a:accent4>
        <a:srgbClr val="59879B"/>
      </a:accent4>
      <a:accent5>
        <a:srgbClr val="4C4C4C"/>
      </a:accent5>
      <a:accent6>
        <a:srgbClr val="C72035"/>
      </a:accent6>
      <a:hlink>
        <a:srgbClr val="EB912C"/>
      </a:hlink>
      <a:folHlink>
        <a:srgbClr val="969696"/>
      </a:folHlink>
    </a:clrScheme>
    <a:fontScheme name="Tableau Corporate Fonts">
      <a:majorFont>
        <a:latin typeface="BentonSans Book"/>
        <a:ea typeface=""/>
        <a:cs typeface=""/>
      </a:majorFont>
      <a:minorFont>
        <a:latin typeface="Merriweather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60000"/>
            <a:lumOff val="4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cmpd="sng">
          <a:solidFill>
            <a:schemeClr val="bg1">
              <a:lumMod val="75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PPT_Corporate_Template_BentonSans_16.9_c (1)</Template>
  <TotalTime>0</TotalTime>
  <Words>684</Words>
  <Application>Microsoft Office PowerPoint</Application>
  <PresentationFormat>Custom</PresentationFormat>
  <Paragraphs>79</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ＭＳ Ｐゴシック</vt:lpstr>
      <vt:lpstr>Arial</vt:lpstr>
      <vt:lpstr>BentonSans Book</vt:lpstr>
      <vt:lpstr>Calibri</vt:lpstr>
      <vt:lpstr>Gill Sans MT</vt:lpstr>
      <vt:lpstr>Merriweather Light</vt:lpstr>
      <vt:lpstr>PPT_Corporate_Template_BentonSans_16.9_c</vt:lpstr>
      <vt:lpstr>PowerPoint Presentation</vt:lpstr>
      <vt:lpstr> Definition of data </vt:lpstr>
      <vt:lpstr>How Data Are Collected</vt:lpstr>
      <vt:lpstr>PowerPoint Presentation</vt:lpstr>
      <vt:lpstr>Many types of data sources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2021-09-13T16:43:28Z</dcterms:created>
  <dcterms:modified xsi:type="dcterms:W3CDTF">2021-09-13T16:43:43Z</dcterms:modified>
  <cp:category/>
</cp:coreProperties>
</file>