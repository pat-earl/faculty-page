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2.xml" ContentType="application/vnd.openxmlformats-officedocument.presentationml.notesSlide+xml"/>
  <Override PartName="/ppt/tags/tag25.xml" ContentType="application/vnd.openxmlformats-officedocument.presentationml.tags+xml"/>
  <Override PartName="/ppt/notesSlides/notesSlide2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4.xml" ContentType="application/vnd.openxmlformats-officedocument.presentationml.notesSlide+xml"/>
  <Override PartName="/ppt/tags/tag28.xml" ContentType="application/vnd.openxmlformats-officedocument.presentationml.tags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notesSlides/notesSlide26.xml" ContentType="application/vnd.openxmlformats-officedocument.presentationml.notesSlide+xml"/>
  <Override PartName="/ppt/tags/tag30.xml" ContentType="application/vnd.openxmlformats-officedocument.presentationml.tags+xml"/>
  <Override PartName="/ppt/notesSlides/notesSlide27.xml" ContentType="application/vnd.openxmlformats-officedocument.presentationml.notesSlide+xml"/>
  <Override PartName="/ppt/tags/tag31.xml" ContentType="application/vnd.openxmlformats-officedocument.presentationml.tags+xml"/>
  <Override PartName="/ppt/notesSlides/notesSlide28.xml" ContentType="application/vnd.openxmlformats-officedocument.presentationml.notesSlide+xml"/>
  <Override PartName="/ppt/tags/tag32.xml" ContentType="application/vnd.openxmlformats-officedocument.presentationml.tags+xml"/>
  <Override PartName="/ppt/notesSlides/notesSlide29.xml" ContentType="application/vnd.openxmlformats-officedocument.presentationml.notesSlide+xml"/>
  <Override PartName="/ppt/tags/tag33.xml" ContentType="application/vnd.openxmlformats-officedocument.presentationml.tags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notesSlides/notesSlide31.xml" ContentType="application/vnd.openxmlformats-officedocument.presentationml.notesSlide+xml"/>
  <Override PartName="/ppt/tags/tag35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75" r:id="rId1"/>
  </p:sldMasterIdLst>
  <p:notesMasterIdLst>
    <p:notesMasterId r:id="rId36"/>
  </p:notesMasterIdLst>
  <p:handoutMasterIdLst>
    <p:handoutMasterId r:id="rId37"/>
  </p:handoutMasterIdLst>
  <p:sldIdLst>
    <p:sldId id="256" r:id="rId2"/>
    <p:sldId id="302" r:id="rId3"/>
    <p:sldId id="348" r:id="rId4"/>
    <p:sldId id="576" r:id="rId5"/>
    <p:sldId id="580" r:id="rId6"/>
    <p:sldId id="578" r:id="rId7"/>
    <p:sldId id="581" r:id="rId8"/>
    <p:sldId id="577" r:id="rId9"/>
    <p:sldId id="582" r:id="rId10"/>
    <p:sldId id="579" r:id="rId11"/>
    <p:sldId id="583" r:id="rId12"/>
    <p:sldId id="584" r:id="rId13"/>
    <p:sldId id="585" r:id="rId14"/>
    <p:sldId id="587" r:id="rId15"/>
    <p:sldId id="586" r:id="rId16"/>
    <p:sldId id="588" r:id="rId17"/>
    <p:sldId id="590" r:id="rId18"/>
    <p:sldId id="589" r:id="rId19"/>
    <p:sldId id="591" r:id="rId20"/>
    <p:sldId id="592" r:id="rId21"/>
    <p:sldId id="593" r:id="rId22"/>
    <p:sldId id="538" r:id="rId23"/>
    <p:sldId id="597" r:id="rId24"/>
    <p:sldId id="594" r:id="rId25"/>
    <p:sldId id="595" r:id="rId26"/>
    <p:sldId id="596" r:id="rId27"/>
    <p:sldId id="598" r:id="rId28"/>
    <p:sldId id="599" r:id="rId29"/>
    <p:sldId id="600" r:id="rId30"/>
    <p:sldId id="602" r:id="rId31"/>
    <p:sldId id="604" r:id="rId32"/>
    <p:sldId id="601" r:id="rId33"/>
    <p:sldId id="603" r:id="rId34"/>
    <p:sldId id="426" r:id="rId35"/>
  </p:sldIdLst>
  <p:sldSz cx="14630400" cy="8229600"/>
  <p:notesSz cx="6858000" cy="9144000"/>
  <p:custDataLst>
    <p:tags r:id="rId38"/>
  </p:custDataLst>
  <p:defaultTextStyle>
    <a:defPPr>
      <a:defRPr lang="en-US"/>
    </a:defPPr>
    <a:lvl1pPr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1pPr>
    <a:lvl2pPr marL="652463" indent="-195263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2pPr>
    <a:lvl3pPr marL="1304925" indent="-39052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3pPr>
    <a:lvl4pPr marL="1958975" indent="-58737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4pPr>
    <a:lvl5pPr marL="2611438" indent="-782638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orient="horz" pos="369">
          <p15:clr>
            <a:srgbClr val="A4A3A4"/>
          </p15:clr>
        </p15:guide>
        <p15:guide id="3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B2E4D7"/>
    <a:srgbClr val="E0E0E0"/>
    <a:srgbClr val="59879B"/>
    <a:srgbClr val="1F447D"/>
    <a:srgbClr val="6666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078" autoAdjust="0"/>
  </p:normalViewPr>
  <p:slideViewPr>
    <p:cSldViewPr snapToGrid="0" showGuides="1">
      <p:cViewPr varScale="1">
        <p:scale>
          <a:sx n="71" d="100"/>
          <a:sy n="71" d="100"/>
        </p:scale>
        <p:origin x="1452" y="60"/>
      </p:cViewPr>
      <p:guideLst>
        <p:guide orient="horz" pos="1181"/>
        <p:guide orient="horz" pos="369"/>
        <p:guide pos="43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85591767-110F-A243-83F9-36645DAA76CB}" type="datetime1">
              <a:rPr lang="en-US"/>
              <a:pPr>
                <a:defRPr/>
              </a:pPr>
              <a:t>10/20/2021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183AF4F7-31B0-B643-9B95-E1F087EE11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5410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7850FBDF-363D-BA4E-BF53-7E974FE76827}" type="datetime1">
              <a:rPr lang="en-US"/>
              <a:pPr>
                <a:defRPr/>
              </a:pPr>
              <a:t>10/20/2021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BE318CCB-9EB4-A04E-B82B-4EF927884A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6840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ＭＳ Ｐゴシック" charset="0"/>
      </a:defRPr>
    </a:lvl1pPr>
    <a:lvl2pPr marL="652463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2pPr>
    <a:lvl3pPr marL="130492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3pPr>
    <a:lvl4pPr marL="195897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4pPr>
    <a:lvl5pPr marL="2611438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5pPr>
    <a:lvl6pPr marL="3265550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3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874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37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928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241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44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21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483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740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32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098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10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831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291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774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88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0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99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626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3936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602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7000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662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100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181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6253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4177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609600"/>
            <a:ext cx="25939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099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/>
          <p:cNvSpPr>
            <a:spLocks noGrp="1"/>
          </p:cNvSpPr>
          <p:nvPr>
            <p:ph type="body" sz="quarter" idx="11"/>
          </p:nvPr>
        </p:nvSpPr>
        <p:spPr>
          <a:xfrm>
            <a:off x="706102" y="1813044"/>
            <a:ext cx="5337174" cy="3643818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2800" b="0" i="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2"/>
          </p:nvPr>
        </p:nvSpPr>
        <p:spPr>
          <a:xfrm>
            <a:off x="8545513" y="1813044"/>
            <a:ext cx="5414961" cy="364381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marR="0" indent="0" algn="l" defTabSz="130622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715321" y="600286"/>
            <a:ext cx="13245154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696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7" name="Picture 6" descr="Bottom_Viz_August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328"/>
          <a:stretch/>
        </p:blipFill>
        <p:spPr>
          <a:xfrm>
            <a:off x="0" y="3225800"/>
            <a:ext cx="14630400" cy="3153156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0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5" name="Picture 4" descr="SectionDivider-03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8" r="12503"/>
          <a:stretch/>
        </p:blipFill>
        <p:spPr>
          <a:xfrm>
            <a:off x="0" y="2362200"/>
            <a:ext cx="14630400" cy="5482336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430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7" name="Picture 6" descr="SectionDivider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/>
          <a:stretch/>
        </p:blipFill>
        <p:spPr>
          <a:xfrm>
            <a:off x="0" y="2946400"/>
            <a:ext cx="14630400" cy="4749800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65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279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ev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6350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400" baseline="0">
                <a:solidFill>
                  <a:schemeClr val="accent5"/>
                </a:solidFill>
              </a:defRPr>
            </a:lvl2pPr>
            <a:lvl3pPr marL="5127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100" baseline="0">
                <a:solidFill>
                  <a:schemeClr val="accent5"/>
                </a:solidFill>
              </a:defRPr>
            </a:lvl3pPr>
            <a:lvl4pPr marL="7413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51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599" y="2438401"/>
            <a:ext cx="9133131" cy="761747"/>
          </a:xfrm>
        </p:spPr>
        <p:txBody>
          <a:bodyPr/>
          <a:lstStyle>
            <a:lvl1pPr>
              <a:defRPr sz="540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3561080" y="3733800"/>
            <a:ext cx="80772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653110" indent="0">
              <a:buNone/>
              <a:defRPr sz="1000"/>
            </a:lvl2pPr>
            <a:lvl3pPr marL="1306221" indent="0">
              <a:buNone/>
              <a:defRPr sz="1000"/>
            </a:lvl3pPr>
            <a:lvl4pPr marL="1959331" indent="0">
              <a:buNone/>
              <a:defRPr sz="1000"/>
            </a:lvl4pPr>
            <a:lvl5pPr marL="2612442" indent="0"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264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357" y="1893515"/>
            <a:ext cx="13274793" cy="1631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520701" indent="-51435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746125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romanUcPeriod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969963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21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3pPr>
            <a:lvl4pPr marL="1084262" indent="-342901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800" baseline="0">
                <a:solidFill>
                  <a:schemeClr val="accent5"/>
                </a:solidFill>
              </a:defRPr>
            </a:lvl4pPr>
            <a:lvl5pPr marL="2063749" indent="0">
              <a:buSzPct val="100000"/>
              <a:buFont typeface="+mj-lt"/>
              <a:buNone/>
              <a:defRPr sz="160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776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441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5331" y="1893749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5"/>
          </p:nvPr>
        </p:nvSpPr>
        <p:spPr>
          <a:xfrm>
            <a:off x="7311907" y="1893515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6054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7329803" y="1887752"/>
            <a:ext cx="664934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SzPct val="100000"/>
              <a:buFont typeface="Arial"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339725" indent="0">
              <a:buSzPct val="100000"/>
              <a:buFont typeface="Arial"/>
              <a:buNone/>
              <a:defRPr sz="2400">
                <a:solidFill>
                  <a:schemeClr val="accent5"/>
                </a:solidFill>
              </a:defRPr>
            </a:lvl2pPr>
            <a:lvl3pPr marL="692150" indent="0">
              <a:buSzPct val="100000"/>
              <a:buFont typeface="Arial"/>
              <a:buNone/>
              <a:defRPr sz="2100">
                <a:solidFill>
                  <a:schemeClr val="accent5"/>
                </a:solidFill>
              </a:defRPr>
            </a:lvl3pPr>
            <a:lvl4pPr marL="1384301" indent="0">
              <a:buSzPct val="100000"/>
              <a:buFont typeface="Arial"/>
              <a:buNone/>
              <a:defRPr sz="180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04476" y="1869074"/>
            <a:ext cx="6019800" cy="5407933"/>
          </a:xfrm>
          <a:prstGeom prst="rect">
            <a:avLst/>
          </a:prstGeom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568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704476" y="1893515"/>
            <a:ext cx="13273731" cy="53589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SzPct val="120000"/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1633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PageImage_NoColor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5207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 w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4630400" cy="8229602"/>
          </a:xfrm>
          <a:prstGeom prst="rect">
            <a:avLst/>
          </a:prstGeom>
          <a:ln w="6350" cmpd="sng">
            <a:solidFill>
              <a:schemeClr val="tx1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061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043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38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BentonSans Book"/>
            </a:endParaRPr>
          </a:p>
        </p:txBody>
      </p:sp>
      <p:pic>
        <p:nvPicPr>
          <p:cNvPr id="3" name="Picture 6" descr="tableau_rgb.eps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3206750"/>
            <a:ext cx="8737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964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ttom_Viz_August-02.png"/>
          <p:cNvPicPr>
            <a:picLocks noChangeAspect="1"/>
          </p:cNvPicPr>
          <p:nvPr/>
        </p:nvPicPr>
        <p:blipFill rotWithShape="1">
          <a:blip r:embed="rId1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6932613"/>
            <a:ext cx="14630400" cy="1296987"/>
          </a:xfrm>
          <a:prstGeom prst="rect">
            <a:avLst/>
          </a:prstGeom>
        </p:spPr>
      </p:pic>
      <p:pic>
        <p:nvPicPr>
          <p:cNvPr id="1027" name="Picture 7" descr="tableau_white.eps"/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838" y="7724775"/>
            <a:ext cx="17272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601314"/>
            <a:ext cx="13244512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35" r:id="rId2"/>
    <p:sldLayoutId id="2147484148" r:id="rId3"/>
    <p:sldLayoutId id="2147484150" r:id="rId4"/>
    <p:sldLayoutId id="2147484152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  <p:sldLayoutId id="2147484142" r:id="rId12"/>
    <p:sldLayoutId id="2147484143" r:id="rId13"/>
    <p:sldLayoutId id="2147484144" r:id="rId14"/>
    <p:sldLayoutId id="2147484145" r:id="rId15"/>
    <p:sldLayoutId id="2147484146" r:id="rId16"/>
    <p:sldLayoutId id="2147484149" r:id="rId17"/>
  </p:sldLayoutIdLst>
  <p:txStyles>
    <p:titleStyle>
      <a:lvl1pPr algn="l" defTabSz="130492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00" kern="1200">
          <a:solidFill>
            <a:srgbClr val="4C4C4C"/>
          </a:solidFill>
          <a:latin typeface="BentonSans Book"/>
          <a:ea typeface="ＭＳ Ｐゴシック" charset="0"/>
          <a:cs typeface="BentonSans Book"/>
        </a:defRPr>
      </a:lvl1pPr>
      <a:lvl2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2pPr>
      <a:lvl3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3pPr>
      <a:lvl4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4pPr>
      <a:lvl5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5pPr>
      <a:lvl6pPr marL="4572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6pPr>
      <a:lvl7pPr marL="9144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7pPr>
      <a:lvl8pPr marL="13716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8pPr>
      <a:lvl9pPr marL="18288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9pPr>
    </p:titleStyle>
    <p:bodyStyle>
      <a:lvl1pPr marL="488950" indent="-488950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6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1060450" indent="-40798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631950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28441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93846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59210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Relationship Id="rId4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Relationship Id="rId4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Relationship Id="rId4" Type="http://schemas.openxmlformats.org/officeDocument/2006/relationships/image" Target="../media/image2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Relationship Id="rId4" Type="http://schemas.openxmlformats.org/officeDocument/2006/relationships/image" Target="../media/image2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Relationship Id="rId5" Type="http://schemas.openxmlformats.org/officeDocument/2006/relationships/hyperlink" Target="https://math.stackexchange.com/questions/969967/finding-the-most-likely-serve-speed-of-a-tennis-player" TargetMode="Externa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Relationship Id="rId5" Type="http://schemas.openxmlformats.org/officeDocument/2006/relationships/hyperlink" Target="https://stackoverflow.com/questions/48164435/merge-and-perfectly-align-histogram-and-boxplot-using-ggplot2" TargetMode="Externa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4540345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Distributions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4800" dirty="0"/>
          </a:p>
          <a:p>
            <a:pPr defTabSz="1306221" fontAlgn="auto">
              <a:spcAft>
                <a:spcPts val="0"/>
              </a:spcAft>
              <a:defRPr/>
            </a:pPr>
            <a:endParaRPr lang="en-US" sz="4800" dirty="0"/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3200" dirty="0"/>
              <a:t>CSC105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3200" dirty="0"/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3200"/>
              <a:t>Fall 2021</a:t>
            </a:r>
            <a:endParaRPr lang="en-US" sz="3200" dirty="0"/>
          </a:p>
          <a:p>
            <a:pPr defTabSz="1306221" fontAlgn="auto">
              <a:spcAft>
                <a:spcPts val="0"/>
              </a:spcAft>
              <a:defRPr/>
            </a:pPr>
            <a:endParaRPr lang="en-US" sz="3200" dirty="0"/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3200" dirty="0"/>
              <a:t>Prof. Earl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725488" y="1812925"/>
            <a:ext cx="5819003" cy="3231654"/>
          </a:xfrm>
        </p:spPr>
        <p:txBody>
          <a:bodyPr anchor="t"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Distribution of Discrete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Distribution of Continuous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Histograms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Box Plots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Measuring Center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8545513" y="1812925"/>
            <a:ext cx="5414962" cy="3231654"/>
          </a:xfrm>
        </p:spPr>
        <p:txBody>
          <a:bodyPr anchor="t"/>
          <a:lstStyle/>
          <a:p>
            <a:pPr>
              <a:defRPr/>
            </a:pPr>
            <a:r>
              <a:rPr lang="en-US" dirty="0">
                <a:ea typeface="+mn-ea"/>
              </a:rPr>
              <a:t>Slide 3</a:t>
            </a:r>
          </a:p>
          <a:p>
            <a:pPr>
              <a:defRPr/>
            </a:pPr>
            <a:r>
              <a:rPr lang="en-US" dirty="0">
                <a:ea typeface="+mn-ea"/>
              </a:rPr>
              <a:t>Slide 10</a:t>
            </a:r>
          </a:p>
          <a:p>
            <a:pPr>
              <a:defRPr/>
            </a:pPr>
            <a:r>
              <a:rPr lang="en-US" dirty="0">
                <a:ea typeface="+mn-ea"/>
              </a:rPr>
              <a:t>Slide 13</a:t>
            </a:r>
          </a:p>
          <a:p>
            <a:pPr>
              <a:defRPr/>
            </a:pPr>
            <a:r>
              <a:rPr lang="en-US" dirty="0">
                <a:ea typeface="+mn-ea"/>
              </a:rPr>
              <a:t>Slide 21</a:t>
            </a:r>
          </a:p>
          <a:p>
            <a:pPr>
              <a:defRPr/>
            </a:pPr>
            <a:r>
              <a:rPr lang="en-US" dirty="0">
                <a:ea typeface="+mn-ea"/>
              </a:rPr>
              <a:t>Slide 30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712788" y="600075"/>
            <a:ext cx="13244512" cy="635000"/>
          </a:xfr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Table of Contents/Agenda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67848"/>
          </a:xfrm>
        </p:spPr>
        <p:txBody>
          <a:bodyPr/>
          <a:lstStyle/>
          <a:p>
            <a:r>
              <a:rPr lang="en-US" dirty="0"/>
              <a:t>Distribution of Discrete Variables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Discrete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Frequency Table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8255D-1E08-4304-9F07-676A209679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63"/>
          <a:stretch/>
        </p:blipFill>
        <p:spPr>
          <a:xfrm>
            <a:off x="2970190" y="2528047"/>
            <a:ext cx="8130620" cy="39910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933225" y="6519134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40-42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364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208736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Discrete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Bar chart of Frequency Distribution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A8A5E-08CB-48F7-9A13-CE93361B7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647" y="1748119"/>
            <a:ext cx="8482421" cy="51161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862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208736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Discrete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Bar chart of Distribution as proportion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CAA4EB-53C9-4126-8C9D-D686285ED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855" y="1553078"/>
            <a:ext cx="7593446" cy="52577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850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208736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Discrete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Bar chart of Frequency Distribution </a:t>
            </a:r>
            <a:endParaRPr lang="en-US" dirty="0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437D2032-BCB3-412B-8E75-48BCFAFA3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38109" y="1553078"/>
            <a:ext cx="6594764" cy="55695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E47728-509C-45F4-A4B5-CB386529EAB5}"/>
              </a:ext>
            </a:extLst>
          </p:cNvPr>
          <p:cNvSpPr txBox="1"/>
          <p:nvPr/>
        </p:nvSpPr>
        <p:spPr>
          <a:xfrm>
            <a:off x="554181" y="1553078"/>
            <a:ext cx="54448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Click on Sheet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Orders (Count) </a:t>
            </a:r>
            <a:r>
              <a:rPr lang="en-US" sz="2800" dirty="0">
                <a:latin typeface="+mn-lt"/>
              </a:rPr>
              <a:t>to Rows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Drag </a:t>
            </a:r>
            <a:r>
              <a:rPr lang="en-US" sz="2800" b="1" dirty="0">
                <a:latin typeface="+mn-lt"/>
              </a:rPr>
              <a:t>Category</a:t>
            </a:r>
            <a:r>
              <a:rPr lang="en-US" sz="2800" dirty="0">
                <a:latin typeface="+mn-lt"/>
              </a:rPr>
              <a:t> to Columns shelf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4128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208736"/>
            <a:ext cx="13584167" cy="1935273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Discrete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Bar chart of Distribution as proportion (or percentage)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D67938-080D-4673-8464-0E4140AC0F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021" r="39750" b="4418"/>
          <a:stretch/>
        </p:blipFill>
        <p:spPr>
          <a:xfrm>
            <a:off x="6719453" y="1814944"/>
            <a:ext cx="6899565" cy="531763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6816F5-C78A-4FF6-9740-FAB91AA41A7B}"/>
              </a:ext>
            </a:extLst>
          </p:cNvPr>
          <p:cNvSpPr txBox="1"/>
          <p:nvPr/>
        </p:nvSpPr>
        <p:spPr>
          <a:xfrm>
            <a:off x="554181" y="1553078"/>
            <a:ext cx="544483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Click on Sheet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Drag Orders (Count) to Rows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Drag </a:t>
            </a:r>
            <a:r>
              <a:rPr lang="en-US" sz="2800" b="1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Category</a:t>
            </a: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 to Columns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Click arrow on Orders (Count) Pill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Select </a:t>
            </a:r>
            <a:r>
              <a:rPr lang="en-US" sz="2800" b="1" dirty="0">
                <a:latin typeface="+mn-lt"/>
              </a:rPr>
              <a:t>Quick Table Calculation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Select </a:t>
            </a:r>
            <a:r>
              <a:rPr lang="en-US" sz="2800" b="1" dirty="0">
                <a:latin typeface="+mn-lt"/>
              </a:rPr>
              <a:t>Percent of Total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25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208736"/>
            <a:ext cx="13584167" cy="1935273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Discrete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Bar chart of Distribution as proportion (or percentage)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C0F00-79FF-408D-A5DB-BA97EA4BA22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18189" y="1513381"/>
            <a:ext cx="5910305" cy="55801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FC432B-69E4-4197-B7D2-9AE84ED9E1F3}"/>
              </a:ext>
            </a:extLst>
          </p:cNvPr>
          <p:cNvSpPr txBox="1"/>
          <p:nvPr/>
        </p:nvSpPr>
        <p:spPr>
          <a:xfrm>
            <a:off x="554181" y="1553078"/>
            <a:ext cx="54448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Click on Sheet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Drag Nu</a:t>
            </a:r>
            <a:r>
              <a:rPr lang="en-US" sz="2800" b="1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mber of Records </a:t>
            </a: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to Rows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Drag </a:t>
            </a:r>
            <a:r>
              <a:rPr lang="en-US" sz="2800" b="1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Category</a:t>
            </a:r>
            <a:r>
              <a:rPr lang="en-US" sz="2800" dirty="0">
                <a:solidFill>
                  <a:schemeClr val="bg2">
                    <a:lumMod val="85000"/>
                  </a:schemeClr>
                </a:solidFill>
                <a:latin typeface="+mn-lt"/>
              </a:rPr>
              <a:t> to Columns shelf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Click arrow on Number of Records Pill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Select </a:t>
            </a:r>
            <a:r>
              <a:rPr lang="en-US" sz="2800" b="1" dirty="0">
                <a:latin typeface="+mn-lt"/>
              </a:rPr>
              <a:t>Quick Table Calculation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Select </a:t>
            </a:r>
            <a:r>
              <a:rPr lang="en-US" sz="2800" b="1" dirty="0">
                <a:latin typeface="+mn-lt"/>
              </a:rPr>
              <a:t>Percent of Total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Right-click on y-axis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Select format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Under Numbers, select format of numbering and pick 2 decimals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080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67848"/>
          </a:xfrm>
        </p:spPr>
        <p:txBody>
          <a:bodyPr/>
          <a:lstStyle/>
          <a:p>
            <a:r>
              <a:rPr lang="en-US" dirty="0"/>
              <a:t>Distribution of Continuous Variables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673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605679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Continuous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892884" y="6519134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43-51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B96528-F3A6-48EF-8420-342E0931C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5670" y="1271612"/>
            <a:ext cx="5519317" cy="51165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338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605679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Continuous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892884" y="6734286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43-51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913AF-1BD1-49E1-A5DF-0808936ED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524" y="1485900"/>
            <a:ext cx="8253352" cy="52577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993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Continuous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Histogram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583603" y="6909097"/>
            <a:ext cx="5534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43-51 and 82-85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F4B5DB-F7FD-45C1-A32D-22FF7573A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869" y="1326174"/>
            <a:ext cx="8660000" cy="56662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417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41116" y="329757"/>
            <a:ext cx="13269093" cy="605679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Continuous Distributions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517533" y="6596668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See Online Stats, pages 43-51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2B339-B8B7-4F39-8DBC-5AD4CB99F6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80" t="4169"/>
          <a:stretch/>
        </p:blipFill>
        <p:spPr>
          <a:xfrm>
            <a:off x="8035551" y="1247865"/>
            <a:ext cx="5674658" cy="5810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0DCCA1-BD70-4A37-8C7C-4CC6E824A8A5}"/>
              </a:ext>
            </a:extLst>
          </p:cNvPr>
          <p:cNvSpPr txBox="1"/>
          <p:nvPr/>
        </p:nvSpPr>
        <p:spPr>
          <a:xfrm>
            <a:off x="441116" y="1167666"/>
            <a:ext cx="743622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Represent all potential data points at once.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Also have the name “probability density curves”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The area under the curve is 100% or 1.0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The y-axis shows the chance of obtaining values near the corresponding  points on the x-axis.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Special shape that we see often in nature is called the Normal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7884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 of Continuous Variables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Distributions of many shapes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43-51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B272E-B763-4053-B8E6-555594CC18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879"/>
          <a:stretch/>
        </p:blipFill>
        <p:spPr>
          <a:xfrm>
            <a:off x="3201032" y="1933686"/>
            <a:ext cx="9548828" cy="49754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6104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Distributions of many shapes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Positive Skew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43-51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24AEA6-FD8F-4F99-931C-FBF1D6BEA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156" y="1953305"/>
            <a:ext cx="9170893" cy="48278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4982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2083006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Distributions of many shapes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Negative Skew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43-51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E61901-56EF-40B8-A51D-7BDC9B99F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12" y="1467963"/>
            <a:ext cx="9355023" cy="58221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5227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1950BE-A52A-4EF2-B769-586586A9C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878" y="1170539"/>
            <a:ext cx="6663329" cy="588852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2821670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Distributions of many shapes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Continuous Distribution of </a:t>
            </a: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Negative skew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0839-52E3-4795-A8FC-0C0E73C8DBFC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43-51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6023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307750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Histograms in Tableau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4800" dirty="0"/>
          </a:p>
        </p:txBody>
      </p:sp>
      <p:pic>
        <p:nvPicPr>
          <p:cNvPr id="4" name="Picture 3" descr="A map of a computer&#10;&#10;Description automatically generated">
            <a:extLst>
              <a:ext uri="{FF2B5EF4-FFF2-40B4-BE49-F238E27FC236}">
                <a16:creationId xmlns:a16="http://schemas.microsoft.com/office/drawing/2014/main" id="{E271743C-170C-4B24-B6F0-6F7C846A8A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5079" y="1399309"/>
            <a:ext cx="12451400" cy="573578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7251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1344342"/>
          </a:xfrm>
          <a:prstGeom prst="rect">
            <a:avLst/>
          </a:prstGeom>
        </p:spPr>
        <p:txBody>
          <a:bodyPr/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/>
              <a:t>Histograms in Tableau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7D2ED-4E0D-4355-B209-97B474652D2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6518" y="1177636"/>
            <a:ext cx="10109398" cy="59326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2884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1260345"/>
          </a:xfrm>
        </p:spPr>
        <p:txBody>
          <a:bodyPr/>
          <a:lstStyle/>
          <a:p>
            <a:r>
              <a:rPr lang="en-US" dirty="0"/>
              <a:t>Graphing Distributions</a:t>
            </a:r>
          </a:p>
          <a:p>
            <a:r>
              <a:rPr lang="en-US" dirty="0"/>
              <a:t>Box Plots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2051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893515"/>
            <a:ext cx="5266018" cy="3247043"/>
          </a:xfrm>
        </p:spPr>
        <p:txBody>
          <a:bodyPr/>
          <a:lstStyle/>
          <a:p>
            <a:r>
              <a:rPr lang="en-US" dirty="0"/>
              <a:t>Useful for identifying Outliers and comparing distributions</a:t>
            </a:r>
          </a:p>
          <a:p>
            <a:r>
              <a:rPr lang="en-US" dirty="0"/>
              <a:t>Other name: Box and Whiskers Plot</a:t>
            </a:r>
          </a:p>
          <a:p>
            <a:r>
              <a:rPr lang="en-US" dirty="0"/>
              <a:t>Introduced by John Tukey in 1970’s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Box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36961-9A68-4B13-9DDF-1BFEF1282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914" y="1166547"/>
            <a:ext cx="7475637" cy="5446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5016F5-30EE-469B-BA24-8791CBA9FDBB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92-100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4577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618777" y="1409421"/>
            <a:ext cx="6180418" cy="418576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Atypical and infrequent observations</a:t>
            </a:r>
          </a:p>
          <a:p>
            <a:r>
              <a:rPr lang="en-US" dirty="0"/>
              <a:t>Values that have an extreme deviation from the center of the distribution. </a:t>
            </a:r>
          </a:p>
          <a:p>
            <a:r>
              <a:rPr lang="en-US" dirty="0"/>
              <a:t>No universally-agreed on criterion for defining an outlier</a:t>
            </a:r>
          </a:p>
          <a:p>
            <a:r>
              <a:rPr lang="en-US" dirty="0"/>
              <a:t>Outliers should only be discarded with </a:t>
            </a:r>
            <a:r>
              <a:rPr lang="en-US" b="1" dirty="0"/>
              <a:t>extreme caution</a:t>
            </a:r>
            <a:r>
              <a:rPr lang="en-US" dirty="0"/>
              <a:t>. </a:t>
            </a:r>
          </a:p>
          <a:p>
            <a:r>
              <a:rPr lang="en-US" dirty="0"/>
              <a:t>One should always assess the effects of outliers on the statistical conclusions.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Outliers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36961-9A68-4B13-9DDF-1BFEF1282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14" y="1166547"/>
            <a:ext cx="7475637" cy="5446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568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04476" y="216313"/>
            <a:ext cx="13269093" cy="126034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Box Plots</a:t>
            </a:r>
          </a:p>
          <a:p>
            <a:r>
              <a:rPr lang="en-US" dirty="0"/>
              <a:t>Calculate Percentiles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16F5-30EE-469B-BA24-8791CBA9FDBB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92-100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0AA18B3-423D-41F2-9F9B-C3A50632B7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56558" y="4735400"/>
            <a:ext cx="13670431" cy="861774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14 15 16 16 17 17 17 17 17 18 18 18 18 18 18 19 19 19 20 20 20 20 20 20 21 21 22 23 24 24 29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DDCE5D-7346-4ECC-85AA-E70CEA3FC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923" y="1716618"/>
            <a:ext cx="7375633" cy="284188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4AAC8F6-4644-4AF0-9DCE-0E4B7307ACD0}"/>
              </a:ext>
            </a:extLst>
          </p:cNvPr>
          <p:cNvSpPr/>
          <p:nvPr/>
        </p:nvSpPr>
        <p:spPr>
          <a:xfrm>
            <a:off x="7090559" y="4681939"/>
            <a:ext cx="602428" cy="7073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B024AD-2A78-4C19-9847-2D8BDC4FE5B1}"/>
              </a:ext>
            </a:extLst>
          </p:cNvPr>
          <p:cNvSpPr/>
          <p:nvPr/>
        </p:nvSpPr>
        <p:spPr>
          <a:xfrm>
            <a:off x="3550508" y="4681938"/>
            <a:ext cx="602428" cy="7073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B0DAD2-5ABE-4A09-BCFD-645E8BEBCCF2}"/>
              </a:ext>
            </a:extLst>
          </p:cNvPr>
          <p:cNvSpPr/>
          <p:nvPr/>
        </p:nvSpPr>
        <p:spPr>
          <a:xfrm>
            <a:off x="10582835" y="4681939"/>
            <a:ext cx="602428" cy="7073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CF1D5-72F8-4B63-A445-4546DCDC2C07}"/>
              </a:ext>
            </a:extLst>
          </p:cNvPr>
          <p:cNvSpPr txBox="1"/>
          <p:nvPr/>
        </p:nvSpPr>
        <p:spPr>
          <a:xfrm>
            <a:off x="2514600" y="5442736"/>
            <a:ext cx="231986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percentile or lower hinge (Q1)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84E100-7121-41A3-942E-F88E692C38F1}"/>
              </a:ext>
            </a:extLst>
          </p:cNvPr>
          <p:cNvSpPr txBox="1"/>
          <p:nvPr/>
        </p:nvSpPr>
        <p:spPr>
          <a:xfrm>
            <a:off x="6351494" y="5442736"/>
            <a:ext cx="231986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percentile or median (Q2)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795549-0836-445F-B3A0-22244A7AF885}"/>
              </a:ext>
            </a:extLst>
          </p:cNvPr>
          <p:cNvSpPr txBox="1"/>
          <p:nvPr/>
        </p:nvSpPr>
        <p:spPr>
          <a:xfrm>
            <a:off x="10025333" y="5442736"/>
            <a:ext cx="231986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75 percentile or upper hinge (Q3)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1820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Box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16F5-30EE-469B-BA24-8791CBA9FDBB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92-100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82E6FF-4A90-4B56-8FAA-33BD050B819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87618" y="1362312"/>
            <a:ext cx="5696323" cy="1800493"/>
          </a:xfrm>
        </p:spPr>
        <p:txBody>
          <a:bodyPr/>
          <a:lstStyle/>
          <a:p>
            <a:r>
              <a:rPr lang="en-US" dirty="0"/>
              <a:t>First step, plot 25</a:t>
            </a:r>
            <a:r>
              <a:rPr lang="en-US" baseline="30000" dirty="0"/>
              <a:t>th</a:t>
            </a:r>
            <a:r>
              <a:rPr lang="en-US" dirty="0"/>
              <a:t>, 50</a:t>
            </a:r>
            <a:r>
              <a:rPr lang="en-US" baseline="30000" dirty="0"/>
              <a:t>th</a:t>
            </a:r>
            <a:r>
              <a:rPr lang="en-US" dirty="0"/>
              <a:t> and 75</a:t>
            </a:r>
            <a:r>
              <a:rPr lang="en-US" baseline="30000" dirty="0"/>
              <a:t>th</a:t>
            </a:r>
            <a:r>
              <a:rPr lang="en-US" dirty="0"/>
              <a:t> percentiles</a:t>
            </a:r>
          </a:p>
          <a:p>
            <a:r>
              <a:rPr lang="en-US" dirty="0"/>
              <a:t>Women’s scores: 25</a:t>
            </a:r>
            <a:r>
              <a:rPr lang="en-US" baseline="30000" dirty="0"/>
              <a:t>th </a:t>
            </a:r>
            <a:r>
              <a:rPr lang="en-US" dirty="0"/>
              <a:t>= 17, 50</a:t>
            </a:r>
            <a:r>
              <a:rPr lang="en-US" baseline="30000" dirty="0"/>
              <a:t>th</a:t>
            </a:r>
            <a:r>
              <a:rPr lang="en-US" dirty="0"/>
              <a:t>= 19, 75</a:t>
            </a:r>
            <a:r>
              <a:rPr lang="en-US" baseline="30000" dirty="0"/>
              <a:t>th</a:t>
            </a:r>
            <a:r>
              <a:rPr lang="en-US" dirty="0"/>
              <a:t> = 20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E16A83-AEED-4204-96B7-191FCB9A2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865" y="598699"/>
            <a:ext cx="7777006" cy="6053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1811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Box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16F5-30EE-469B-BA24-8791CBA9FDBB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92-100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2C1BD-0B49-46AB-8494-84BBE91877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4476" y="1893515"/>
            <a:ext cx="5023969" cy="4385816"/>
          </a:xfrm>
        </p:spPr>
        <p:txBody>
          <a:bodyPr/>
          <a:lstStyle/>
          <a:p>
            <a:r>
              <a:rPr lang="en-US" dirty="0"/>
              <a:t>Another name for H-spread is Interquartile Range or IQR.  50% of the values are found in the IQR.</a:t>
            </a:r>
          </a:p>
          <a:p>
            <a:r>
              <a:rPr lang="en-US" dirty="0"/>
              <a:t>To determine where potential outliers may be, we ask if we have any values greater than 1.5 * H-spread (or IQR) above the 75</a:t>
            </a:r>
            <a:r>
              <a:rPr lang="en-US" baseline="30000" dirty="0"/>
              <a:t>th</a:t>
            </a:r>
            <a:r>
              <a:rPr lang="en-US" dirty="0"/>
              <a:t> percentile or any values less than 1.5* H-spread below the 25</a:t>
            </a:r>
            <a:r>
              <a:rPr lang="en-US" baseline="30000" dirty="0"/>
              <a:t>th</a:t>
            </a:r>
            <a:r>
              <a:rPr lang="en-US" dirty="0"/>
              <a:t> percentile. 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217B12-2884-45A0-9622-9DE243948C56}"/>
              </a:ext>
            </a:extLst>
          </p:cNvPr>
          <p:cNvGrpSpPr/>
          <p:nvPr/>
        </p:nvGrpSpPr>
        <p:grpSpPr>
          <a:xfrm>
            <a:off x="5728445" y="250249"/>
            <a:ext cx="8014447" cy="7721813"/>
            <a:chOff x="4733365" y="680553"/>
            <a:chExt cx="8014447" cy="772181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A91D5F6-E87C-43FD-A478-C0FAB156B5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809" t="17432" r="2954" b="6069"/>
            <a:stretch/>
          </p:blipFill>
          <p:spPr>
            <a:xfrm>
              <a:off x="5042646" y="680553"/>
              <a:ext cx="7543801" cy="151131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1246A12-0077-4F00-A184-CF820B0863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931"/>
            <a:stretch/>
          </p:blipFill>
          <p:spPr>
            <a:xfrm>
              <a:off x="4733365" y="2057400"/>
              <a:ext cx="8014447" cy="6344966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839003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Box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16F5-30EE-469B-BA24-8791CBA9FDBB}"/>
              </a:ext>
            </a:extLst>
          </p:cNvPr>
          <p:cNvSpPr txBox="1"/>
          <p:nvPr/>
        </p:nvSpPr>
        <p:spPr>
          <a:xfrm>
            <a:off x="583603" y="6909097"/>
            <a:ext cx="4959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See Online Stats, pages 92-100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82E6FF-4A90-4B56-8FAA-33BD050B819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87618" y="1362312"/>
            <a:ext cx="5696323" cy="3677930"/>
          </a:xfrm>
        </p:spPr>
        <p:txBody>
          <a:bodyPr/>
          <a:lstStyle/>
          <a:p>
            <a:r>
              <a:rPr lang="en-US" dirty="0"/>
              <a:t>Fences are not shown in the final plot</a:t>
            </a:r>
          </a:p>
          <a:p>
            <a:r>
              <a:rPr lang="en-US" dirty="0"/>
              <a:t>The mean is sometimes added to a box plot to compare with the median</a:t>
            </a:r>
          </a:p>
          <a:p>
            <a:r>
              <a:rPr lang="en-US" dirty="0"/>
              <a:t>‘Whiskers’ are placed at upper and lower adjacent values to the inner fences.</a:t>
            </a:r>
          </a:p>
          <a:p>
            <a:r>
              <a:rPr lang="en-US" dirty="0"/>
              <a:t>Outliers are given symbols.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E4A8CF-55C2-4B64-B0AA-F952990A4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850" y="271775"/>
            <a:ext cx="8190932" cy="64652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3171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87619" y="474004"/>
            <a:ext cx="7706454" cy="112184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Make a Box Plot in Tableau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8F7A4707-F7E9-496A-A20F-56D412E454A9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29259" y="1034927"/>
            <a:ext cx="5680364" cy="581596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018E021-D72B-44C6-AC9E-DDDB03EDBCE5}"/>
              </a:ext>
            </a:extLst>
          </p:cNvPr>
          <p:cNvSpPr txBox="1">
            <a:spLocks/>
          </p:cNvSpPr>
          <p:nvPr/>
        </p:nvSpPr>
        <p:spPr>
          <a:xfrm>
            <a:off x="1420777" y="1288555"/>
            <a:ext cx="5052210" cy="3831818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 algn="l" defTabSz="1304925" rtl="0" eaLnBrk="1" fontAlgn="base" hangingPunct="1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kern="1200" baseline="0">
                <a:solidFill>
                  <a:srgbClr val="4C4C4C"/>
                </a:solidFill>
                <a:latin typeface="Merriweather Light"/>
                <a:ea typeface="ＭＳ Ｐゴシック" charset="0"/>
                <a:cs typeface="Merriweather Light"/>
              </a:defRPr>
            </a:lvl1pPr>
            <a:lvl2pPr marL="288925" indent="273050" algn="l" defTabSz="1304925" rtl="0" eaLnBrk="1" fontAlgn="base" hangingPunct="1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kern="1200" baseline="0">
                <a:solidFill>
                  <a:schemeClr val="accent5"/>
                </a:solidFill>
                <a:latin typeface="Merriweather Light"/>
                <a:ea typeface="ＭＳ Ｐゴシック" charset="0"/>
                <a:cs typeface="Merriweather Light"/>
              </a:defRPr>
            </a:lvl2pPr>
            <a:lvl3pPr marL="512763" indent="273050" algn="l" defTabSz="1304925" rtl="0" eaLnBrk="1" fontAlgn="base" hangingPunct="1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kern="1200" baseline="0">
                <a:solidFill>
                  <a:schemeClr val="accent5"/>
                </a:solidFill>
                <a:latin typeface="+mn-lt"/>
                <a:ea typeface="ＭＳ Ｐゴシック" charset="0"/>
                <a:cs typeface="+mn-cs"/>
              </a:defRPr>
            </a:lvl3pPr>
            <a:lvl4pPr marL="1027114" indent="-285750" algn="l" defTabSz="1304925" rtl="0" eaLnBrk="1" fontAlgn="base" hangingPunct="1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kern="1200" baseline="0">
                <a:solidFill>
                  <a:schemeClr val="accent5"/>
                </a:solidFill>
                <a:latin typeface="+mn-lt"/>
                <a:ea typeface="ＭＳ Ｐゴシック" charset="0"/>
                <a:cs typeface="+mn-cs"/>
              </a:defRPr>
            </a:lvl4pPr>
            <a:lvl5pPr marL="2406650" indent="-342901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+mj-lt"/>
              <a:buAutoNum type="arabicPeriod"/>
              <a:defRPr sz="1600" kern="1200">
                <a:solidFill>
                  <a:schemeClr val="accent5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Segment to Columns</a:t>
            </a:r>
          </a:p>
          <a:p>
            <a:r>
              <a:rPr lang="en-US" dirty="0"/>
              <a:t>Discount to Rows</a:t>
            </a:r>
          </a:p>
          <a:p>
            <a:r>
              <a:rPr lang="en-US" dirty="0"/>
              <a:t>Region to Columns (right of Segment</a:t>
            </a:r>
          </a:p>
          <a:p>
            <a:r>
              <a:rPr lang="en-US" dirty="0"/>
              <a:t>Select box-and-whisker plot from Show Me</a:t>
            </a:r>
          </a:p>
          <a:p>
            <a:endParaRPr lang="en-US" dirty="0"/>
          </a:p>
          <a:p>
            <a:pPr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4166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87619" y="307754"/>
            <a:ext cx="6889036" cy="112184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Make a Box Plot in Tableau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018E021-D72B-44C6-AC9E-DDDB03EDBCE5}"/>
              </a:ext>
            </a:extLst>
          </p:cNvPr>
          <p:cNvSpPr txBox="1">
            <a:spLocks/>
          </p:cNvSpPr>
          <p:nvPr/>
        </p:nvSpPr>
        <p:spPr>
          <a:xfrm>
            <a:off x="509292" y="1136072"/>
            <a:ext cx="5052210" cy="5278368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 algn="l" defTabSz="1304925" rtl="0" eaLnBrk="1" fontAlgn="base" hangingPunct="1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kern="1200" baseline="0">
                <a:solidFill>
                  <a:srgbClr val="4C4C4C"/>
                </a:solidFill>
                <a:latin typeface="Merriweather Light"/>
                <a:ea typeface="ＭＳ Ｐゴシック" charset="0"/>
                <a:cs typeface="Merriweather Light"/>
              </a:defRPr>
            </a:lvl1pPr>
            <a:lvl2pPr marL="288925" indent="273050" algn="l" defTabSz="1304925" rtl="0" eaLnBrk="1" fontAlgn="base" hangingPunct="1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kern="1200" baseline="0">
                <a:solidFill>
                  <a:schemeClr val="accent5"/>
                </a:solidFill>
                <a:latin typeface="Merriweather Light"/>
                <a:ea typeface="ＭＳ Ｐゴシック" charset="0"/>
                <a:cs typeface="Merriweather Light"/>
              </a:defRPr>
            </a:lvl2pPr>
            <a:lvl3pPr marL="512763" indent="273050" algn="l" defTabSz="1304925" rtl="0" eaLnBrk="1" fontAlgn="base" hangingPunct="1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kern="1200" baseline="0">
                <a:solidFill>
                  <a:schemeClr val="accent5"/>
                </a:solidFill>
                <a:latin typeface="+mn-lt"/>
                <a:ea typeface="ＭＳ Ｐゴシック" charset="0"/>
                <a:cs typeface="+mn-cs"/>
              </a:defRPr>
            </a:lvl3pPr>
            <a:lvl4pPr marL="1027114" indent="-285750" algn="l" defTabSz="1304925" rtl="0" eaLnBrk="1" fontAlgn="base" hangingPunct="1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kern="1200" baseline="0">
                <a:solidFill>
                  <a:schemeClr val="accent5"/>
                </a:solidFill>
                <a:latin typeface="+mn-lt"/>
                <a:ea typeface="ＭＳ Ｐゴシック" charset="0"/>
                <a:cs typeface="+mn-cs"/>
              </a:defRPr>
            </a:lvl4pPr>
            <a:lvl5pPr marL="2406650" indent="-342901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SzPct val="100000"/>
              <a:buFont typeface="+mj-lt"/>
              <a:buAutoNum type="arabicPeriod"/>
              <a:defRPr sz="1600" kern="1200">
                <a:solidFill>
                  <a:schemeClr val="accent5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Segment to Columns</a:t>
            </a:r>
          </a:p>
          <a:p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Discount to Rows</a:t>
            </a:r>
          </a:p>
          <a:p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Region to Columns (right of Segment</a:t>
            </a:r>
          </a:p>
          <a:p>
            <a:r>
              <a:rPr lang="en-US" dirty="0">
                <a:solidFill>
                  <a:schemeClr val="bg2">
                    <a:lumMod val="85000"/>
                  </a:schemeClr>
                </a:solidFill>
              </a:rPr>
              <a:t>Select box-and-whisker plot from Show Me</a:t>
            </a:r>
          </a:p>
          <a:p>
            <a:r>
              <a:rPr lang="en-US" dirty="0">
                <a:solidFill>
                  <a:schemeClr val="tx1"/>
                </a:solidFill>
              </a:rPr>
              <a:t>Change Discount Aggregation to AVG</a:t>
            </a:r>
          </a:p>
          <a:p>
            <a:endParaRPr lang="en-US" dirty="0"/>
          </a:p>
          <a:p>
            <a:endParaRPr lang="en-US" dirty="0"/>
          </a:p>
          <a:p>
            <a:pPr indent="0">
              <a:buNone/>
            </a:pPr>
            <a:endParaRPr lang="en-US" dirty="0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6D273AFB-FDD7-4C67-938D-9DD497938383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5200" y="1136072"/>
            <a:ext cx="5541818" cy="578451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8721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1260345"/>
          </a:xfrm>
        </p:spPr>
        <p:txBody>
          <a:bodyPr/>
          <a:lstStyle/>
          <a:p>
            <a:r>
              <a:rPr lang="en-US" dirty="0"/>
              <a:t>Measuring Center</a:t>
            </a:r>
          </a:p>
          <a:p>
            <a:r>
              <a:rPr lang="en-US" dirty="0"/>
              <a:t>Mean, Median, and Mode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6282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87619" y="598699"/>
            <a:ext cx="10295216" cy="56784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Measuring Center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06131-23AE-4F84-A16A-869FF0ED76F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3985706"/>
          </a:xfrm>
        </p:spPr>
        <p:txBody>
          <a:bodyPr/>
          <a:lstStyle/>
          <a:p>
            <a:r>
              <a:rPr lang="en-US" altLang="en-US" dirty="0">
                <a:latin typeface="+mj-lt"/>
              </a:rPr>
              <a:t>Mean</a:t>
            </a:r>
          </a:p>
          <a:p>
            <a:pPr lvl="1"/>
            <a:r>
              <a:rPr lang="en-US" altLang="en-US" sz="2800" dirty="0">
                <a:latin typeface="+mj-lt"/>
              </a:rPr>
              <a:t>Arithmetic average</a:t>
            </a:r>
          </a:p>
          <a:p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Median</a:t>
            </a:r>
          </a:p>
          <a:p>
            <a:pPr lvl="1"/>
            <a:r>
              <a:rPr lang="en-US" altLang="en-US" sz="2800" dirty="0">
                <a:latin typeface="+mj-lt"/>
              </a:rPr>
              <a:t>The middle of the data points (½ above, ½ below) </a:t>
            </a:r>
          </a:p>
          <a:p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Mode</a:t>
            </a:r>
          </a:p>
          <a:p>
            <a:pPr lvl="1"/>
            <a:r>
              <a:rPr lang="en-US" altLang="en-US" sz="2800" dirty="0">
                <a:latin typeface="+mj-lt"/>
              </a:rPr>
              <a:t>The most frequent value</a:t>
            </a:r>
            <a:endParaRPr lang="en-US" sz="28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0882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597614" cy="112184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Means and Medians differ when distributions are skewed</a:t>
            </a:r>
          </a:p>
        </p:txBody>
      </p:sp>
      <p:pic>
        <p:nvPicPr>
          <p:cNvPr id="13" name="Picture 12" descr="A close up of a map&#10;&#10;Description automatically generated">
            <a:extLst>
              <a:ext uri="{FF2B5EF4-FFF2-40B4-BE49-F238E27FC236}">
                <a16:creationId xmlns:a16="http://schemas.microsoft.com/office/drawing/2014/main" id="{1A841A4E-61FA-4D81-9559-B79E4002FA9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2332479" y="1371600"/>
            <a:ext cx="9917792" cy="56437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8736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597614" cy="56784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Comparing Boxplots and Histograms</a:t>
            </a:r>
          </a:p>
        </p:txBody>
      </p:sp>
      <p:pic>
        <p:nvPicPr>
          <p:cNvPr id="4" name="Picture 3" descr="A picture containing boat&#10;&#10;Description automatically generated">
            <a:extLst>
              <a:ext uri="{FF2B5EF4-FFF2-40B4-BE49-F238E27FC236}">
                <a16:creationId xmlns:a16="http://schemas.microsoft.com/office/drawing/2014/main" id="{D821E890-CEC2-4794-91D5-58CB3F0EB79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458"/>
          <a:stretch/>
        </p:blipFill>
        <p:spPr>
          <a:xfrm>
            <a:off x="1600200" y="1352476"/>
            <a:ext cx="11697993" cy="55246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91017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3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PPT_Corporate_Template_BentonSans_16.9_c">
  <a:themeElements>
    <a:clrScheme name="Custom 8">
      <a:dk1>
        <a:srgbClr val="666666"/>
      </a:dk1>
      <a:lt1>
        <a:sysClr val="window" lastClr="FFFFFF"/>
      </a:lt1>
      <a:dk2>
        <a:srgbClr val="5B6591"/>
      </a:dk2>
      <a:lt2>
        <a:srgbClr val="FFFFFF"/>
      </a:lt2>
      <a:accent1>
        <a:srgbClr val="1F447D"/>
      </a:accent1>
      <a:accent2>
        <a:srgbClr val="E8762C"/>
      </a:accent2>
      <a:accent3>
        <a:srgbClr val="7099A6"/>
      </a:accent3>
      <a:accent4>
        <a:srgbClr val="59879B"/>
      </a:accent4>
      <a:accent5>
        <a:srgbClr val="4C4C4C"/>
      </a:accent5>
      <a:accent6>
        <a:srgbClr val="C72035"/>
      </a:accent6>
      <a:hlink>
        <a:srgbClr val="EB912C"/>
      </a:hlink>
      <a:folHlink>
        <a:srgbClr val="969696"/>
      </a:folHlink>
    </a:clrScheme>
    <a:fontScheme name="Tableau Corporate Fonts">
      <a:majorFont>
        <a:latin typeface="BentonSans Book"/>
        <a:ea typeface=""/>
        <a:cs typeface=""/>
      </a:majorFont>
      <a:minorFont>
        <a:latin typeface="Merriweather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PPT_Corporate_Template_BentonSans_16.9_c</Template>
  <TotalTime>0</TotalTime>
  <Words>759</Words>
  <Application>Microsoft Office PowerPoint</Application>
  <PresentationFormat>Custom</PresentationFormat>
  <Paragraphs>140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ＭＳ Ｐゴシック</vt:lpstr>
      <vt:lpstr>Arial</vt:lpstr>
      <vt:lpstr>BentonSans Book</vt:lpstr>
      <vt:lpstr>Gill Sans MT</vt:lpstr>
      <vt:lpstr>Merriweather Light</vt:lpstr>
      <vt:lpstr>PPT_Corporate_Template_BentonSans_16.9_c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2021-10-20T16:17:41Z</dcterms:created>
  <dcterms:modified xsi:type="dcterms:W3CDTF">2021-10-20T16:18:03Z</dcterms:modified>
  <cp:category/>
</cp:coreProperties>
</file>