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5" r:id="rId1"/>
    <p:sldMasterId id="2147484153" r:id="rId2"/>
  </p:sldMasterIdLst>
  <p:notesMasterIdLst>
    <p:notesMasterId r:id="rId25"/>
  </p:notesMasterIdLst>
  <p:handoutMasterIdLst>
    <p:handoutMasterId r:id="rId26"/>
  </p:handoutMasterIdLst>
  <p:sldIdLst>
    <p:sldId id="256" r:id="rId3"/>
    <p:sldId id="539" r:id="rId4"/>
    <p:sldId id="536" r:id="rId5"/>
    <p:sldId id="547" r:id="rId6"/>
    <p:sldId id="564" r:id="rId7"/>
    <p:sldId id="528" r:id="rId8"/>
    <p:sldId id="546" r:id="rId9"/>
    <p:sldId id="565" r:id="rId10"/>
    <p:sldId id="538" r:id="rId11"/>
    <p:sldId id="566" r:id="rId12"/>
    <p:sldId id="568" r:id="rId13"/>
    <p:sldId id="567" r:id="rId14"/>
    <p:sldId id="533" r:id="rId15"/>
    <p:sldId id="556" r:id="rId16"/>
    <p:sldId id="569" r:id="rId17"/>
    <p:sldId id="570" r:id="rId18"/>
    <p:sldId id="557" r:id="rId19"/>
    <p:sldId id="534" r:id="rId20"/>
    <p:sldId id="542" r:id="rId21"/>
    <p:sldId id="571" r:id="rId22"/>
    <p:sldId id="558" r:id="rId23"/>
    <p:sldId id="426" r:id="rId24"/>
  </p:sldIdLst>
  <p:sldSz cx="14630400" cy="8229600"/>
  <p:notesSz cx="6858000" cy="9144000"/>
  <p:custDataLst>
    <p:tags r:id="rId27"/>
  </p:custDataLst>
  <p:defaultTextStyle>
    <a:defPPr>
      <a:defRPr lang="en-US"/>
    </a:defPPr>
    <a:lvl1pPr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1pPr>
    <a:lvl2pPr marL="652463" indent="-195263"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2pPr>
    <a:lvl3pPr marL="1304925" indent="-39052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3pPr>
    <a:lvl4pPr marL="1958975" indent="-58737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4pPr>
    <a:lvl5pPr marL="2611438" indent="-782638"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5pPr>
    <a:lvl6pPr marL="2286000" algn="l" defTabSz="457200" rtl="0" eaLnBrk="1" latinLnBrk="0" hangingPunct="1">
      <a:defRPr sz="2600" kern="1200">
        <a:solidFill>
          <a:schemeClr val="tx1"/>
        </a:solidFill>
        <a:latin typeface="Gill Sans MT" charset="0"/>
        <a:ea typeface="ＭＳ Ｐゴシック" charset="0"/>
        <a:cs typeface="ＭＳ Ｐゴシック" charset="0"/>
      </a:defRPr>
    </a:lvl6pPr>
    <a:lvl7pPr marL="2743200" algn="l" defTabSz="457200" rtl="0" eaLnBrk="1" latinLnBrk="0" hangingPunct="1">
      <a:defRPr sz="2600" kern="1200">
        <a:solidFill>
          <a:schemeClr val="tx1"/>
        </a:solidFill>
        <a:latin typeface="Gill Sans MT" charset="0"/>
        <a:ea typeface="ＭＳ Ｐゴシック" charset="0"/>
        <a:cs typeface="ＭＳ Ｐゴシック" charset="0"/>
      </a:defRPr>
    </a:lvl7pPr>
    <a:lvl8pPr marL="3200400" algn="l" defTabSz="457200" rtl="0" eaLnBrk="1" latinLnBrk="0" hangingPunct="1">
      <a:defRPr sz="2600" kern="1200">
        <a:solidFill>
          <a:schemeClr val="tx1"/>
        </a:solidFill>
        <a:latin typeface="Gill Sans MT" charset="0"/>
        <a:ea typeface="ＭＳ Ｐゴシック" charset="0"/>
        <a:cs typeface="ＭＳ Ｐゴシック" charset="0"/>
      </a:defRPr>
    </a:lvl8pPr>
    <a:lvl9pPr marL="3657600" algn="l" defTabSz="457200" rtl="0" eaLnBrk="1" latinLnBrk="0" hangingPunct="1">
      <a:defRPr sz="2600" kern="1200">
        <a:solidFill>
          <a:schemeClr val="tx1"/>
        </a:solidFill>
        <a:latin typeface="Gill Sans MT"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181">
          <p15:clr>
            <a:srgbClr val="A4A3A4"/>
          </p15:clr>
        </p15:guide>
        <p15:guide id="2" orient="horz" pos="369">
          <p15:clr>
            <a:srgbClr val="A4A3A4"/>
          </p15:clr>
        </p15:guide>
        <p15:guide id="3" pos="432">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lody Cheung" initials="MC" lastIdx="1" clrIdx="0">
    <p:extLst>
      <p:ext uri="{19B8F6BF-5375-455C-9EA6-DF929625EA0E}">
        <p15:presenceInfo xmlns:p15="http://schemas.microsoft.com/office/powerpoint/2012/main" userId="S::mcheung@tableau.com::a22fb9da-dc11-41fd-89c0-f66094be18dc" providerId="AD"/>
      </p:ext>
    </p:extLst>
  </p:cmAuthor>
  <p:cmAuthor id="2" name="Meagan Corbett" initials="MC" lastIdx="11" clrIdx="1">
    <p:extLst>
      <p:ext uri="{19B8F6BF-5375-455C-9EA6-DF929625EA0E}">
        <p15:presenceInfo xmlns:p15="http://schemas.microsoft.com/office/powerpoint/2012/main" userId="S::mcorbett@tableau.com::945f39ac-144a-404c-8a95-dc2b482fbf9f" providerId="AD"/>
      </p:ext>
    </p:extLst>
  </p:cmAuthor>
  <p:cmAuthor id="3" name="Bergen Schmetzer" initials="BS" lastIdx="2" clrIdx="2">
    <p:extLst>
      <p:ext uri="{19B8F6BF-5375-455C-9EA6-DF929625EA0E}">
        <p15:presenceInfo xmlns:p15="http://schemas.microsoft.com/office/powerpoint/2012/main" userId="S::bschmetzer@tableau.com::ab105188-0e82-402f-b77c-3476ec4fed85" providerId="AD"/>
      </p:ext>
    </p:extLst>
  </p:cmAuthor>
  <p:cmAuthor id="4" name="Corrina Wycoff" initials="CW" lastIdx="5" clrIdx="3">
    <p:extLst>
      <p:ext uri="{19B8F6BF-5375-455C-9EA6-DF929625EA0E}">
        <p15:presenceInfo xmlns:p15="http://schemas.microsoft.com/office/powerpoint/2012/main" userId="S::cwycoff@tableau.com::51dc464f-9f3d-4d61-a9cf-b762031172fd" providerId="AD"/>
      </p:ext>
    </p:extLst>
  </p:cmAuthor>
  <p:cmAuthor id="5" name="Sue Kraemer" initials="SK" lastIdx="8" clrIdx="4">
    <p:extLst>
      <p:ext uri="{19B8F6BF-5375-455C-9EA6-DF929625EA0E}">
        <p15:presenceInfo xmlns:p15="http://schemas.microsoft.com/office/powerpoint/2012/main" userId="S::skraemer@tableau.com::7a5daa9a-16ba-46a5-b923-3f62e46c1c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FFFF"/>
    <a:srgbClr val="000000"/>
    <a:srgbClr val="B2E4D7"/>
    <a:srgbClr val="E0E0E0"/>
    <a:srgbClr val="59879B"/>
    <a:srgbClr val="1F447D"/>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146" autoAdjust="0"/>
  </p:normalViewPr>
  <p:slideViewPr>
    <p:cSldViewPr snapToGrid="0" showGuides="1">
      <p:cViewPr varScale="1">
        <p:scale>
          <a:sx n="80" d="100"/>
          <a:sy n="80" d="100"/>
        </p:scale>
        <p:origin x="1068" y="96"/>
      </p:cViewPr>
      <p:guideLst>
        <p:guide orient="horz" pos="1181"/>
        <p:guide orient="horz" pos="369"/>
        <p:guide pos="432"/>
      </p:guideLst>
    </p:cSldViewPr>
  </p:slideViewPr>
  <p:notesTextViewPr>
    <p:cViewPr>
      <p:scale>
        <a:sx n="100" d="100"/>
        <a:sy n="100" d="100"/>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defTabSz="1306221" fontAlgn="auto">
              <a:spcBef>
                <a:spcPts val="0"/>
              </a:spcBef>
              <a:spcAft>
                <a:spcPts val="0"/>
              </a:spcAft>
              <a:defRPr sz="1200" smtClean="0">
                <a:latin typeface="BentonSans Book"/>
                <a:ea typeface="+mn-ea"/>
                <a:cs typeface="+mn-cs"/>
              </a:defRPr>
            </a:lvl1pPr>
          </a:lstStyle>
          <a:p>
            <a:pPr>
              <a:defRPr/>
            </a:pPr>
            <a:fld id="{85591767-110F-A243-83F9-36645DAA76CB}" type="datetime1">
              <a:rPr lang="en-US"/>
              <a:pPr>
                <a:defRPr/>
              </a:pPr>
              <a:t>9/15/2021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defTabSz="1306221" fontAlgn="auto">
              <a:spcBef>
                <a:spcPts val="0"/>
              </a:spcBef>
              <a:spcAft>
                <a:spcPts val="0"/>
              </a:spcAft>
              <a:defRPr sz="1200" smtClean="0">
                <a:latin typeface="BentonSans Book"/>
                <a:ea typeface="+mn-ea"/>
                <a:cs typeface="+mn-cs"/>
              </a:defRPr>
            </a:lvl1pPr>
          </a:lstStyle>
          <a:p>
            <a:pPr>
              <a:defRPr/>
            </a:pPr>
            <a:fld id="{183AF4F7-31B0-B643-9B95-E1F087EE11A4}" type="slidenum">
              <a:rPr lang="en-US"/>
              <a:pPr>
                <a:defRPr/>
              </a:pPr>
              <a:t>‹#›</a:t>
            </a:fld>
            <a:endParaRPr lang="en-US" dirty="0"/>
          </a:p>
        </p:txBody>
      </p:sp>
    </p:spTree>
    <p:extLst>
      <p:ext uri="{BB962C8B-B14F-4D97-AF65-F5344CB8AC3E}">
        <p14:creationId xmlns:p14="http://schemas.microsoft.com/office/powerpoint/2010/main" val="353554104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306221" fontAlgn="auto">
              <a:spcBef>
                <a:spcPts val="0"/>
              </a:spcBef>
              <a:spcAft>
                <a:spcPts val="0"/>
              </a:spcAft>
              <a:defRPr sz="1200" smtClean="0">
                <a:latin typeface="BentonSans Book"/>
                <a:ea typeface="+mn-ea"/>
                <a:cs typeface="+mn-cs"/>
              </a:defRPr>
            </a:lvl1pPr>
          </a:lstStyle>
          <a:p>
            <a:pPr>
              <a:defRPr/>
            </a:pPr>
            <a:fld id="{7850FBDF-363D-BA4E-BF53-7E974FE76827}" type="datetime1">
              <a:rPr lang="en-US"/>
              <a:pPr>
                <a:defRPr/>
              </a:pPr>
              <a:t>9/15/2021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1306221" fontAlgn="auto">
              <a:spcBef>
                <a:spcPts val="0"/>
              </a:spcBef>
              <a:spcAft>
                <a:spcPts val="0"/>
              </a:spcAft>
              <a:defRPr sz="1200" smtClean="0">
                <a:latin typeface="BentonSans Book"/>
                <a:ea typeface="+mn-ea"/>
                <a:cs typeface="+mn-cs"/>
              </a:defRPr>
            </a:lvl1pPr>
          </a:lstStyle>
          <a:p>
            <a:pPr>
              <a:defRPr/>
            </a:pPr>
            <a:fld id="{BE318CCB-9EB4-A04E-B82B-4EF927884A69}" type="slidenum">
              <a:rPr lang="en-US"/>
              <a:pPr>
                <a:defRPr/>
              </a:pPr>
              <a:t>‹#›</a:t>
            </a:fld>
            <a:endParaRPr lang="en-US" dirty="0"/>
          </a:p>
        </p:txBody>
      </p:sp>
    </p:spTree>
    <p:extLst>
      <p:ext uri="{BB962C8B-B14F-4D97-AF65-F5344CB8AC3E}">
        <p14:creationId xmlns:p14="http://schemas.microsoft.com/office/powerpoint/2010/main" val="1518684071"/>
      </p:ext>
    </p:extLst>
  </p:cSld>
  <p:clrMap bg1="lt1" tx1="dk1" bg2="lt2" tx2="dk2" accent1="accent1" accent2="accent2" accent3="accent3" accent4="accent4" accent5="accent5" accent6="accent6" hlink="hlink" folHlink="folHlink"/>
  <p:hf sldNum="0" hdr="0" ftr="0" dt="0"/>
  <p:notesStyle>
    <a:lvl1pPr algn="l" defTabSz="1304925" rtl="0" fontAlgn="base">
      <a:spcBef>
        <a:spcPct val="30000"/>
      </a:spcBef>
      <a:spcAft>
        <a:spcPct val="0"/>
      </a:spcAft>
      <a:defRPr kern="1200">
        <a:solidFill>
          <a:schemeClr val="tx1"/>
        </a:solidFill>
        <a:latin typeface="BentonSans Book"/>
        <a:ea typeface="ＭＳ Ｐゴシック" charset="0"/>
        <a:cs typeface="ＭＳ Ｐゴシック" charset="0"/>
      </a:defRPr>
    </a:lvl1pPr>
    <a:lvl2pPr marL="652463" algn="l" defTabSz="1304925" rtl="0" fontAlgn="base">
      <a:spcBef>
        <a:spcPct val="30000"/>
      </a:spcBef>
      <a:spcAft>
        <a:spcPct val="0"/>
      </a:spcAft>
      <a:defRPr kern="1200">
        <a:solidFill>
          <a:schemeClr val="tx1"/>
        </a:solidFill>
        <a:latin typeface="BentonSans Book"/>
        <a:ea typeface="ＭＳ Ｐゴシック" charset="0"/>
        <a:cs typeface="+mn-cs"/>
      </a:defRPr>
    </a:lvl2pPr>
    <a:lvl3pPr marL="1304925" algn="l" defTabSz="1304925" rtl="0" fontAlgn="base">
      <a:spcBef>
        <a:spcPct val="30000"/>
      </a:spcBef>
      <a:spcAft>
        <a:spcPct val="0"/>
      </a:spcAft>
      <a:defRPr kern="1200">
        <a:solidFill>
          <a:schemeClr val="tx1"/>
        </a:solidFill>
        <a:latin typeface="BentonSans Book"/>
        <a:ea typeface="ＭＳ Ｐゴシック" charset="0"/>
        <a:cs typeface="+mn-cs"/>
      </a:defRPr>
    </a:lvl3pPr>
    <a:lvl4pPr marL="1958975" algn="l" defTabSz="1304925" rtl="0" fontAlgn="base">
      <a:spcBef>
        <a:spcPct val="30000"/>
      </a:spcBef>
      <a:spcAft>
        <a:spcPct val="0"/>
      </a:spcAft>
      <a:defRPr kern="1200">
        <a:solidFill>
          <a:schemeClr val="tx1"/>
        </a:solidFill>
        <a:latin typeface="BentonSans Book"/>
        <a:ea typeface="ＭＳ Ｐゴシック" charset="0"/>
        <a:cs typeface="+mn-cs"/>
      </a:defRPr>
    </a:lvl4pPr>
    <a:lvl5pPr marL="2611438" algn="l" defTabSz="1304925" rtl="0" fontAlgn="base">
      <a:spcBef>
        <a:spcPct val="30000"/>
      </a:spcBef>
      <a:spcAft>
        <a:spcPct val="0"/>
      </a:spcAft>
      <a:defRPr kern="1200">
        <a:solidFill>
          <a:schemeClr val="tx1"/>
        </a:solidFill>
        <a:latin typeface="BentonSans Book"/>
        <a:ea typeface="ＭＳ Ｐゴシック" charset="0"/>
        <a:cs typeface="+mn-cs"/>
      </a:defRPr>
    </a:lvl5pPr>
    <a:lvl6pPr marL="3265550" algn="l" defTabSz="1306221" rtl="0" eaLnBrk="1" latinLnBrk="0" hangingPunct="1">
      <a:defRPr sz="1800" kern="1200">
        <a:solidFill>
          <a:schemeClr val="tx1"/>
        </a:solidFill>
        <a:latin typeface="+mn-lt"/>
        <a:ea typeface="+mn-ea"/>
        <a:cs typeface="+mn-cs"/>
      </a:defRPr>
    </a:lvl6pPr>
    <a:lvl7pPr marL="3918661" algn="l" defTabSz="1306221" rtl="0" eaLnBrk="1" latinLnBrk="0" hangingPunct="1">
      <a:defRPr sz="1800" kern="1200">
        <a:solidFill>
          <a:schemeClr val="tx1"/>
        </a:solidFill>
        <a:latin typeface="+mn-lt"/>
        <a:ea typeface="+mn-ea"/>
        <a:cs typeface="+mn-cs"/>
      </a:defRPr>
    </a:lvl7pPr>
    <a:lvl8pPr marL="4571771" algn="l" defTabSz="1306221" rtl="0" eaLnBrk="1" latinLnBrk="0" hangingPunct="1">
      <a:defRPr sz="1800" kern="1200">
        <a:solidFill>
          <a:schemeClr val="tx1"/>
        </a:solidFill>
        <a:latin typeface="+mn-lt"/>
        <a:ea typeface="+mn-ea"/>
        <a:cs typeface="+mn-cs"/>
      </a:defRPr>
    </a:lvl8pPr>
    <a:lvl9pPr marL="5224882" algn="l" defTabSz="1306221"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Title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Section Header</a:t>
            </a:r>
          </a:p>
        </p:txBody>
      </p:sp>
    </p:spTree>
    <p:extLst>
      <p:ext uri="{BB962C8B-B14F-4D97-AF65-F5344CB8AC3E}">
        <p14:creationId xmlns:p14="http://schemas.microsoft.com/office/powerpoint/2010/main" val="1521157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t>In our first example of connecting to data, we used an Excel file that was already formatted nicely – we just brought it straight into Tableau.  In reality, data files are not always so well-formatted.  Now we will practice using a file that needs some work before it is ready for analysis.</a:t>
            </a:r>
          </a:p>
          <a:p>
            <a:r>
              <a:rPr lang="en-US" dirty="0"/>
              <a:t>(Global Superstore, our main dataset, is too well-structured! This gives us a messier example to work with.)</a:t>
            </a:r>
          </a:p>
          <a:p>
            <a:endParaRPr lang="en-US" dirty="0"/>
          </a:p>
          <a:p>
            <a:r>
              <a:rPr lang="en-US" dirty="0"/>
              <a:t>Ask students what they say wrong with this sheet.</a:t>
            </a:r>
          </a:p>
        </p:txBody>
      </p:sp>
    </p:spTree>
    <p:extLst>
      <p:ext uri="{BB962C8B-B14F-4D97-AF65-F5344CB8AC3E}">
        <p14:creationId xmlns:p14="http://schemas.microsoft.com/office/powerpoint/2010/main" val="1449342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1304925" rtl="0" eaLnBrk="1" fontAlgn="base" latinLnBrk="0" hangingPunct="1">
              <a:lnSpc>
                <a:spcPct val="100000"/>
              </a:lnSpc>
              <a:spcBef>
                <a:spcPct val="0"/>
              </a:spcBef>
              <a:spcAft>
                <a:spcPct val="0"/>
              </a:spcAft>
              <a:buClrTx/>
              <a:buSzTx/>
              <a:buFontTx/>
              <a:buNone/>
              <a:tabLst/>
              <a:defRPr/>
            </a:pPr>
            <a:r>
              <a:rPr lang="en-US" dirty="0"/>
              <a:t>The “Ideal” tab shows how we </a:t>
            </a:r>
            <a:r>
              <a:rPr lang="en-US" i="1" u="sng" dirty="0"/>
              <a:t>wish</a:t>
            </a:r>
            <a:r>
              <a:rPr lang="en-US" dirty="0"/>
              <a:t> the data would be formatted – like a database table. </a:t>
            </a:r>
          </a:p>
          <a:p>
            <a:pPr marL="0" marR="0" lvl="0" indent="0" algn="l" defTabSz="1304925" rtl="0" eaLnBrk="1" fontAlgn="base" latinLnBrk="0" hangingPunct="1">
              <a:lnSpc>
                <a:spcPct val="100000"/>
              </a:lnSpc>
              <a:spcBef>
                <a:spcPct val="0"/>
              </a:spcBef>
              <a:spcAft>
                <a:spcPct val="0"/>
              </a:spcAft>
              <a:buClrTx/>
              <a:buSzTx/>
              <a:buFontTx/>
              <a:buNone/>
              <a:tabLst/>
              <a:defRPr/>
            </a:pPr>
            <a:r>
              <a:rPr lang="en-US" dirty="0"/>
              <a:t>Remind students of content covered earlier.</a:t>
            </a:r>
          </a:p>
          <a:p>
            <a:pPr>
              <a:spcBef>
                <a:spcPct val="0"/>
              </a:spcBef>
            </a:pPr>
            <a:endParaRPr lang="en-US" dirty="0">
              <a:latin typeface="BentonSans Book" charset="0"/>
            </a:endParaRPr>
          </a:p>
        </p:txBody>
      </p:sp>
    </p:spTree>
    <p:extLst>
      <p:ext uri="{BB962C8B-B14F-4D97-AF65-F5344CB8AC3E}">
        <p14:creationId xmlns:p14="http://schemas.microsoft.com/office/powerpoint/2010/main" val="4262769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t>Many times we receive data that looks more like what we see in the “Resolved Incidents” tab.  Luckily, there are several features in Tableau Desktop to help automatically reshape Text and Excel files to get them ready for analysis in Tableau. </a:t>
            </a:r>
          </a:p>
          <a:p>
            <a:pPr marL="0" marR="0" lvl="0" indent="0" algn="l" defTabSz="1304925" rtl="0" eaLnBrk="1" fontAlgn="base" latinLnBrk="0" hangingPunct="1">
              <a:lnSpc>
                <a:spcPct val="100000"/>
              </a:lnSpc>
              <a:spcBef>
                <a:spcPct val="30000"/>
              </a:spcBef>
              <a:spcAft>
                <a:spcPct val="0"/>
              </a:spcAft>
              <a:buClrTx/>
              <a:buSzTx/>
              <a:buFontTx/>
              <a:buNone/>
              <a:tabLst/>
              <a:defRPr/>
            </a:pPr>
            <a:endParaRPr lang="en-US" dirty="0"/>
          </a:p>
        </p:txBody>
      </p:sp>
    </p:spTree>
    <p:extLst>
      <p:ext uri="{BB962C8B-B14F-4D97-AF65-F5344CB8AC3E}">
        <p14:creationId xmlns:p14="http://schemas.microsoft.com/office/powerpoint/2010/main" val="2375612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BentonSans Book"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t>Connect to this Excel file and see if we can work with that poorly formatted sheet. </a:t>
            </a:r>
          </a:p>
          <a:p>
            <a:r>
              <a:rPr lang="en-US" dirty="0"/>
              <a:t>Remind students of how to connect to data in Tableau</a:t>
            </a:r>
          </a:p>
          <a:p>
            <a:r>
              <a:rPr lang="en-US" dirty="0"/>
              <a:t>Note how the data looks in Tableau</a:t>
            </a:r>
          </a:p>
          <a:p>
            <a:r>
              <a:rPr lang="en-US" dirty="0"/>
              <a:t>Although Tableau can connect to this sheet, we can see here in the preview that there are some issues. There are no column names, the headers from Excel have a lot of nulls, and so on. </a:t>
            </a:r>
          </a:p>
        </p:txBody>
      </p:sp>
    </p:spTree>
    <p:extLst>
      <p:ext uri="{BB962C8B-B14F-4D97-AF65-F5344CB8AC3E}">
        <p14:creationId xmlns:p14="http://schemas.microsoft.com/office/powerpoint/2010/main" val="3682505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Tableau can connect to this sheet, we can see here in the preview that there are some issues. There are no column names, the headers from Excel have a lot of nulls, and so on. </a:t>
            </a:r>
          </a:p>
          <a:p>
            <a:r>
              <a:rPr lang="en-US" dirty="0"/>
              <a:t>Tableau has also recognized this and suggests the </a:t>
            </a:r>
            <a:r>
              <a:rPr lang="en-US" u="sng" dirty="0"/>
              <a:t>Data Interpreter</a:t>
            </a:r>
            <a:r>
              <a:rPr lang="en-US" dirty="0"/>
              <a:t> (Tableau’s built-in tool for preparing your data for analysis). </a:t>
            </a:r>
          </a:p>
        </p:txBody>
      </p:sp>
    </p:spTree>
    <p:extLst>
      <p:ext uri="{BB962C8B-B14F-4D97-AF65-F5344CB8AC3E}">
        <p14:creationId xmlns:p14="http://schemas.microsoft.com/office/powerpoint/2010/main" val="3166355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t>Now we see that those headers and nulls have been stripped out, and our columns are properly identified</a:t>
            </a:r>
          </a:p>
          <a:p>
            <a:endParaRPr lang="en-US" dirty="0"/>
          </a:p>
        </p:txBody>
      </p:sp>
    </p:spTree>
    <p:extLst>
      <p:ext uri="{BB962C8B-B14F-4D97-AF65-F5344CB8AC3E}">
        <p14:creationId xmlns:p14="http://schemas.microsoft.com/office/powerpoint/2010/main" val="1946031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t>Click on Review the Results</a:t>
            </a:r>
          </a:p>
          <a:p>
            <a:pPr marL="0" marR="0" lvl="0" indent="0" algn="l" defTabSz="1304925" rtl="0" eaLnBrk="1" fontAlgn="base" latinLnBrk="0" hangingPunct="1">
              <a:lnSpc>
                <a:spcPct val="100000"/>
              </a:lnSpc>
              <a:spcBef>
                <a:spcPct val="30000"/>
              </a:spcBef>
              <a:spcAft>
                <a:spcPct val="0"/>
              </a:spcAft>
              <a:buClrTx/>
              <a:buSzTx/>
              <a:buFontTx/>
              <a:buNone/>
              <a:tabLst/>
              <a:defRPr/>
            </a:pPr>
            <a:endParaRPr lang="en-US" dirty="0"/>
          </a:p>
          <a:p>
            <a:pPr lvl="0"/>
            <a:r>
              <a:rPr lang="en-US" dirty="0"/>
              <a:t>If we want more specifics on what the Data Interpreter did, we can </a:t>
            </a:r>
            <a:r>
              <a:rPr lang="en-US" b="1" dirty="0"/>
              <a:t>click “Review the Results”</a:t>
            </a:r>
            <a:r>
              <a:rPr lang="en-US" dirty="0"/>
              <a:t> on the right. This will open an Excel file describing the changes. </a:t>
            </a:r>
          </a:p>
          <a:p>
            <a:pPr lvl="0"/>
            <a:r>
              <a:rPr lang="en-US" dirty="0"/>
              <a:t>If we </a:t>
            </a:r>
            <a:r>
              <a:rPr lang="en-US" b="1" dirty="0"/>
              <a:t>click to the tab we used, Resolved Incidents</a:t>
            </a:r>
            <a:r>
              <a:rPr lang="en-US" dirty="0"/>
              <a:t>, we see which fields are being used as headers, in red, and which are considered data, in green</a:t>
            </a:r>
          </a:p>
          <a:p>
            <a:endParaRPr lang="en-US" dirty="0"/>
          </a:p>
        </p:txBody>
      </p:sp>
    </p:spTree>
    <p:extLst>
      <p:ext uri="{BB962C8B-B14F-4D97-AF65-F5344CB8AC3E}">
        <p14:creationId xmlns:p14="http://schemas.microsoft.com/office/powerpoint/2010/main" val="3855722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t>Click on Review the Results</a:t>
            </a:r>
          </a:p>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t>First sheet tab in excel shows the color key</a:t>
            </a:r>
          </a:p>
          <a:p>
            <a:pPr lvl="0"/>
            <a:r>
              <a:rPr lang="en-US" dirty="0"/>
              <a:t>If we </a:t>
            </a:r>
            <a:r>
              <a:rPr lang="en-US" b="1" dirty="0"/>
              <a:t>click to the tab we used, Resolved Incidents</a:t>
            </a:r>
            <a:r>
              <a:rPr lang="en-US" dirty="0"/>
              <a:t>, we see which fields are being used as headers, in red, and which are considered data, in green</a:t>
            </a:r>
          </a:p>
          <a:p>
            <a:endParaRPr lang="en-US" dirty="0"/>
          </a:p>
        </p:txBody>
      </p:sp>
    </p:spTree>
    <p:extLst>
      <p:ext uri="{BB962C8B-B14F-4D97-AF65-F5344CB8AC3E}">
        <p14:creationId xmlns:p14="http://schemas.microsoft.com/office/powerpoint/2010/main" val="1676237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Click to the Resolved Incidents tab</a:t>
            </a:r>
            <a:r>
              <a:rPr lang="en-US" dirty="0"/>
              <a:t> </a:t>
            </a:r>
          </a:p>
          <a:p>
            <a:pPr lvl="0"/>
            <a:r>
              <a:rPr lang="en-US" dirty="0"/>
              <a:t>we see which cells are being used as headers in red</a:t>
            </a:r>
          </a:p>
          <a:p>
            <a:pPr lvl="0"/>
            <a:r>
              <a:rPr lang="en-US" dirty="0"/>
              <a:t>which are considered data in green</a:t>
            </a:r>
          </a:p>
          <a:p>
            <a:pPr lvl="0"/>
            <a:r>
              <a:rPr lang="en-US" dirty="0"/>
              <a:t>Data in white is ignored</a:t>
            </a:r>
          </a:p>
          <a:p>
            <a:pPr lvl="0"/>
            <a:endParaRPr lang="en-US" dirty="0"/>
          </a:p>
          <a:p>
            <a:pPr lvl="0"/>
            <a:r>
              <a:rPr lang="en-US" dirty="0"/>
              <a:t>Remind students to always review.</a:t>
            </a:r>
          </a:p>
          <a:p>
            <a:endParaRPr lang="en-US" dirty="0"/>
          </a:p>
        </p:txBody>
      </p:sp>
    </p:spTree>
    <p:extLst>
      <p:ext uri="{BB962C8B-B14F-4D97-AF65-F5344CB8AC3E}">
        <p14:creationId xmlns:p14="http://schemas.microsoft.com/office/powerpoint/2010/main" val="2507865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Section Header</a:t>
            </a:r>
          </a:p>
        </p:txBody>
      </p:sp>
    </p:spTree>
    <p:extLst>
      <p:ext uri="{BB962C8B-B14F-4D97-AF65-F5344CB8AC3E}">
        <p14:creationId xmlns:p14="http://schemas.microsoft.com/office/powerpoint/2010/main" val="3297253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1304925" rtl="0" eaLnBrk="1" fontAlgn="base" latinLnBrk="0" hangingPunct="1">
              <a:lnSpc>
                <a:spcPct val="100000"/>
              </a:lnSpc>
              <a:spcBef>
                <a:spcPct val="0"/>
              </a:spcBef>
              <a:spcAft>
                <a:spcPct val="0"/>
              </a:spcAft>
              <a:buClrTx/>
              <a:buSzTx/>
              <a:buFontTx/>
              <a:buNone/>
              <a:tabLst/>
              <a:defRPr/>
            </a:pPr>
            <a:r>
              <a:rPr lang="en-US" dirty="0"/>
              <a:t>Take another look at that “Ideal” tab in the original excel file. </a:t>
            </a:r>
          </a:p>
          <a:p>
            <a:pPr marL="0" marR="0" lvl="0" indent="0" algn="l" defTabSz="1304925" rtl="0" eaLnBrk="1" fontAlgn="base" latinLnBrk="0" hangingPunct="1">
              <a:lnSpc>
                <a:spcPct val="100000"/>
              </a:lnSpc>
              <a:spcBef>
                <a:spcPct val="0"/>
              </a:spcBef>
              <a:spcAft>
                <a:spcPct val="0"/>
              </a:spcAft>
              <a:buClrTx/>
              <a:buSzTx/>
              <a:buFontTx/>
              <a:buNone/>
              <a:tabLst/>
              <a:defRPr/>
            </a:pPr>
            <a:endParaRPr lang="en-US" dirty="0"/>
          </a:p>
          <a:p>
            <a:pPr marL="0" marR="0" lvl="0" indent="0" algn="l" defTabSz="1304925" rtl="0" eaLnBrk="1" fontAlgn="base" latinLnBrk="0" hangingPunct="1">
              <a:lnSpc>
                <a:spcPct val="100000"/>
              </a:lnSpc>
              <a:spcBef>
                <a:spcPct val="0"/>
              </a:spcBef>
              <a:spcAft>
                <a:spcPct val="0"/>
              </a:spcAft>
              <a:buClrTx/>
              <a:buSzTx/>
              <a:buFontTx/>
              <a:buNone/>
              <a:tabLst/>
              <a:defRPr/>
            </a:pPr>
            <a:r>
              <a:rPr lang="en-US" dirty="0"/>
              <a:t>Ask students if running interpreter in Tableau gave them the ideal format.</a:t>
            </a:r>
          </a:p>
          <a:p>
            <a:pPr marL="0" marR="0" lvl="0" indent="0" algn="l" defTabSz="1304925" rtl="0" eaLnBrk="1" fontAlgn="base" latinLnBrk="0" hangingPunct="1">
              <a:lnSpc>
                <a:spcPct val="100000"/>
              </a:lnSpc>
              <a:spcBef>
                <a:spcPct val="0"/>
              </a:spcBef>
              <a:spcAft>
                <a:spcPct val="0"/>
              </a:spcAft>
              <a:buClrTx/>
              <a:buSzTx/>
              <a:buFontTx/>
              <a:buNone/>
              <a:tabLst/>
              <a:defRPr/>
            </a:pPr>
            <a:endParaRPr lang="en-US" dirty="0"/>
          </a:p>
          <a:p>
            <a:pPr marL="0" marR="0" lvl="0" indent="0" algn="l" defTabSz="1304925" rtl="0" eaLnBrk="1" fontAlgn="base" latinLnBrk="0" hangingPunct="1">
              <a:lnSpc>
                <a:spcPct val="100000"/>
              </a:lnSpc>
              <a:spcBef>
                <a:spcPct val="0"/>
              </a:spcBef>
              <a:spcAft>
                <a:spcPct val="0"/>
              </a:spcAft>
              <a:buClrTx/>
              <a:buSzTx/>
              <a:buFontTx/>
              <a:buNone/>
              <a:tabLst/>
              <a:defRPr/>
            </a:pPr>
            <a:r>
              <a:rPr lang="en-US" dirty="0"/>
              <a:t>Note that instead of having a column for each month with data underneath, in this format, there is a “Date” column and each row contains the number of resolved incidents for each unique combination of date and employee. This data is in the preferred format for analysis: </a:t>
            </a:r>
            <a:r>
              <a:rPr lang="en-US" u="sng" dirty="0"/>
              <a:t>taller</a:t>
            </a:r>
            <a:r>
              <a:rPr lang="en-US" dirty="0"/>
              <a:t>, with more rows, rather than wider, with more columns. Let’s see if we can do that in Tableau.</a:t>
            </a:r>
          </a:p>
          <a:p>
            <a:pPr>
              <a:spcBef>
                <a:spcPct val="0"/>
              </a:spcBef>
            </a:pPr>
            <a:endParaRPr lang="en-US" dirty="0">
              <a:latin typeface="BentonSans Book" charset="0"/>
            </a:endParaRPr>
          </a:p>
        </p:txBody>
      </p:sp>
    </p:spTree>
    <p:extLst>
      <p:ext uri="{BB962C8B-B14F-4D97-AF65-F5344CB8AC3E}">
        <p14:creationId xmlns:p14="http://schemas.microsoft.com/office/powerpoint/2010/main" val="2017013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lang="en-US" dirty="0"/>
              <a:t>In Tableau, we want to change the format from that column-per-month layout into a single date column and a single column for Resolved Incidents. </a:t>
            </a:r>
          </a:p>
          <a:p>
            <a:pPr lvl="0"/>
            <a:r>
              <a:rPr lang="en-US" dirty="0"/>
              <a:t>To do this easily, we’ll simply </a:t>
            </a:r>
            <a:r>
              <a:rPr lang="en-US" b="1" dirty="0"/>
              <a:t>select all the date columns</a:t>
            </a:r>
            <a:r>
              <a:rPr lang="en-US" dirty="0"/>
              <a:t>. Click on the first, scroll if necessary, then shift click on the last. We’ll </a:t>
            </a:r>
            <a:r>
              <a:rPr lang="en-US" b="1" dirty="0"/>
              <a:t>open the menu and select “Pivot”</a:t>
            </a:r>
            <a:r>
              <a:rPr lang="en-US" dirty="0"/>
              <a:t> </a:t>
            </a:r>
          </a:p>
          <a:p>
            <a:pPr lvl="0"/>
            <a:r>
              <a:rPr lang="en-US" dirty="0"/>
              <a:t>This pivot feature essentially merges the information from the original columns and rows into two new columns – Pivot field names, and Pivot field values. </a:t>
            </a:r>
          </a:p>
          <a:p>
            <a:endParaRPr lang="en-US" dirty="0"/>
          </a:p>
        </p:txBody>
      </p:sp>
    </p:spTree>
    <p:extLst>
      <p:ext uri="{BB962C8B-B14F-4D97-AF65-F5344CB8AC3E}">
        <p14:creationId xmlns:p14="http://schemas.microsoft.com/office/powerpoint/2010/main" val="4289553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This pivot feature essentially merges the information from the original columns and rows into two new columns – Pivot field names, and Pivot field values. </a:t>
            </a:r>
          </a:p>
          <a:p>
            <a:pPr lvl="0"/>
            <a:r>
              <a:rPr lang="en-US" dirty="0"/>
              <a:t>We can see that “Pivot field names” is actually our Date, so we can </a:t>
            </a:r>
            <a:r>
              <a:rPr lang="en-US" b="1" dirty="0"/>
              <a:t>click to open the menu and select rename</a:t>
            </a:r>
            <a:r>
              <a:rPr lang="en-US" dirty="0"/>
              <a:t>. </a:t>
            </a:r>
          </a:p>
          <a:p>
            <a:pPr lvl="0"/>
            <a:r>
              <a:rPr lang="en-US" dirty="0"/>
              <a:t>Similarly, “Pivot field values” can be </a:t>
            </a:r>
            <a:r>
              <a:rPr lang="en-US" b="1" dirty="0"/>
              <a:t>renamed</a:t>
            </a:r>
            <a:r>
              <a:rPr lang="en-US" dirty="0"/>
              <a:t> “Resolved Incidents”</a:t>
            </a:r>
          </a:p>
          <a:p>
            <a:endParaRPr lang="en-US" dirty="0"/>
          </a:p>
        </p:txBody>
      </p:sp>
    </p:spTree>
    <p:extLst>
      <p:ext uri="{BB962C8B-B14F-4D97-AF65-F5344CB8AC3E}">
        <p14:creationId xmlns:p14="http://schemas.microsoft.com/office/powerpoint/2010/main" val="1032977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BentonSans Book" charset="0"/>
              </a:rPr>
              <a:t>Instructor note: optional video of pivot steps</a:t>
            </a:r>
          </a:p>
        </p:txBody>
      </p:sp>
    </p:spTree>
    <p:extLst>
      <p:ext uri="{BB962C8B-B14F-4D97-AF65-F5344CB8AC3E}">
        <p14:creationId xmlns:p14="http://schemas.microsoft.com/office/powerpoint/2010/main" val="1066119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Section Header</a:t>
            </a:r>
          </a:p>
        </p:txBody>
      </p:sp>
    </p:spTree>
    <p:extLst>
      <p:ext uri="{BB962C8B-B14F-4D97-AF65-F5344CB8AC3E}">
        <p14:creationId xmlns:p14="http://schemas.microsoft.com/office/powerpoint/2010/main" val="1878726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lang="en-US" dirty="0"/>
              <a:t>Note that the “Employee” field is two pieces of information – a location code, A, B, C, D, or E, followed by an Employee ID number. We can split the column based on the hyphen delimiter:</a:t>
            </a:r>
          </a:p>
          <a:p>
            <a:pPr lvl="0"/>
            <a:r>
              <a:rPr lang="en-US" dirty="0"/>
              <a:t>Click to </a:t>
            </a:r>
            <a:r>
              <a:rPr lang="en-US" b="1" dirty="0"/>
              <a:t>open the menu and select Split</a:t>
            </a:r>
            <a:endParaRPr lang="en-US" dirty="0"/>
          </a:p>
          <a:p>
            <a:pPr lvl="0"/>
            <a:r>
              <a:rPr lang="en-US" dirty="0"/>
              <a:t>There are now two new fields – Employee - Split 1 and Split 2 </a:t>
            </a:r>
          </a:p>
          <a:p>
            <a:endParaRPr lang="en-US" dirty="0"/>
          </a:p>
        </p:txBody>
      </p:sp>
    </p:spTree>
    <p:extLst>
      <p:ext uri="{BB962C8B-B14F-4D97-AF65-F5344CB8AC3E}">
        <p14:creationId xmlns:p14="http://schemas.microsoft.com/office/powerpoint/2010/main" val="557710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preview for next module: Note the = sign that Tableau creates for </a:t>
            </a:r>
            <a:r>
              <a:rPr lang="en-US"/>
              <a:t>new fields.</a:t>
            </a:r>
            <a:endParaRPr lang="en-US" dirty="0"/>
          </a:p>
        </p:txBody>
      </p:sp>
    </p:spTree>
    <p:extLst>
      <p:ext uri="{BB962C8B-B14F-4D97-AF65-F5344CB8AC3E}">
        <p14:creationId xmlns:p14="http://schemas.microsoft.com/office/powerpoint/2010/main" val="2706011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BentonSans Book" charset="0"/>
              </a:rPr>
              <a:t>Instructor note: optional video of split steps</a:t>
            </a:r>
          </a:p>
        </p:txBody>
      </p:sp>
    </p:spTree>
    <p:extLst>
      <p:ext uri="{BB962C8B-B14F-4D97-AF65-F5344CB8AC3E}">
        <p14:creationId xmlns:p14="http://schemas.microsoft.com/office/powerpoint/2010/main" val="12733362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198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Tableau Logo</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1038" y="609600"/>
            <a:ext cx="2593975" cy="539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530990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ext Placeholder 32"/>
          <p:cNvSpPr>
            <a:spLocks noGrp="1"/>
          </p:cNvSpPr>
          <p:nvPr>
            <p:ph type="body" sz="quarter" idx="11"/>
          </p:nvPr>
        </p:nvSpPr>
        <p:spPr>
          <a:xfrm>
            <a:off x="706102" y="1813044"/>
            <a:ext cx="5337174" cy="3643818"/>
          </a:xfrm>
          <a:prstGeom prst="rect">
            <a:avLst/>
          </a:prstGeom>
        </p:spPr>
        <p:txBody>
          <a:bodyPr vert="horz" lIns="0" tIns="0" rIns="0" bIns="0">
            <a:spAutoFit/>
          </a:bodyPr>
          <a:lstStyle>
            <a:lvl1pPr marL="0" indent="0">
              <a:lnSpc>
                <a:spcPct val="150000"/>
              </a:lnSpc>
              <a:spcBef>
                <a:spcPts val="0"/>
              </a:spcBef>
              <a:buFontTx/>
              <a:buNone/>
              <a:defRPr sz="2800" b="0" i="0" baseline="0">
                <a:solidFill>
                  <a:schemeClr val="accent5"/>
                </a:solidFill>
                <a:latin typeface="Merriweather Light"/>
                <a:cs typeface="Merriweather Light"/>
              </a:defRPr>
            </a:lvl1pPr>
            <a:lvl2pPr marL="0" indent="0">
              <a:lnSpc>
                <a:spcPct val="150000"/>
              </a:lnSpc>
              <a:buFontTx/>
              <a:buNone/>
              <a:defRPr sz="2900" baseline="0">
                <a:solidFill>
                  <a:schemeClr val="accent5"/>
                </a:solidFill>
              </a:defRPr>
            </a:lvl2pPr>
            <a:lvl3pPr marL="0" indent="0">
              <a:lnSpc>
                <a:spcPct val="150000"/>
              </a:lnSpc>
              <a:buFontTx/>
              <a:buNone/>
              <a:defRPr sz="2900" baseline="0">
                <a:solidFill>
                  <a:schemeClr val="accent5"/>
                </a:solidFill>
              </a:defRPr>
            </a:lvl3pPr>
            <a:lvl4pPr marL="0" indent="0">
              <a:lnSpc>
                <a:spcPct val="150000"/>
              </a:lnSpc>
              <a:buFontTx/>
              <a:buNone/>
              <a:defRPr sz="2900" baseline="0">
                <a:solidFill>
                  <a:schemeClr val="accent5"/>
                </a:solidFill>
              </a:defRPr>
            </a:lvl4pPr>
            <a:lvl5pPr marL="0" indent="0">
              <a:lnSpc>
                <a:spcPct val="150000"/>
              </a:lnSpc>
              <a:buFontTx/>
              <a:buNone/>
              <a:defRPr sz="2900" baseline="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2"/>
          <p:cNvSpPr>
            <a:spLocks noGrp="1"/>
          </p:cNvSpPr>
          <p:nvPr>
            <p:ph type="body" sz="quarter" idx="12"/>
          </p:nvPr>
        </p:nvSpPr>
        <p:spPr>
          <a:xfrm>
            <a:off x="8545513" y="1813044"/>
            <a:ext cx="5414961" cy="3643818"/>
          </a:xfrm>
          <a:prstGeom prst="rect">
            <a:avLst/>
          </a:prstGeom>
        </p:spPr>
        <p:txBody>
          <a:bodyPr vert="horz" wrap="square" lIns="0" tIns="0" rIns="0" bIns="0">
            <a:spAutoFit/>
          </a:bodyPr>
          <a:lstStyle>
            <a:lvl1pPr marL="0" marR="0" indent="0" algn="l" defTabSz="1306221" rtl="0" eaLnBrk="1" fontAlgn="auto" latinLnBrk="0" hangingPunct="1">
              <a:lnSpc>
                <a:spcPct val="150000"/>
              </a:lnSpc>
              <a:spcBef>
                <a:spcPts val="0"/>
              </a:spcBef>
              <a:spcAft>
                <a:spcPts val="0"/>
              </a:spcAft>
              <a:buClrTx/>
              <a:buSzTx/>
              <a:buFontTx/>
              <a:buNone/>
              <a:tabLst/>
              <a:defRPr sz="2800" b="0" i="0" baseline="0">
                <a:solidFill>
                  <a:srgbClr val="4C4C4C"/>
                </a:solidFill>
                <a:latin typeface="Merriweather Light"/>
                <a:cs typeface="Merriweather Light"/>
              </a:defRPr>
            </a:lvl1pPr>
            <a:lvl2pPr marL="0" indent="0">
              <a:lnSpc>
                <a:spcPct val="150000"/>
              </a:lnSpc>
              <a:buFontTx/>
              <a:buNone/>
              <a:defRPr sz="2900" baseline="0">
                <a:solidFill>
                  <a:srgbClr val="4C4C4C"/>
                </a:solidFill>
              </a:defRPr>
            </a:lvl2pPr>
            <a:lvl3pPr marL="0" indent="0">
              <a:lnSpc>
                <a:spcPct val="150000"/>
              </a:lnSpc>
              <a:buFontTx/>
              <a:buNone/>
              <a:defRPr sz="2900" baseline="0">
                <a:solidFill>
                  <a:srgbClr val="4C4C4C"/>
                </a:solidFill>
              </a:defRPr>
            </a:lvl3pPr>
            <a:lvl4pPr marL="0" indent="0">
              <a:lnSpc>
                <a:spcPct val="150000"/>
              </a:lnSpc>
              <a:buFontTx/>
              <a:buNone/>
              <a:defRPr sz="2900" baseline="0">
                <a:solidFill>
                  <a:srgbClr val="4C4C4C"/>
                </a:solidFill>
              </a:defRPr>
            </a:lvl4pPr>
            <a:lvl5pPr marL="0" indent="0">
              <a:lnSpc>
                <a:spcPct val="150000"/>
              </a:lnSpc>
              <a:buFontTx/>
              <a:buNone/>
              <a:defRPr sz="2900" baseline="0">
                <a:solidFill>
                  <a:srgbClr val="4C4C4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5"/>
          <p:cNvSpPr>
            <a:spLocks noGrp="1"/>
          </p:cNvSpPr>
          <p:nvPr>
            <p:ph type="body" sz="quarter" idx="13"/>
          </p:nvPr>
        </p:nvSpPr>
        <p:spPr>
          <a:xfrm>
            <a:off x="715321" y="600286"/>
            <a:ext cx="13245154" cy="577081"/>
          </a:xfrm>
          <a:prstGeom prst="rect">
            <a:avLst/>
          </a:prstGeom>
        </p:spPr>
        <p:txBody>
          <a:bodyPr wrap="square" lIns="0" tIns="0" rIns="0" bIns="0">
            <a:spAutoFit/>
          </a:bodyPr>
          <a:lstStyle>
            <a:lvl1pPr marL="0" indent="0">
              <a:lnSpc>
                <a:spcPct val="80000"/>
              </a:lnSpc>
              <a:buFontTx/>
              <a:buNone/>
              <a:defRPr sz="4500" b="0" i="0" baseline="0">
                <a:solidFill>
                  <a:schemeClr val="accent5"/>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2246969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7" name="Picture 6" descr="Bottom_Viz_August-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35699" t="3221" r="13841" b="-3221"/>
          <a:stretch/>
        </p:blipFill>
        <p:spPr>
          <a:xfrm>
            <a:off x="0" y="3225800"/>
            <a:ext cx="14630400" cy="3153156"/>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42870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5" name="Picture 4" descr="SectionDivider-03.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658" r="12503"/>
          <a:stretch/>
        </p:blipFill>
        <p:spPr>
          <a:xfrm>
            <a:off x="0" y="2362200"/>
            <a:ext cx="14630400" cy="5482336"/>
          </a:xfrm>
          <a:prstGeom prst="rect">
            <a:avLst/>
          </a:prstGeom>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225430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7" name="Picture 6" descr="SectionDivider-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541"/>
          <a:stretch/>
        </p:blipFill>
        <p:spPr>
          <a:xfrm>
            <a:off x="0" y="2946400"/>
            <a:ext cx="14630400" cy="4749800"/>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47655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412279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ulti-level content">
    <p:spTree>
      <p:nvGrpSpPr>
        <p:cNvPr id="1" name=""/>
        <p:cNvGrpSpPr/>
        <p:nvPr/>
      </p:nvGrpSpPr>
      <p:grpSpPr>
        <a:xfrm>
          <a:off x="0" y="0"/>
          <a:ext cx="0" cy="0"/>
          <a:chOff x="0" y="0"/>
          <a:chExt cx="0" cy="0"/>
        </a:xfrm>
      </p:grpSpPr>
      <p:sp>
        <p:nvSpPr>
          <p:cNvPr id="18"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
        <p:nvSpPr>
          <p:cNvPr id="4" name="Content Placeholder 2"/>
          <p:cNvSpPr>
            <a:spLocks noGrp="1"/>
          </p:cNvSpPr>
          <p:nvPr>
            <p:ph idx="14"/>
          </p:nvPr>
        </p:nvSpPr>
        <p:spPr>
          <a:xfrm>
            <a:off x="704476" y="1893515"/>
            <a:ext cx="13274793" cy="443198"/>
          </a:xfrm>
          <a:prstGeom prst="rect">
            <a:avLst/>
          </a:prstGeom>
        </p:spPr>
        <p:txBody>
          <a:bodyPr wrap="square" lIns="0" tIns="0" rIns="0" bIns="0">
            <a:spAutoFit/>
          </a:bodyPr>
          <a:lstStyle>
            <a:lvl1pPr marL="6350" indent="0">
              <a:spcBef>
                <a:spcPts val="0"/>
              </a:spcBef>
              <a:spcAft>
                <a:spcPts val="600"/>
              </a:spcAft>
              <a:buSzPct val="100000"/>
              <a:buFont typeface="+mj-lt"/>
              <a:buNone/>
              <a:tabLst/>
              <a:defRPr sz="2800" b="0" i="0" baseline="0">
                <a:solidFill>
                  <a:srgbClr val="4C4C4C"/>
                </a:solidFill>
                <a:latin typeface="Merriweather Light"/>
                <a:cs typeface="Merriweather Light"/>
              </a:defRPr>
            </a:lvl1pPr>
            <a:lvl2pPr marL="288925" indent="0">
              <a:spcBef>
                <a:spcPts val="0"/>
              </a:spcBef>
              <a:spcAft>
                <a:spcPts val="600"/>
              </a:spcAft>
              <a:buSzPct val="100000"/>
              <a:buFont typeface="+mj-lt"/>
              <a:buNone/>
              <a:defRPr sz="2400" baseline="0">
                <a:solidFill>
                  <a:schemeClr val="accent5"/>
                </a:solidFill>
              </a:defRPr>
            </a:lvl2pPr>
            <a:lvl3pPr marL="512763" indent="0">
              <a:spcBef>
                <a:spcPts val="0"/>
              </a:spcBef>
              <a:spcAft>
                <a:spcPts val="600"/>
              </a:spcAft>
              <a:buSzPct val="100000"/>
              <a:buFont typeface="+mj-lt"/>
              <a:buNone/>
              <a:defRPr sz="2100" baseline="0">
                <a:solidFill>
                  <a:schemeClr val="accent5"/>
                </a:solidFill>
              </a:defRPr>
            </a:lvl3pPr>
            <a:lvl4pPr marL="741363" indent="0">
              <a:spcBef>
                <a:spcPts val="0"/>
              </a:spcBef>
              <a:spcAft>
                <a:spcPts val="600"/>
              </a:spcAft>
              <a:buSzPct val="100000"/>
              <a:buFont typeface="+mj-lt"/>
              <a:buNone/>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p:txBody>
      </p:sp>
    </p:spTree>
    <p:extLst>
      <p:ext uri="{BB962C8B-B14F-4D97-AF65-F5344CB8AC3E}">
        <p14:creationId xmlns:p14="http://schemas.microsoft.com/office/powerpoint/2010/main" val="3635177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276599" y="2438401"/>
            <a:ext cx="9133131" cy="761747"/>
          </a:xfrm>
        </p:spPr>
        <p:txBody>
          <a:bodyPr/>
          <a:lstStyle>
            <a:lvl1pPr>
              <a:defRPr sz="5400" baseline="0">
                <a:solidFill>
                  <a:schemeClr val="accent5"/>
                </a:solidFill>
              </a:defRPr>
            </a:lvl1pPr>
          </a:lstStyle>
          <a:p>
            <a:r>
              <a:rPr lang="en-US"/>
              <a:t>Click to edit Master title style</a:t>
            </a:r>
            <a:endParaRPr lang="en-US" dirty="0"/>
          </a:p>
        </p:txBody>
      </p:sp>
      <p:sp>
        <p:nvSpPr>
          <p:cNvPr id="13" name="Text Placeholder 12"/>
          <p:cNvSpPr>
            <a:spLocks noGrp="1"/>
          </p:cNvSpPr>
          <p:nvPr>
            <p:ph type="body" sz="quarter" idx="11"/>
          </p:nvPr>
        </p:nvSpPr>
        <p:spPr>
          <a:xfrm>
            <a:off x="3561080" y="3733800"/>
            <a:ext cx="8077200" cy="369332"/>
          </a:xfrm>
          <a:prstGeom prst="rect">
            <a:avLst/>
          </a:prstGeom>
        </p:spPr>
        <p:txBody>
          <a:bodyPr lIns="0" tIns="0" rIns="0" bIns="0">
            <a:spAutoFit/>
          </a:bodyPr>
          <a:lstStyle>
            <a:lvl1pPr marL="0" indent="0">
              <a:buNone/>
              <a:defRPr sz="2400" baseline="0">
                <a:solidFill>
                  <a:schemeClr val="accent5"/>
                </a:solidFill>
                <a:latin typeface="Merriweather Light"/>
                <a:cs typeface="Merriweather Light"/>
              </a:defRPr>
            </a:lvl1pPr>
            <a:lvl2pPr marL="653110" indent="0">
              <a:buNone/>
              <a:defRPr sz="1000"/>
            </a:lvl2pPr>
            <a:lvl3pPr marL="1306221" indent="0">
              <a:buNone/>
              <a:defRPr sz="1000"/>
            </a:lvl3pPr>
            <a:lvl4pPr marL="1959331" indent="0">
              <a:buNone/>
              <a:defRPr sz="1000"/>
            </a:lvl4pPr>
            <a:lvl5pPr marL="2612442" indent="0">
              <a:buNone/>
              <a:defRPr sz="1000"/>
            </a:lvl5pPr>
          </a:lstStyle>
          <a:p>
            <a:pPr lvl="0"/>
            <a:r>
              <a:rPr lang="en-US"/>
              <a:t>Edit Master text styles</a:t>
            </a:r>
          </a:p>
        </p:txBody>
      </p:sp>
    </p:spTree>
    <p:extLst>
      <p:ext uri="{BB962C8B-B14F-4D97-AF65-F5344CB8AC3E}">
        <p14:creationId xmlns:p14="http://schemas.microsoft.com/office/powerpoint/2010/main" val="197264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357" y="1893515"/>
            <a:ext cx="13274793" cy="1631216"/>
          </a:xfrm>
          <a:prstGeom prst="rect">
            <a:avLst/>
          </a:prstGeom>
        </p:spPr>
        <p:txBody>
          <a:bodyPr wrap="square" lIns="0" tIns="0" rIns="0" bIns="0">
            <a:spAutoFit/>
          </a:bodyPr>
          <a:lstStyle>
            <a:lvl1pPr marL="520701" indent="-514350">
              <a:spcBef>
                <a:spcPts val="0"/>
              </a:spcBef>
              <a:spcAft>
                <a:spcPts val="600"/>
              </a:spcAft>
              <a:buSzPct val="100000"/>
              <a:buFont typeface="+mj-lt"/>
              <a:buAutoNum type="arabicPeriod"/>
              <a:tabLst/>
              <a:defRPr sz="2800" baseline="0">
                <a:solidFill>
                  <a:schemeClr val="accent5"/>
                </a:solidFill>
                <a:latin typeface="Merriweather Light"/>
                <a:cs typeface="Merriweather Light"/>
              </a:defRPr>
            </a:lvl1pPr>
            <a:lvl2pPr marL="746125" indent="-457200">
              <a:spcBef>
                <a:spcPts val="0"/>
              </a:spcBef>
              <a:spcAft>
                <a:spcPts val="600"/>
              </a:spcAft>
              <a:buSzPct val="100000"/>
              <a:buFont typeface="+mj-lt"/>
              <a:buAutoNum type="romanUcPeriod"/>
              <a:defRPr sz="2400" baseline="0">
                <a:solidFill>
                  <a:schemeClr val="accent5"/>
                </a:solidFill>
                <a:latin typeface="Merriweather Light"/>
                <a:cs typeface="Merriweather Light"/>
              </a:defRPr>
            </a:lvl2pPr>
            <a:lvl3pPr marL="969963" indent="-457200">
              <a:spcBef>
                <a:spcPts val="0"/>
              </a:spcBef>
              <a:spcAft>
                <a:spcPts val="600"/>
              </a:spcAft>
              <a:buSzPct val="100000"/>
              <a:buFont typeface="+mj-lt"/>
              <a:buAutoNum type="arabicPeriod"/>
              <a:defRPr sz="2100" baseline="0">
                <a:solidFill>
                  <a:schemeClr val="accent5"/>
                </a:solidFill>
                <a:latin typeface="Merriweather Light"/>
                <a:cs typeface="Merriweather Light"/>
              </a:defRPr>
            </a:lvl3pPr>
            <a:lvl4pPr marL="1084262" indent="-342901">
              <a:spcBef>
                <a:spcPts val="0"/>
              </a:spcBef>
              <a:spcAft>
                <a:spcPts val="600"/>
              </a:spcAft>
              <a:buSzPct val="100000"/>
              <a:buFont typeface="+mj-lt"/>
              <a:buAutoNum type="arabicPeriod"/>
              <a:defRPr sz="1800" baseline="0">
                <a:solidFill>
                  <a:schemeClr val="accent5"/>
                </a:solidFill>
              </a:defRPr>
            </a:lvl4pPr>
            <a:lvl5pPr marL="2063749" indent="0">
              <a:buSzPct val="100000"/>
              <a:buFont typeface="+mj-lt"/>
              <a:buNone/>
              <a:defRPr sz="1600">
                <a:solidFill>
                  <a:srgbClr val="4C4C4C"/>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73776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Copy">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476" y="1893515"/>
            <a:ext cx="1327382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rgbClr val="4C4C4C"/>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1644417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Copy - 2 Column">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5331" y="1893749"/>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5"/>
          </p:nvPr>
        </p:nvSpPr>
        <p:spPr>
          <a:xfrm>
            <a:off x="7311907" y="1893515"/>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266054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mp; Copy">
    <p:spTree>
      <p:nvGrpSpPr>
        <p:cNvPr id="1" name=""/>
        <p:cNvGrpSpPr/>
        <p:nvPr/>
      </p:nvGrpSpPr>
      <p:grpSpPr>
        <a:xfrm>
          <a:off x="0" y="0"/>
          <a:ext cx="0" cy="0"/>
          <a:chOff x="0" y="0"/>
          <a:chExt cx="0" cy="0"/>
        </a:xfrm>
      </p:grpSpPr>
      <p:sp>
        <p:nvSpPr>
          <p:cNvPr id="6" name="Content Placeholder 2"/>
          <p:cNvSpPr>
            <a:spLocks noGrp="1"/>
          </p:cNvSpPr>
          <p:nvPr>
            <p:ph idx="13"/>
          </p:nvPr>
        </p:nvSpPr>
        <p:spPr>
          <a:xfrm>
            <a:off x="7329803" y="1887752"/>
            <a:ext cx="6649347" cy="443198"/>
          </a:xfrm>
          <a:prstGeom prst="rect">
            <a:avLst/>
          </a:prstGeom>
        </p:spPr>
        <p:txBody>
          <a:bodyPr wrap="square" lIns="0" tIns="0" rIns="0" bIns="0">
            <a:spAutoFit/>
          </a:bodyPr>
          <a:lstStyle>
            <a:lvl1pPr marL="0" indent="0">
              <a:buSzPct val="100000"/>
              <a:buFont typeface="Arial"/>
              <a:buNone/>
              <a:defRPr sz="2800">
                <a:solidFill>
                  <a:schemeClr val="accent5"/>
                </a:solidFill>
                <a:latin typeface="Merriweather Light"/>
                <a:cs typeface="Merriweather Light"/>
              </a:defRPr>
            </a:lvl1pPr>
            <a:lvl2pPr marL="339725" indent="0">
              <a:buSzPct val="100000"/>
              <a:buFont typeface="Arial"/>
              <a:buNone/>
              <a:defRPr sz="2400">
                <a:solidFill>
                  <a:schemeClr val="accent5"/>
                </a:solidFill>
              </a:defRPr>
            </a:lvl2pPr>
            <a:lvl3pPr marL="692150" indent="0">
              <a:buSzPct val="100000"/>
              <a:buFont typeface="Arial"/>
              <a:buNone/>
              <a:defRPr sz="2100">
                <a:solidFill>
                  <a:schemeClr val="accent5"/>
                </a:solidFill>
              </a:defRPr>
            </a:lvl3pPr>
            <a:lvl4pPr marL="1384301" indent="0">
              <a:buSzPct val="100000"/>
              <a:buFont typeface="Arial"/>
              <a:buNone/>
              <a:defRPr sz="180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p:txBody>
      </p:sp>
      <p:sp>
        <p:nvSpPr>
          <p:cNvPr id="4" name="Picture Placeholder 4"/>
          <p:cNvSpPr>
            <a:spLocks noGrp="1"/>
          </p:cNvSpPr>
          <p:nvPr>
            <p:ph type="pic" sz="quarter" idx="10"/>
          </p:nvPr>
        </p:nvSpPr>
        <p:spPr>
          <a:xfrm>
            <a:off x="704476" y="1869074"/>
            <a:ext cx="6019800" cy="5407933"/>
          </a:xfrm>
          <a:prstGeom prst="rect">
            <a:avLst/>
          </a:prstGeom>
          <a:ln w="6350" cmpd="sng">
            <a:solidFill>
              <a:srgbClr val="666666"/>
            </a:solidFill>
          </a:ln>
        </p:spPr>
        <p:txBody>
          <a:bodyPr lIns="91440" tIns="45720" rIns="91440" bIns="45720"/>
          <a:lstStyle>
            <a:lvl1pPr marL="0" indent="0">
              <a:buFontTx/>
              <a:buNone/>
              <a:defRPr sz="2800">
                <a:solidFill>
                  <a:srgbClr val="4C4C4C"/>
                </a:solidFill>
                <a:latin typeface="Merriweather Light"/>
                <a:cs typeface="Merriweather Light"/>
              </a:defRPr>
            </a:lvl1pPr>
          </a:lstStyle>
          <a:p>
            <a:pPr lvl="0"/>
            <a:r>
              <a:rPr lang="en-US" noProof="0"/>
              <a:t>Click icon to add picture</a:t>
            </a:r>
            <a:endParaRPr lang="en-US" noProof="0" dirty="0"/>
          </a:p>
        </p:txBody>
      </p:sp>
      <p:sp>
        <p:nvSpPr>
          <p:cNvPr id="7"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73256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704476" y="1893515"/>
            <a:ext cx="13273731" cy="5358966"/>
          </a:xfrm>
          <a:prstGeom prst="rect">
            <a:avLst/>
          </a:prstGeom>
        </p:spPr>
        <p:txBody>
          <a:bodyPr lIns="0" tIns="0" rIns="0" bIns="0"/>
          <a:lstStyle>
            <a:lvl1pPr marL="0" indent="0">
              <a:buSzPct val="120000"/>
              <a:buFontTx/>
              <a:buNone/>
              <a:defRPr sz="2800">
                <a:solidFill>
                  <a:schemeClr val="accent5"/>
                </a:solidFill>
                <a:latin typeface="Merriweather Light"/>
                <a:cs typeface="Merriweather Light"/>
              </a:defRPr>
            </a:lvl1pPr>
          </a:lstStyle>
          <a:p>
            <a:pPr lvl="0"/>
            <a:r>
              <a:rPr lang="en-US" noProof="0"/>
              <a:t>Click icon to add table</a:t>
            </a:r>
            <a:endParaRPr lang="en-US" noProof="0" dirty="0"/>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841633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PageImage_NoColorBar">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0" y="0"/>
            <a:ext cx="14630400" cy="8229600"/>
          </a:xfrm>
          <a:prstGeom prst="rect">
            <a:avLst/>
          </a:prstGeom>
          <a:solidFill>
            <a:schemeClr val="bg1"/>
          </a:solidFill>
          <a:ln w="6350" cmpd="sng">
            <a:solidFill>
              <a:srgbClr val="666666"/>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1015207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Image w Color Ba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4630400" cy="8229602"/>
          </a:xfrm>
          <a:prstGeom prst="rect">
            <a:avLst/>
          </a:prstGeom>
          <a:ln w="6350" cmpd="sng">
            <a:solidFill>
              <a:schemeClr val="tx1"/>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730614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043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2" name="Rectangle 1"/>
          <p:cNvSpPr/>
          <p:nvPr/>
        </p:nvSpPr>
        <p:spPr>
          <a:xfrm>
            <a:off x="0" y="0"/>
            <a:ext cx="14630400" cy="838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3" name="Picture 6" descr="tableau_rgb.eps"/>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46400" y="3206750"/>
            <a:ext cx="8737600" cy="181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49641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1038" y="609600"/>
            <a:ext cx="2593975" cy="539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38740111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ext Placeholder 32"/>
          <p:cNvSpPr>
            <a:spLocks noGrp="1"/>
          </p:cNvSpPr>
          <p:nvPr>
            <p:ph type="body" sz="quarter" idx="11"/>
          </p:nvPr>
        </p:nvSpPr>
        <p:spPr>
          <a:xfrm>
            <a:off x="706102" y="1813044"/>
            <a:ext cx="5337174" cy="3643818"/>
          </a:xfrm>
          <a:prstGeom prst="rect">
            <a:avLst/>
          </a:prstGeom>
        </p:spPr>
        <p:txBody>
          <a:bodyPr vert="horz" lIns="0" tIns="0" rIns="0" bIns="0">
            <a:spAutoFit/>
          </a:bodyPr>
          <a:lstStyle>
            <a:lvl1pPr marL="0" indent="0">
              <a:lnSpc>
                <a:spcPct val="150000"/>
              </a:lnSpc>
              <a:spcBef>
                <a:spcPts val="0"/>
              </a:spcBef>
              <a:buFontTx/>
              <a:buNone/>
              <a:defRPr sz="2800" b="0" i="0" baseline="0">
                <a:solidFill>
                  <a:schemeClr val="accent5"/>
                </a:solidFill>
                <a:latin typeface="Merriweather Light"/>
                <a:cs typeface="Merriweather Light"/>
              </a:defRPr>
            </a:lvl1pPr>
            <a:lvl2pPr marL="0" indent="0">
              <a:lnSpc>
                <a:spcPct val="150000"/>
              </a:lnSpc>
              <a:buFontTx/>
              <a:buNone/>
              <a:defRPr sz="2900" baseline="0">
                <a:solidFill>
                  <a:schemeClr val="accent5"/>
                </a:solidFill>
              </a:defRPr>
            </a:lvl2pPr>
            <a:lvl3pPr marL="0" indent="0">
              <a:lnSpc>
                <a:spcPct val="150000"/>
              </a:lnSpc>
              <a:buFontTx/>
              <a:buNone/>
              <a:defRPr sz="2900" baseline="0">
                <a:solidFill>
                  <a:schemeClr val="accent5"/>
                </a:solidFill>
              </a:defRPr>
            </a:lvl3pPr>
            <a:lvl4pPr marL="0" indent="0">
              <a:lnSpc>
                <a:spcPct val="150000"/>
              </a:lnSpc>
              <a:buFontTx/>
              <a:buNone/>
              <a:defRPr sz="2900" baseline="0">
                <a:solidFill>
                  <a:schemeClr val="accent5"/>
                </a:solidFill>
              </a:defRPr>
            </a:lvl4pPr>
            <a:lvl5pPr marL="0" indent="0">
              <a:lnSpc>
                <a:spcPct val="150000"/>
              </a:lnSpc>
              <a:buFontTx/>
              <a:buNone/>
              <a:defRPr sz="2900" baseline="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2"/>
          <p:cNvSpPr>
            <a:spLocks noGrp="1"/>
          </p:cNvSpPr>
          <p:nvPr>
            <p:ph type="body" sz="quarter" idx="12"/>
          </p:nvPr>
        </p:nvSpPr>
        <p:spPr>
          <a:xfrm>
            <a:off x="8545513" y="1813044"/>
            <a:ext cx="5414961" cy="3643818"/>
          </a:xfrm>
          <a:prstGeom prst="rect">
            <a:avLst/>
          </a:prstGeom>
        </p:spPr>
        <p:txBody>
          <a:bodyPr vert="horz" wrap="square" lIns="0" tIns="0" rIns="0" bIns="0">
            <a:spAutoFit/>
          </a:bodyPr>
          <a:lstStyle>
            <a:lvl1pPr marL="0" marR="0" indent="0" algn="l" defTabSz="1306221" rtl="0" eaLnBrk="1" fontAlgn="auto" latinLnBrk="0" hangingPunct="1">
              <a:lnSpc>
                <a:spcPct val="150000"/>
              </a:lnSpc>
              <a:spcBef>
                <a:spcPts val="0"/>
              </a:spcBef>
              <a:spcAft>
                <a:spcPts val="0"/>
              </a:spcAft>
              <a:buClrTx/>
              <a:buSzTx/>
              <a:buFontTx/>
              <a:buNone/>
              <a:tabLst/>
              <a:defRPr sz="2800" b="0" i="0" baseline="0">
                <a:solidFill>
                  <a:srgbClr val="4C4C4C"/>
                </a:solidFill>
                <a:latin typeface="Merriweather Light"/>
                <a:cs typeface="Merriweather Light"/>
              </a:defRPr>
            </a:lvl1pPr>
            <a:lvl2pPr marL="0" indent="0">
              <a:lnSpc>
                <a:spcPct val="150000"/>
              </a:lnSpc>
              <a:buFontTx/>
              <a:buNone/>
              <a:defRPr sz="2900" baseline="0">
                <a:solidFill>
                  <a:srgbClr val="4C4C4C"/>
                </a:solidFill>
              </a:defRPr>
            </a:lvl2pPr>
            <a:lvl3pPr marL="0" indent="0">
              <a:lnSpc>
                <a:spcPct val="150000"/>
              </a:lnSpc>
              <a:buFontTx/>
              <a:buNone/>
              <a:defRPr sz="2900" baseline="0">
                <a:solidFill>
                  <a:srgbClr val="4C4C4C"/>
                </a:solidFill>
              </a:defRPr>
            </a:lvl3pPr>
            <a:lvl4pPr marL="0" indent="0">
              <a:lnSpc>
                <a:spcPct val="150000"/>
              </a:lnSpc>
              <a:buFontTx/>
              <a:buNone/>
              <a:defRPr sz="2900" baseline="0">
                <a:solidFill>
                  <a:srgbClr val="4C4C4C"/>
                </a:solidFill>
              </a:defRPr>
            </a:lvl4pPr>
            <a:lvl5pPr marL="0" indent="0">
              <a:lnSpc>
                <a:spcPct val="150000"/>
              </a:lnSpc>
              <a:buFontTx/>
              <a:buNone/>
              <a:defRPr sz="2900" baseline="0">
                <a:solidFill>
                  <a:srgbClr val="4C4C4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5"/>
          <p:cNvSpPr>
            <a:spLocks noGrp="1"/>
          </p:cNvSpPr>
          <p:nvPr>
            <p:ph type="body" sz="quarter" idx="13"/>
          </p:nvPr>
        </p:nvSpPr>
        <p:spPr>
          <a:xfrm>
            <a:off x="715321" y="600286"/>
            <a:ext cx="13245154" cy="577081"/>
          </a:xfrm>
          <a:prstGeom prst="rect">
            <a:avLst/>
          </a:prstGeom>
        </p:spPr>
        <p:txBody>
          <a:bodyPr wrap="square" lIns="0" tIns="0" rIns="0" bIns="0">
            <a:spAutoFit/>
          </a:bodyPr>
          <a:lstStyle>
            <a:lvl1pPr marL="0" indent="0">
              <a:lnSpc>
                <a:spcPct val="80000"/>
              </a:lnSpc>
              <a:buFontTx/>
              <a:buNone/>
              <a:defRPr sz="4500" b="0" i="0" baseline="0">
                <a:solidFill>
                  <a:schemeClr val="accent5"/>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2248500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7" name="Picture 6" descr="Bottom_Viz_August-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35699" t="3221" r="13841" b="-3221"/>
          <a:stretch/>
        </p:blipFill>
        <p:spPr>
          <a:xfrm>
            <a:off x="0" y="3225800"/>
            <a:ext cx="14630400" cy="3153156"/>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1659063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5" name="Picture 4" descr="SectionDivider-03.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658" r="12503"/>
          <a:stretch/>
        </p:blipFill>
        <p:spPr>
          <a:xfrm>
            <a:off x="0" y="2362200"/>
            <a:ext cx="14630400" cy="5482336"/>
          </a:xfrm>
          <a:prstGeom prst="rect">
            <a:avLst/>
          </a:prstGeom>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35510177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dirty="0">
              <a:latin typeface="BentonSans Book"/>
            </a:endParaRPr>
          </a:p>
        </p:txBody>
      </p:sp>
      <p:pic>
        <p:nvPicPr>
          <p:cNvPr id="7" name="Picture 6" descr="SectionDivider-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541"/>
          <a:stretch/>
        </p:blipFill>
        <p:spPr>
          <a:xfrm>
            <a:off x="0" y="2946400"/>
            <a:ext cx="14630400" cy="4749800"/>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20993083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2498571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ulti-level content">
    <p:spTree>
      <p:nvGrpSpPr>
        <p:cNvPr id="1" name=""/>
        <p:cNvGrpSpPr/>
        <p:nvPr/>
      </p:nvGrpSpPr>
      <p:grpSpPr>
        <a:xfrm>
          <a:off x="0" y="0"/>
          <a:ext cx="0" cy="0"/>
          <a:chOff x="0" y="0"/>
          <a:chExt cx="0" cy="0"/>
        </a:xfrm>
      </p:grpSpPr>
      <p:sp>
        <p:nvSpPr>
          <p:cNvPr id="18"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
        <p:nvSpPr>
          <p:cNvPr id="4" name="Content Placeholder 2"/>
          <p:cNvSpPr>
            <a:spLocks noGrp="1"/>
          </p:cNvSpPr>
          <p:nvPr>
            <p:ph idx="14"/>
          </p:nvPr>
        </p:nvSpPr>
        <p:spPr>
          <a:xfrm>
            <a:off x="704476" y="1893515"/>
            <a:ext cx="13274793" cy="443198"/>
          </a:xfrm>
          <a:prstGeom prst="rect">
            <a:avLst/>
          </a:prstGeom>
        </p:spPr>
        <p:txBody>
          <a:bodyPr wrap="square" lIns="0" tIns="0" rIns="0" bIns="0">
            <a:spAutoFit/>
          </a:bodyPr>
          <a:lstStyle>
            <a:lvl1pPr marL="6350" indent="0">
              <a:spcBef>
                <a:spcPts val="0"/>
              </a:spcBef>
              <a:spcAft>
                <a:spcPts val="600"/>
              </a:spcAft>
              <a:buSzPct val="100000"/>
              <a:buFont typeface="+mj-lt"/>
              <a:buNone/>
              <a:tabLst/>
              <a:defRPr sz="2800" b="0" i="0" baseline="0">
                <a:solidFill>
                  <a:srgbClr val="4C4C4C"/>
                </a:solidFill>
                <a:latin typeface="Merriweather Light"/>
                <a:cs typeface="Merriweather Light"/>
              </a:defRPr>
            </a:lvl1pPr>
            <a:lvl2pPr marL="288925" indent="0">
              <a:spcBef>
                <a:spcPts val="0"/>
              </a:spcBef>
              <a:spcAft>
                <a:spcPts val="600"/>
              </a:spcAft>
              <a:buSzPct val="100000"/>
              <a:buFont typeface="+mj-lt"/>
              <a:buNone/>
              <a:defRPr sz="2400" baseline="0">
                <a:solidFill>
                  <a:schemeClr val="accent5"/>
                </a:solidFill>
              </a:defRPr>
            </a:lvl2pPr>
            <a:lvl3pPr marL="512763" indent="0">
              <a:spcBef>
                <a:spcPts val="0"/>
              </a:spcBef>
              <a:spcAft>
                <a:spcPts val="600"/>
              </a:spcAft>
              <a:buSzPct val="100000"/>
              <a:buFont typeface="+mj-lt"/>
              <a:buNone/>
              <a:defRPr sz="2100" baseline="0">
                <a:solidFill>
                  <a:schemeClr val="accent5"/>
                </a:solidFill>
              </a:defRPr>
            </a:lvl3pPr>
            <a:lvl4pPr marL="741363" indent="0">
              <a:spcBef>
                <a:spcPts val="0"/>
              </a:spcBef>
              <a:spcAft>
                <a:spcPts val="600"/>
              </a:spcAft>
              <a:buSzPct val="100000"/>
              <a:buFont typeface="+mj-lt"/>
              <a:buNone/>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p:txBody>
      </p:sp>
    </p:spTree>
    <p:extLst>
      <p:ext uri="{BB962C8B-B14F-4D97-AF65-F5344CB8AC3E}">
        <p14:creationId xmlns:p14="http://schemas.microsoft.com/office/powerpoint/2010/main" val="19708437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276599" y="2438401"/>
            <a:ext cx="9133131" cy="761747"/>
          </a:xfrm>
        </p:spPr>
        <p:txBody>
          <a:bodyPr/>
          <a:lstStyle>
            <a:lvl1pPr>
              <a:defRPr sz="5400" baseline="0">
                <a:solidFill>
                  <a:schemeClr val="accent5"/>
                </a:solidFill>
              </a:defRPr>
            </a:lvl1pPr>
          </a:lstStyle>
          <a:p>
            <a:r>
              <a:rPr lang="en-US"/>
              <a:t>Click to edit Master title style</a:t>
            </a:r>
            <a:endParaRPr lang="en-US" dirty="0"/>
          </a:p>
        </p:txBody>
      </p:sp>
      <p:sp>
        <p:nvSpPr>
          <p:cNvPr id="13" name="Text Placeholder 12"/>
          <p:cNvSpPr>
            <a:spLocks noGrp="1"/>
          </p:cNvSpPr>
          <p:nvPr>
            <p:ph type="body" sz="quarter" idx="11"/>
          </p:nvPr>
        </p:nvSpPr>
        <p:spPr>
          <a:xfrm>
            <a:off x="3561080" y="3733800"/>
            <a:ext cx="8077200" cy="369332"/>
          </a:xfrm>
          <a:prstGeom prst="rect">
            <a:avLst/>
          </a:prstGeom>
        </p:spPr>
        <p:txBody>
          <a:bodyPr lIns="0" tIns="0" rIns="0" bIns="0">
            <a:spAutoFit/>
          </a:bodyPr>
          <a:lstStyle>
            <a:lvl1pPr marL="0" indent="0">
              <a:buNone/>
              <a:defRPr sz="2400" baseline="0">
                <a:solidFill>
                  <a:schemeClr val="accent5"/>
                </a:solidFill>
                <a:latin typeface="Merriweather Light"/>
                <a:cs typeface="Merriweather Light"/>
              </a:defRPr>
            </a:lvl1pPr>
            <a:lvl2pPr marL="653110" indent="0">
              <a:buNone/>
              <a:defRPr sz="1000"/>
            </a:lvl2pPr>
            <a:lvl3pPr marL="1306221" indent="0">
              <a:buNone/>
              <a:defRPr sz="1000"/>
            </a:lvl3pPr>
            <a:lvl4pPr marL="1959331" indent="0">
              <a:buNone/>
              <a:defRPr sz="1000"/>
            </a:lvl4pPr>
            <a:lvl5pPr marL="2612442" indent="0">
              <a:buNone/>
              <a:defRPr sz="1000"/>
            </a:lvl5pPr>
          </a:lstStyle>
          <a:p>
            <a:pPr lvl="0"/>
            <a:r>
              <a:rPr lang="en-US"/>
              <a:t>Edit Master text styles</a:t>
            </a:r>
          </a:p>
        </p:txBody>
      </p:sp>
    </p:spTree>
    <p:extLst>
      <p:ext uri="{BB962C8B-B14F-4D97-AF65-F5344CB8AC3E}">
        <p14:creationId xmlns:p14="http://schemas.microsoft.com/office/powerpoint/2010/main" val="11166930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357" y="1893515"/>
            <a:ext cx="13274793" cy="1631216"/>
          </a:xfrm>
          <a:prstGeom prst="rect">
            <a:avLst/>
          </a:prstGeom>
        </p:spPr>
        <p:txBody>
          <a:bodyPr wrap="square" lIns="0" tIns="0" rIns="0" bIns="0">
            <a:spAutoFit/>
          </a:bodyPr>
          <a:lstStyle>
            <a:lvl1pPr marL="520701" indent="-514350">
              <a:spcBef>
                <a:spcPts val="0"/>
              </a:spcBef>
              <a:spcAft>
                <a:spcPts val="600"/>
              </a:spcAft>
              <a:buSzPct val="100000"/>
              <a:buFont typeface="+mj-lt"/>
              <a:buAutoNum type="arabicPeriod"/>
              <a:tabLst/>
              <a:defRPr sz="2800" baseline="0">
                <a:solidFill>
                  <a:schemeClr val="accent5"/>
                </a:solidFill>
                <a:latin typeface="Merriweather Light"/>
                <a:cs typeface="Merriweather Light"/>
              </a:defRPr>
            </a:lvl1pPr>
            <a:lvl2pPr marL="746125" indent="-457200">
              <a:spcBef>
                <a:spcPts val="0"/>
              </a:spcBef>
              <a:spcAft>
                <a:spcPts val="600"/>
              </a:spcAft>
              <a:buSzPct val="100000"/>
              <a:buFont typeface="+mj-lt"/>
              <a:buAutoNum type="romanUcPeriod"/>
              <a:defRPr sz="2400" baseline="0">
                <a:solidFill>
                  <a:schemeClr val="accent5"/>
                </a:solidFill>
                <a:latin typeface="Merriweather Light"/>
                <a:cs typeface="Merriweather Light"/>
              </a:defRPr>
            </a:lvl2pPr>
            <a:lvl3pPr marL="969963" indent="-457200">
              <a:spcBef>
                <a:spcPts val="0"/>
              </a:spcBef>
              <a:spcAft>
                <a:spcPts val="600"/>
              </a:spcAft>
              <a:buSzPct val="100000"/>
              <a:buFont typeface="+mj-lt"/>
              <a:buAutoNum type="arabicPeriod"/>
              <a:defRPr sz="2100" baseline="0">
                <a:solidFill>
                  <a:schemeClr val="accent5"/>
                </a:solidFill>
                <a:latin typeface="Merriweather Light"/>
                <a:cs typeface="Merriweather Light"/>
              </a:defRPr>
            </a:lvl3pPr>
            <a:lvl4pPr marL="1084262" indent="-342901">
              <a:spcBef>
                <a:spcPts val="0"/>
              </a:spcBef>
              <a:spcAft>
                <a:spcPts val="600"/>
              </a:spcAft>
              <a:buSzPct val="100000"/>
              <a:buFont typeface="+mj-lt"/>
              <a:buAutoNum type="arabicPeriod"/>
              <a:defRPr sz="1800" baseline="0">
                <a:solidFill>
                  <a:schemeClr val="accent5"/>
                </a:solidFill>
              </a:defRPr>
            </a:lvl4pPr>
            <a:lvl5pPr marL="2063749" indent="0">
              <a:buSzPct val="100000"/>
              <a:buFont typeface="+mj-lt"/>
              <a:buNone/>
              <a:defRPr sz="1600">
                <a:solidFill>
                  <a:srgbClr val="4C4C4C"/>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16548704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ed Copy">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476" y="1893515"/>
            <a:ext cx="1327382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rgbClr val="4C4C4C"/>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10067439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ulleted Copy - 2 Column">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5331" y="1893749"/>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5"/>
          </p:nvPr>
        </p:nvSpPr>
        <p:spPr>
          <a:xfrm>
            <a:off x="7311907" y="1893515"/>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0584804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amp; Copy">
    <p:spTree>
      <p:nvGrpSpPr>
        <p:cNvPr id="1" name=""/>
        <p:cNvGrpSpPr/>
        <p:nvPr/>
      </p:nvGrpSpPr>
      <p:grpSpPr>
        <a:xfrm>
          <a:off x="0" y="0"/>
          <a:ext cx="0" cy="0"/>
          <a:chOff x="0" y="0"/>
          <a:chExt cx="0" cy="0"/>
        </a:xfrm>
      </p:grpSpPr>
      <p:sp>
        <p:nvSpPr>
          <p:cNvPr id="6" name="Content Placeholder 2"/>
          <p:cNvSpPr>
            <a:spLocks noGrp="1"/>
          </p:cNvSpPr>
          <p:nvPr>
            <p:ph idx="13"/>
          </p:nvPr>
        </p:nvSpPr>
        <p:spPr>
          <a:xfrm>
            <a:off x="7329803" y="1887752"/>
            <a:ext cx="6649347" cy="443198"/>
          </a:xfrm>
          <a:prstGeom prst="rect">
            <a:avLst/>
          </a:prstGeom>
        </p:spPr>
        <p:txBody>
          <a:bodyPr wrap="square" lIns="0" tIns="0" rIns="0" bIns="0">
            <a:spAutoFit/>
          </a:bodyPr>
          <a:lstStyle>
            <a:lvl1pPr marL="0" indent="0">
              <a:buSzPct val="100000"/>
              <a:buFont typeface="Arial"/>
              <a:buNone/>
              <a:defRPr sz="2800">
                <a:solidFill>
                  <a:schemeClr val="accent5"/>
                </a:solidFill>
                <a:latin typeface="Merriweather Light"/>
                <a:cs typeface="Merriweather Light"/>
              </a:defRPr>
            </a:lvl1pPr>
            <a:lvl2pPr marL="339725" indent="0">
              <a:buSzPct val="100000"/>
              <a:buFont typeface="Arial"/>
              <a:buNone/>
              <a:defRPr sz="2400">
                <a:solidFill>
                  <a:schemeClr val="accent5"/>
                </a:solidFill>
              </a:defRPr>
            </a:lvl2pPr>
            <a:lvl3pPr marL="692150" indent="0">
              <a:buSzPct val="100000"/>
              <a:buFont typeface="Arial"/>
              <a:buNone/>
              <a:defRPr sz="2100">
                <a:solidFill>
                  <a:schemeClr val="accent5"/>
                </a:solidFill>
              </a:defRPr>
            </a:lvl3pPr>
            <a:lvl4pPr marL="1384301" indent="0">
              <a:buSzPct val="100000"/>
              <a:buFont typeface="Arial"/>
              <a:buNone/>
              <a:defRPr sz="180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p:txBody>
      </p:sp>
      <p:sp>
        <p:nvSpPr>
          <p:cNvPr id="4" name="Picture Placeholder 4"/>
          <p:cNvSpPr>
            <a:spLocks noGrp="1"/>
          </p:cNvSpPr>
          <p:nvPr>
            <p:ph type="pic" sz="quarter" idx="10"/>
          </p:nvPr>
        </p:nvSpPr>
        <p:spPr>
          <a:xfrm>
            <a:off x="704476" y="1869074"/>
            <a:ext cx="6019800" cy="5407933"/>
          </a:xfrm>
          <a:prstGeom prst="rect">
            <a:avLst/>
          </a:prstGeom>
          <a:ln w="6350" cmpd="sng">
            <a:solidFill>
              <a:srgbClr val="666666"/>
            </a:solidFill>
          </a:ln>
        </p:spPr>
        <p:txBody>
          <a:bodyPr lIns="91440" tIns="45720" rIns="91440" bIns="45720"/>
          <a:lstStyle>
            <a:lvl1pPr marL="0" indent="0">
              <a:buFontTx/>
              <a:buNone/>
              <a:defRPr sz="2800">
                <a:solidFill>
                  <a:srgbClr val="4C4C4C"/>
                </a:solidFill>
                <a:latin typeface="Merriweather Light"/>
                <a:cs typeface="Merriweather Light"/>
              </a:defRPr>
            </a:lvl1pPr>
          </a:lstStyle>
          <a:p>
            <a:pPr lvl="0"/>
            <a:r>
              <a:rPr lang="en-US" noProof="0"/>
              <a:t>Click icon to add picture</a:t>
            </a:r>
            <a:endParaRPr lang="en-US" noProof="0" dirty="0"/>
          </a:p>
        </p:txBody>
      </p:sp>
      <p:sp>
        <p:nvSpPr>
          <p:cNvPr id="7"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42429885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704476" y="1893515"/>
            <a:ext cx="13273731" cy="5358966"/>
          </a:xfrm>
          <a:prstGeom prst="rect">
            <a:avLst/>
          </a:prstGeom>
        </p:spPr>
        <p:txBody>
          <a:bodyPr lIns="0" tIns="0" rIns="0" bIns="0"/>
          <a:lstStyle>
            <a:lvl1pPr marL="0" indent="0">
              <a:buSzPct val="120000"/>
              <a:buFontTx/>
              <a:buNone/>
              <a:defRPr sz="2800">
                <a:solidFill>
                  <a:schemeClr val="accent5"/>
                </a:solidFill>
                <a:latin typeface="Merriweather Light"/>
                <a:cs typeface="Merriweather Light"/>
              </a:defRPr>
            </a:lvl1pPr>
          </a:lstStyle>
          <a:p>
            <a:pPr lvl="0"/>
            <a:r>
              <a:rPr lang="en-US" noProof="0"/>
              <a:t>Click icon to add table</a:t>
            </a:r>
            <a:endParaRPr lang="en-US" noProof="0" dirty="0"/>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21975449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ullPageImage_NoColorBar">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0" y="0"/>
            <a:ext cx="14630400" cy="8229600"/>
          </a:xfrm>
          <a:prstGeom prst="rect">
            <a:avLst/>
          </a:prstGeom>
          <a:solidFill>
            <a:schemeClr val="bg1"/>
          </a:solidFill>
          <a:ln w="6350" cmpd="sng">
            <a:solidFill>
              <a:srgbClr val="666666"/>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23878641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Page Image w Color Ba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4630400" cy="8229602"/>
          </a:xfrm>
          <a:prstGeom prst="rect">
            <a:avLst/>
          </a:prstGeom>
          <a:ln w="6350" cmpd="sng">
            <a:solidFill>
              <a:schemeClr val="tx1"/>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2304226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720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2" name="Rectangle 1"/>
          <p:cNvSpPr/>
          <p:nvPr/>
        </p:nvSpPr>
        <p:spPr>
          <a:xfrm>
            <a:off x="0" y="0"/>
            <a:ext cx="14630400" cy="838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3" name="Picture 6" descr="tableau_rgb.eps"/>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46400" y="3206750"/>
            <a:ext cx="8737600" cy="181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658480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2.emf"/><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1.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5" name="Picture 4" descr="Bottom_Viz_August-02.png"/>
          <p:cNvPicPr>
            <a:picLocks noChangeAspect="1"/>
          </p:cNvPicPr>
          <p:nvPr/>
        </p:nvPicPr>
        <p:blipFill rotWithShape="1">
          <a:blip r:embed="rId19" cstate="email">
            <a:extLst>
              <a:ext uri="{28A0092B-C50C-407E-A947-70E740481C1C}">
                <a14:useLocalDpi xmlns:a14="http://schemas.microsoft.com/office/drawing/2010/main" val="0"/>
              </a:ext>
            </a:extLst>
          </a:blip>
          <a:srcRect b="18483"/>
          <a:stretch/>
        </p:blipFill>
        <p:spPr>
          <a:xfrm flipH="1">
            <a:off x="0" y="6932613"/>
            <a:ext cx="14630400" cy="1296987"/>
          </a:xfrm>
          <a:prstGeom prst="rect">
            <a:avLst/>
          </a:prstGeom>
        </p:spPr>
      </p:pic>
      <p:pic>
        <p:nvPicPr>
          <p:cNvPr id="1027" name="Picture 7" descr="tableau_white.eps"/>
          <p:cNvPicPr>
            <a:picLocks noChangeAspect="1"/>
          </p:cNvPicPr>
          <p:nvPr/>
        </p:nvPicPr>
        <p:blipFill>
          <a:blip r:embed="rId20" cstate="email">
            <a:extLst>
              <a:ext uri="{28A0092B-C50C-407E-A947-70E740481C1C}">
                <a14:useLocalDpi xmlns:a14="http://schemas.microsoft.com/office/drawing/2010/main" val="0"/>
              </a:ext>
            </a:extLst>
          </a:blip>
          <a:srcRect/>
          <a:stretch>
            <a:fillRect/>
          </a:stretch>
        </p:blipFill>
        <p:spPr bwMode="auto">
          <a:xfrm>
            <a:off x="12669838" y="7724775"/>
            <a:ext cx="1727200" cy="360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8" name="Title Placeholder 1"/>
          <p:cNvSpPr>
            <a:spLocks noGrp="1"/>
          </p:cNvSpPr>
          <p:nvPr>
            <p:ph type="title"/>
          </p:nvPr>
        </p:nvSpPr>
        <p:spPr bwMode="auto">
          <a:xfrm>
            <a:off x="712788" y="601314"/>
            <a:ext cx="13244512" cy="5770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spAutoFit/>
          </a:bodyPr>
          <a:lstStyle/>
          <a:p>
            <a:pPr lvl="0"/>
            <a:r>
              <a:rPr lang="en-US"/>
              <a:t>Master Title Style</a:t>
            </a:r>
          </a:p>
        </p:txBody>
      </p:sp>
    </p:spTree>
  </p:cSld>
  <p:clrMap bg1="lt1" tx1="dk1" bg2="lt2" tx2="dk2" accent1="accent1" accent2="accent2" accent3="accent3" accent4="accent4" accent5="accent5" accent6="accent6" hlink="hlink" folHlink="folHlink"/>
  <p:sldLayoutIdLst>
    <p:sldLayoutId id="2147484147" r:id="rId1"/>
    <p:sldLayoutId id="2147484135" r:id="rId2"/>
    <p:sldLayoutId id="2147484148" r:id="rId3"/>
    <p:sldLayoutId id="2147484150" r:id="rId4"/>
    <p:sldLayoutId id="2147484152" r:id="rId5"/>
    <p:sldLayoutId id="2147484136" r:id="rId6"/>
    <p:sldLayoutId id="2147484137" r:id="rId7"/>
    <p:sldLayoutId id="2147484138" r:id="rId8"/>
    <p:sldLayoutId id="2147484139" r:id="rId9"/>
    <p:sldLayoutId id="2147484140" r:id="rId10"/>
    <p:sldLayoutId id="2147484141" r:id="rId11"/>
    <p:sldLayoutId id="2147484142" r:id="rId12"/>
    <p:sldLayoutId id="2147484143" r:id="rId13"/>
    <p:sldLayoutId id="2147484144" r:id="rId14"/>
    <p:sldLayoutId id="2147484145" r:id="rId15"/>
    <p:sldLayoutId id="2147484146" r:id="rId16"/>
    <p:sldLayoutId id="2147484149" r:id="rId17"/>
  </p:sldLayoutIdLst>
  <p:txStyles>
    <p:title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p:titleStyle>
    <p:body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p:bodyStyle>
    <p:otherStyle>
      <a:defPPr>
        <a:defRPr lang="en-US"/>
      </a:defPPr>
      <a:lvl1pPr marL="0" algn="l" defTabSz="1306221" rtl="0" eaLnBrk="1" latinLnBrk="0" hangingPunct="1">
        <a:defRPr sz="2600" kern="1200">
          <a:solidFill>
            <a:schemeClr val="tx1"/>
          </a:solidFill>
          <a:latin typeface="+mn-lt"/>
          <a:ea typeface="+mn-ea"/>
          <a:cs typeface="+mn-cs"/>
        </a:defRPr>
      </a:lvl1pPr>
      <a:lvl2pPr marL="653110" algn="l" defTabSz="1306221" rtl="0" eaLnBrk="1" latinLnBrk="0" hangingPunct="1">
        <a:defRPr sz="2600" kern="1200">
          <a:solidFill>
            <a:schemeClr val="tx1"/>
          </a:solidFill>
          <a:latin typeface="+mn-lt"/>
          <a:ea typeface="+mn-ea"/>
          <a:cs typeface="+mn-cs"/>
        </a:defRPr>
      </a:lvl2pPr>
      <a:lvl3pPr marL="1306221" algn="l" defTabSz="1306221" rtl="0" eaLnBrk="1" latinLnBrk="0" hangingPunct="1">
        <a:defRPr sz="2600" kern="1200">
          <a:solidFill>
            <a:schemeClr val="tx1"/>
          </a:solidFill>
          <a:latin typeface="+mn-lt"/>
          <a:ea typeface="+mn-ea"/>
          <a:cs typeface="+mn-cs"/>
        </a:defRPr>
      </a:lvl3pPr>
      <a:lvl4pPr marL="1959331" algn="l" defTabSz="1306221" rtl="0" eaLnBrk="1" latinLnBrk="0" hangingPunct="1">
        <a:defRPr sz="2600" kern="1200">
          <a:solidFill>
            <a:schemeClr val="tx1"/>
          </a:solidFill>
          <a:latin typeface="+mn-lt"/>
          <a:ea typeface="+mn-ea"/>
          <a:cs typeface="+mn-cs"/>
        </a:defRPr>
      </a:lvl4pPr>
      <a:lvl5pPr marL="2612442" algn="l" defTabSz="1306221" rtl="0" eaLnBrk="1" latinLnBrk="0" hangingPunct="1">
        <a:defRPr sz="2600" kern="1200">
          <a:solidFill>
            <a:schemeClr val="tx1"/>
          </a:solidFill>
          <a:latin typeface="+mn-lt"/>
          <a:ea typeface="+mn-ea"/>
          <a:cs typeface="+mn-cs"/>
        </a:defRPr>
      </a:lvl5pPr>
      <a:lvl6pPr marL="3265550" algn="l" defTabSz="1306221" rtl="0" eaLnBrk="1" latinLnBrk="0" hangingPunct="1">
        <a:defRPr sz="2600" kern="1200">
          <a:solidFill>
            <a:schemeClr val="tx1"/>
          </a:solidFill>
          <a:latin typeface="+mn-lt"/>
          <a:ea typeface="+mn-ea"/>
          <a:cs typeface="+mn-cs"/>
        </a:defRPr>
      </a:lvl6pPr>
      <a:lvl7pPr marL="3918661" algn="l" defTabSz="1306221" rtl="0" eaLnBrk="1" latinLnBrk="0" hangingPunct="1">
        <a:defRPr sz="2600" kern="1200">
          <a:solidFill>
            <a:schemeClr val="tx1"/>
          </a:solidFill>
          <a:latin typeface="+mn-lt"/>
          <a:ea typeface="+mn-ea"/>
          <a:cs typeface="+mn-cs"/>
        </a:defRPr>
      </a:lvl7pPr>
      <a:lvl8pPr marL="4571771" algn="l" defTabSz="1306221" rtl="0" eaLnBrk="1" latinLnBrk="0" hangingPunct="1">
        <a:defRPr sz="2600" kern="1200">
          <a:solidFill>
            <a:schemeClr val="tx1"/>
          </a:solidFill>
          <a:latin typeface="+mn-lt"/>
          <a:ea typeface="+mn-ea"/>
          <a:cs typeface="+mn-cs"/>
        </a:defRPr>
      </a:lvl8pPr>
      <a:lvl9pPr marL="5224882" algn="l" defTabSz="1306221" rtl="0" eaLnBrk="1" latinLnBrk="0" hangingPunct="1">
        <a:defRPr sz="2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5" name="Picture 4" descr="Bottom_Viz_August-02.png"/>
          <p:cNvPicPr>
            <a:picLocks noChangeAspect="1"/>
          </p:cNvPicPr>
          <p:nvPr/>
        </p:nvPicPr>
        <p:blipFill rotWithShape="1">
          <a:blip r:embed="rId19" cstate="email">
            <a:extLst>
              <a:ext uri="{28A0092B-C50C-407E-A947-70E740481C1C}">
                <a14:useLocalDpi xmlns:a14="http://schemas.microsoft.com/office/drawing/2010/main" val="0"/>
              </a:ext>
            </a:extLst>
          </a:blip>
          <a:srcRect b="18483"/>
          <a:stretch/>
        </p:blipFill>
        <p:spPr>
          <a:xfrm flipH="1">
            <a:off x="0" y="6932613"/>
            <a:ext cx="14630400" cy="1296987"/>
          </a:xfrm>
          <a:prstGeom prst="rect">
            <a:avLst/>
          </a:prstGeom>
        </p:spPr>
      </p:pic>
      <p:pic>
        <p:nvPicPr>
          <p:cNvPr id="1027" name="Picture 7" descr="tableau_white.eps"/>
          <p:cNvPicPr>
            <a:picLocks noChangeAspect="1"/>
          </p:cNvPicPr>
          <p:nvPr/>
        </p:nvPicPr>
        <p:blipFill>
          <a:blip r:embed="rId20" cstate="email">
            <a:extLst>
              <a:ext uri="{28A0092B-C50C-407E-A947-70E740481C1C}">
                <a14:useLocalDpi xmlns:a14="http://schemas.microsoft.com/office/drawing/2010/main" val="0"/>
              </a:ext>
            </a:extLst>
          </a:blip>
          <a:srcRect/>
          <a:stretch>
            <a:fillRect/>
          </a:stretch>
        </p:blipFill>
        <p:spPr bwMode="auto">
          <a:xfrm>
            <a:off x="12669838" y="7724775"/>
            <a:ext cx="1727200" cy="360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8" name="Title Placeholder 1"/>
          <p:cNvSpPr>
            <a:spLocks noGrp="1"/>
          </p:cNvSpPr>
          <p:nvPr>
            <p:ph type="title"/>
          </p:nvPr>
        </p:nvSpPr>
        <p:spPr bwMode="auto">
          <a:xfrm>
            <a:off x="712788" y="601314"/>
            <a:ext cx="13244512" cy="5770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spAutoFit/>
          </a:bodyPr>
          <a:lstStyle/>
          <a:p>
            <a:pPr lvl="0"/>
            <a:r>
              <a:rPr lang="en-US"/>
              <a:t>Master Title Style</a:t>
            </a:r>
          </a:p>
        </p:txBody>
      </p:sp>
    </p:spTree>
    <p:extLst>
      <p:ext uri="{BB962C8B-B14F-4D97-AF65-F5344CB8AC3E}">
        <p14:creationId xmlns:p14="http://schemas.microsoft.com/office/powerpoint/2010/main" val="2689384440"/>
      </p:ext>
    </p:extLst>
  </p:cSld>
  <p:clrMap bg1="lt1" tx1="dk1" bg2="lt2" tx2="dk2" accent1="accent1" accent2="accent2" accent3="accent3" accent4="accent4" accent5="accent5" accent6="accent6" hlink="hlink" folHlink="folHlink"/>
  <p:sldLayoutIdLst>
    <p:sldLayoutId id="2147484154" r:id="rId1"/>
    <p:sldLayoutId id="2147484155" r:id="rId2"/>
    <p:sldLayoutId id="2147484156" r:id="rId3"/>
    <p:sldLayoutId id="2147484157" r:id="rId4"/>
    <p:sldLayoutId id="2147484158" r:id="rId5"/>
    <p:sldLayoutId id="2147484159" r:id="rId6"/>
    <p:sldLayoutId id="2147484160" r:id="rId7"/>
    <p:sldLayoutId id="2147484161" r:id="rId8"/>
    <p:sldLayoutId id="2147484162" r:id="rId9"/>
    <p:sldLayoutId id="2147484163" r:id="rId10"/>
    <p:sldLayoutId id="2147484164" r:id="rId11"/>
    <p:sldLayoutId id="2147484165" r:id="rId12"/>
    <p:sldLayoutId id="2147484166" r:id="rId13"/>
    <p:sldLayoutId id="2147484167" r:id="rId14"/>
    <p:sldLayoutId id="2147484168" r:id="rId15"/>
    <p:sldLayoutId id="2147484169" r:id="rId16"/>
    <p:sldLayoutId id="2147484170" r:id="rId17"/>
  </p:sldLayoutIdLst>
  <p:txStyles>
    <p:title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p:titleStyle>
    <p:body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p:bodyStyle>
    <p:otherStyle>
      <a:defPPr>
        <a:defRPr lang="en-US"/>
      </a:defPPr>
      <a:lvl1pPr marL="0" algn="l" defTabSz="1306221" rtl="0" eaLnBrk="1" latinLnBrk="0" hangingPunct="1">
        <a:defRPr sz="2600" kern="1200">
          <a:solidFill>
            <a:schemeClr val="tx1"/>
          </a:solidFill>
          <a:latin typeface="+mn-lt"/>
          <a:ea typeface="+mn-ea"/>
          <a:cs typeface="+mn-cs"/>
        </a:defRPr>
      </a:lvl1pPr>
      <a:lvl2pPr marL="653110" algn="l" defTabSz="1306221" rtl="0" eaLnBrk="1" latinLnBrk="0" hangingPunct="1">
        <a:defRPr sz="2600" kern="1200">
          <a:solidFill>
            <a:schemeClr val="tx1"/>
          </a:solidFill>
          <a:latin typeface="+mn-lt"/>
          <a:ea typeface="+mn-ea"/>
          <a:cs typeface="+mn-cs"/>
        </a:defRPr>
      </a:lvl2pPr>
      <a:lvl3pPr marL="1306221" algn="l" defTabSz="1306221" rtl="0" eaLnBrk="1" latinLnBrk="0" hangingPunct="1">
        <a:defRPr sz="2600" kern="1200">
          <a:solidFill>
            <a:schemeClr val="tx1"/>
          </a:solidFill>
          <a:latin typeface="+mn-lt"/>
          <a:ea typeface="+mn-ea"/>
          <a:cs typeface="+mn-cs"/>
        </a:defRPr>
      </a:lvl3pPr>
      <a:lvl4pPr marL="1959331" algn="l" defTabSz="1306221" rtl="0" eaLnBrk="1" latinLnBrk="0" hangingPunct="1">
        <a:defRPr sz="2600" kern="1200">
          <a:solidFill>
            <a:schemeClr val="tx1"/>
          </a:solidFill>
          <a:latin typeface="+mn-lt"/>
          <a:ea typeface="+mn-ea"/>
          <a:cs typeface="+mn-cs"/>
        </a:defRPr>
      </a:lvl4pPr>
      <a:lvl5pPr marL="2612442" algn="l" defTabSz="1306221" rtl="0" eaLnBrk="1" latinLnBrk="0" hangingPunct="1">
        <a:defRPr sz="2600" kern="1200">
          <a:solidFill>
            <a:schemeClr val="tx1"/>
          </a:solidFill>
          <a:latin typeface="+mn-lt"/>
          <a:ea typeface="+mn-ea"/>
          <a:cs typeface="+mn-cs"/>
        </a:defRPr>
      </a:lvl5pPr>
      <a:lvl6pPr marL="3265550" algn="l" defTabSz="1306221" rtl="0" eaLnBrk="1" latinLnBrk="0" hangingPunct="1">
        <a:defRPr sz="2600" kern="1200">
          <a:solidFill>
            <a:schemeClr val="tx1"/>
          </a:solidFill>
          <a:latin typeface="+mn-lt"/>
          <a:ea typeface="+mn-ea"/>
          <a:cs typeface="+mn-cs"/>
        </a:defRPr>
      </a:lvl6pPr>
      <a:lvl7pPr marL="3918661" algn="l" defTabSz="1306221" rtl="0" eaLnBrk="1" latinLnBrk="0" hangingPunct="1">
        <a:defRPr sz="2600" kern="1200">
          <a:solidFill>
            <a:schemeClr val="tx1"/>
          </a:solidFill>
          <a:latin typeface="+mn-lt"/>
          <a:ea typeface="+mn-ea"/>
          <a:cs typeface="+mn-cs"/>
        </a:defRPr>
      </a:lvl7pPr>
      <a:lvl8pPr marL="4571771" algn="l" defTabSz="1306221" rtl="0" eaLnBrk="1" latinLnBrk="0" hangingPunct="1">
        <a:defRPr sz="2600" kern="1200">
          <a:solidFill>
            <a:schemeClr val="tx1"/>
          </a:solidFill>
          <a:latin typeface="+mn-lt"/>
          <a:ea typeface="+mn-ea"/>
          <a:cs typeface="+mn-cs"/>
        </a:defRPr>
      </a:lvl8pPr>
      <a:lvl9pPr marL="5224882" algn="l" defTabSz="1306221"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9.xml"/><Relationship Id="rId1" Type="http://schemas.openxmlformats.org/officeDocument/2006/relationships/tags" Target="../tags/tag5.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7.xml"/><Relationship Id="rId1" Type="http://schemas.openxmlformats.org/officeDocument/2006/relationships/tags" Target="../tags/tag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10.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1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1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tags" Target="../tags/tag1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9.xml"/><Relationship Id="rId1" Type="http://schemas.openxmlformats.org/officeDocument/2006/relationships/tags" Target="../tags/tag14.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tags" Target="../tags/tag15.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tags" Target="../tags/tag16.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17.xml"/><Relationship Id="rId6" Type="http://schemas.openxmlformats.org/officeDocument/2006/relationships/image" Target="../media/image16.png"/><Relationship Id="rId5" Type="http://schemas.openxmlformats.org/officeDocument/2006/relationships/notesSlide" Target="../notesSlides/notesSlide17.xml"/><Relationship Id="rId4"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19.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20.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video" Target="../media/media2.mp4"/><Relationship Id="rId2" Type="http://schemas.microsoft.com/office/2007/relationships/media" Target="../media/media2.mp4"/><Relationship Id="rId1" Type="http://schemas.openxmlformats.org/officeDocument/2006/relationships/tags" Target="../tags/tag21.xml"/><Relationship Id="rId6" Type="http://schemas.openxmlformats.org/officeDocument/2006/relationships/image" Target="../media/image20.png"/><Relationship Id="rId5" Type="http://schemas.openxmlformats.org/officeDocument/2006/relationships/notesSlide" Target="../notesSlides/notesSlide21.xml"/><Relationship Id="rId4"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7.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705985" y="1891756"/>
            <a:ext cx="13245156" cy="3082062"/>
          </a:xfrm>
          <a:prstGeom prst="rect">
            <a:avLst/>
          </a:prstGeom>
        </p:spPr>
        <p:txBody>
          <a:bodyPr/>
          <a:lstStyle/>
          <a:p>
            <a:pPr defTabSz="1306221" fontAlgn="auto">
              <a:spcAft>
                <a:spcPts val="0"/>
              </a:spcAft>
              <a:buFont typeface="Arial" panose="020B0604020202020204" pitchFamily="34" charset="0"/>
              <a:buNone/>
              <a:defRPr/>
            </a:pPr>
            <a:r>
              <a:rPr lang="en-US" dirty="0">
                <a:ea typeface="+mn-ea"/>
              </a:rPr>
              <a:t>Preparing Data in Tableau</a:t>
            </a:r>
          </a:p>
          <a:p>
            <a:pPr defTabSz="1306221" fontAlgn="auto">
              <a:lnSpc>
                <a:spcPct val="110000"/>
              </a:lnSpc>
              <a:spcBef>
                <a:spcPts val="1776"/>
              </a:spcBef>
              <a:spcAft>
                <a:spcPts val="0"/>
              </a:spcAft>
              <a:buFont typeface="Arial" panose="020B0604020202020204" pitchFamily="34" charset="0"/>
              <a:buNone/>
              <a:defRPr/>
            </a:pPr>
            <a:endParaRPr lang="en-US" sz="2400" dirty="0">
              <a:latin typeface="Merriweather Light"/>
              <a:ea typeface="+mn-ea"/>
              <a:cs typeface="Merriweather Light"/>
            </a:endParaRPr>
          </a:p>
          <a:p>
            <a:pPr defTabSz="1306221" fontAlgn="auto">
              <a:lnSpc>
                <a:spcPct val="110000"/>
              </a:lnSpc>
              <a:spcBef>
                <a:spcPts val="1776"/>
              </a:spcBef>
              <a:spcAft>
                <a:spcPts val="0"/>
              </a:spcAft>
              <a:buFont typeface="Arial" panose="020B0604020202020204" pitchFamily="34" charset="0"/>
              <a:buNone/>
              <a:defRPr/>
            </a:pPr>
            <a:r>
              <a:rPr lang="en-US" sz="2400" dirty="0">
                <a:latin typeface="Merriweather Light"/>
                <a:ea typeface="+mn-ea"/>
                <a:cs typeface="Merriweather Light"/>
              </a:rPr>
              <a:t>CSC105</a:t>
            </a:r>
          </a:p>
          <a:p>
            <a:pPr defTabSz="1306221" fontAlgn="auto">
              <a:lnSpc>
                <a:spcPct val="110000"/>
              </a:lnSpc>
              <a:spcBef>
                <a:spcPts val="1776"/>
              </a:spcBef>
              <a:spcAft>
                <a:spcPts val="0"/>
              </a:spcAft>
              <a:buFont typeface="Arial" panose="020B0604020202020204" pitchFamily="34" charset="0"/>
              <a:buNone/>
              <a:defRPr/>
            </a:pPr>
            <a:endParaRPr lang="en-US" sz="2400" dirty="0">
              <a:latin typeface="Merriweather Light"/>
              <a:ea typeface="+mn-ea"/>
              <a:cs typeface="Merriweather Light"/>
            </a:endParaRPr>
          </a:p>
          <a:p>
            <a:pPr defTabSz="1306221" fontAlgn="auto">
              <a:lnSpc>
                <a:spcPct val="110000"/>
              </a:lnSpc>
              <a:spcBef>
                <a:spcPts val="1776"/>
              </a:spcBef>
              <a:spcAft>
                <a:spcPts val="0"/>
              </a:spcAft>
              <a:buFont typeface="Arial" panose="020B0604020202020204" pitchFamily="34" charset="0"/>
              <a:buNone/>
              <a:defRPr/>
            </a:pPr>
            <a:r>
              <a:rPr lang="en-US" sz="2400" dirty="0">
                <a:latin typeface="Merriweather Light"/>
                <a:ea typeface="+mn-ea"/>
                <a:cs typeface="Merriweather Light"/>
              </a:rPr>
              <a:t>Prof. Earl</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solidFill>
                  <a:srgbClr val="4C4C4C"/>
                </a:solidFill>
                <a:latin typeface="BentonSans Book" charset="0"/>
              </a:rPr>
              <a:t>Poorly Formatted Data</a:t>
            </a:r>
            <a:endParaRPr lang="en-US" dirty="0"/>
          </a:p>
        </p:txBody>
      </p:sp>
    </p:spTree>
    <p:custDataLst>
      <p:tags r:id="rId1"/>
    </p:custDataLst>
    <p:extLst>
      <p:ext uri="{BB962C8B-B14F-4D97-AF65-F5344CB8AC3E}">
        <p14:creationId xmlns:p14="http://schemas.microsoft.com/office/powerpoint/2010/main" val="2385230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430887"/>
          </a:xfrm>
        </p:spPr>
        <p:txBody>
          <a:bodyPr/>
          <a:lstStyle/>
          <a:p>
            <a:r>
              <a:rPr lang="en-US" dirty="0"/>
              <a:t>Use “Data Prep – Flights” Excel file </a:t>
            </a:r>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pPr defTabSz="1306221" fontAlgn="auto">
              <a:spcAft>
                <a:spcPts val="0"/>
              </a:spcAft>
              <a:defRPr/>
            </a:pPr>
            <a:r>
              <a:rPr lang="en-US" dirty="0">
                <a:ea typeface="+mn-ea"/>
              </a:rPr>
              <a:t>Poorly Formatted Data</a:t>
            </a:r>
          </a:p>
        </p:txBody>
      </p:sp>
      <p:pic>
        <p:nvPicPr>
          <p:cNvPr id="5" name="Picture 4" descr="A screenshot of a computer&#10;&#10;Description automatically generated">
            <a:extLst>
              <a:ext uri="{FF2B5EF4-FFF2-40B4-BE49-F238E27FC236}">
                <a16:creationId xmlns:a16="http://schemas.microsoft.com/office/drawing/2014/main" id="{91D3BEC7-4B46-4D8E-B6C4-E2A53F000DC9}"/>
              </a:ext>
            </a:extLst>
          </p:cNvPr>
          <p:cNvPicPr>
            <a:picLocks noChangeAspect="1"/>
          </p:cNvPicPr>
          <p:nvPr/>
        </p:nvPicPr>
        <p:blipFill rotWithShape="1">
          <a:blip r:embed="rId4">
            <a:extLst>
              <a:ext uri="{28A0092B-C50C-407E-A947-70E740481C1C}">
                <a14:useLocalDpi xmlns:a14="http://schemas.microsoft.com/office/drawing/2010/main" val="0"/>
              </a:ext>
            </a:extLst>
          </a:blip>
          <a:srcRect r="22944"/>
          <a:stretch/>
        </p:blipFill>
        <p:spPr>
          <a:xfrm>
            <a:off x="952080" y="2761467"/>
            <a:ext cx="12726239" cy="2971676"/>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371811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3"/>
          </p:nvPr>
        </p:nvSpPr>
        <p:spPr>
          <a:xfrm>
            <a:off x="958033" y="1510381"/>
            <a:ext cx="12351567" cy="947952"/>
          </a:xfrm>
        </p:spPr>
        <p:txBody>
          <a:bodyPr/>
          <a:lstStyle/>
          <a:p>
            <a:pPr marL="457200" indent="-457200" defTabSz="1306221" fontAlgn="auto">
              <a:spcAft>
                <a:spcPts val="0"/>
              </a:spcAft>
              <a:buFont typeface="Arial" panose="020B0604020202020204" pitchFamily="34" charset="0"/>
              <a:buChar char="•"/>
              <a:defRPr/>
            </a:pPr>
            <a:r>
              <a:rPr lang="en-US" dirty="0"/>
              <a:t>Click on the “Ideal” tab</a:t>
            </a:r>
          </a:p>
          <a:p>
            <a:pPr marL="457200" indent="-457200" defTabSz="1306221" fontAlgn="auto">
              <a:spcAft>
                <a:spcPts val="0"/>
              </a:spcAft>
              <a:buFont typeface="Arial" panose="020B0604020202020204" pitchFamily="34" charset="0"/>
              <a:buChar char="•"/>
              <a:defRPr/>
            </a:pPr>
            <a:r>
              <a:rPr lang="en-US" dirty="0"/>
              <a:t>Example of proper format</a:t>
            </a:r>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pPr defTabSz="1306221" fontAlgn="auto">
              <a:spcAft>
                <a:spcPts val="0"/>
              </a:spcAft>
              <a:defRPr/>
            </a:pPr>
            <a:r>
              <a:rPr lang="en-US" dirty="0">
                <a:ea typeface="+mn-ea"/>
              </a:rPr>
              <a:t>Poorly Formatted Data</a:t>
            </a:r>
          </a:p>
        </p:txBody>
      </p:sp>
      <p:pic>
        <p:nvPicPr>
          <p:cNvPr id="8" name="Picture 7" descr="A screenshot of a cell phone&#10;&#10;Description automatically generated">
            <a:extLst>
              <a:ext uri="{FF2B5EF4-FFF2-40B4-BE49-F238E27FC236}">
                <a16:creationId xmlns:a16="http://schemas.microsoft.com/office/drawing/2014/main" id="{CD0725BF-3880-40CC-9C1B-35BE69C2A7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5521" y="2794246"/>
            <a:ext cx="9440361" cy="3884923"/>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2342670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430887"/>
          </a:xfrm>
        </p:spPr>
        <p:txBody>
          <a:bodyPr/>
          <a:lstStyle/>
          <a:p>
            <a:r>
              <a:rPr lang="en-US" dirty="0"/>
              <a:t>Use “Data Prep – Flights” Excel file </a:t>
            </a:r>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pPr defTabSz="1306221" fontAlgn="auto">
              <a:spcAft>
                <a:spcPts val="0"/>
              </a:spcAft>
              <a:defRPr/>
            </a:pPr>
            <a:r>
              <a:rPr lang="en-US" dirty="0">
                <a:ea typeface="+mn-ea"/>
              </a:rPr>
              <a:t>Poorly Formatted Data</a:t>
            </a:r>
          </a:p>
        </p:txBody>
      </p:sp>
      <p:pic>
        <p:nvPicPr>
          <p:cNvPr id="5" name="Picture 4" descr="A screenshot of a computer&#10;&#10;Description automatically generated">
            <a:extLst>
              <a:ext uri="{FF2B5EF4-FFF2-40B4-BE49-F238E27FC236}">
                <a16:creationId xmlns:a16="http://schemas.microsoft.com/office/drawing/2014/main" id="{91D3BEC7-4B46-4D8E-B6C4-E2A53F000DC9}"/>
              </a:ext>
            </a:extLst>
          </p:cNvPr>
          <p:cNvPicPr>
            <a:picLocks noChangeAspect="1"/>
          </p:cNvPicPr>
          <p:nvPr/>
        </p:nvPicPr>
        <p:blipFill rotWithShape="1">
          <a:blip r:embed="rId4">
            <a:extLst>
              <a:ext uri="{28A0092B-C50C-407E-A947-70E740481C1C}">
                <a14:useLocalDpi xmlns:a14="http://schemas.microsoft.com/office/drawing/2010/main" val="0"/>
              </a:ext>
            </a:extLst>
          </a:blip>
          <a:srcRect r="22944"/>
          <a:stretch/>
        </p:blipFill>
        <p:spPr>
          <a:xfrm>
            <a:off x="952080" y="2761467"/>
            <a:ext cx="12726239" cy="2971676"/>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188564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solidFill>
                  <a:srgbClr val="4C4C4C"/>
                </a:solidFill>
                <a:latin typeface="BentonSans Book" charset="0"/>
              </a:rPr>
              <a:t>Data Interpreter</a:t>
            </a:r>
            <a:endParaRPr lang="en-US"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537027" y="1893515"/>
            <a:ext cx="4049488" cy="2893100"/>
          </a:xfrm>
        </p:spPr>
        <p:txBody>
          <a:bodyPr/>
          <a:lstStyle/>
          <a:p>
            <a:pPr lvl="0"/>
            <a:r>
              <a:rPr lang="en-US"/>
              <a:t>Open Tableau Desktop</a:t>
            </a:r>
          </a:p>
          <a:p>
            <a:pPr lvl="0"/>
            <a:r>
              <a:rPr lang="en-US"/>
              <a:t>Click on Excel</a:t>
            </a:r>
          </a:p>
          <a:p>
            <a:pPr lvl="0"/>
            <a:r>
              <a:rPr lang="en-US"/>
              <a:t>Navigate to saved file</a:t>
            </a:r>
          </a:p>
          <a:p>
            <a:pPr lvl="0"/>
            <a:r>
              <a:rPr lang="en-US"/>
              <a:t>Click open</a:t>
            </a:r>
          </a:p>
          <a:p>
            <a:r>
              <a:rPr lang="en-US"/>
              <a:t>Drag “Resolved Incidents” to the canvas</a:t>
            </a:r>
            <a:endParaRPr lang="en-US" dirty="0">
              <a:ea typeface="+mn-ea"/>
            </a:endParaRPr>
          </a:p>
        </p:txBody>
      </p:sp>
      <p:sp>
        <p:nvSpPr>
          <p:cNvPr id="3" name="Text Placeholder 2"/>
          <p:cNvSpPr>
            <a:spLocks noGrp="1"/>
          </p:cNvSpPr>
          <p:nvPr>
            <p:ph type="body" sz="quarter" idx="12"/>
          </p:nvPr>
        </p:nvSpPr>
        <p:spPr>
          <a:xfrm>
            <a:off x="710057" y="598699"/>
            <a:ext cx="13269093" cy="567848"/>
          </a:xfrm>
          <a:prstGeom prst="rect">
            <a:avLst/>
          </a:prstGeom>
        </p:spPr>
        <p:txBody>
          <a:bodyPr/>
          <a:lstStyle/>
          <a:p>
            <a:pPr defTabSz="1306221" fontAlgn="auto">
              <a:spcAft>
                <a:spcPts val="0"/>
              </a:spcAft>
              <a:defRPr/>
            </a:pPr>
            <a:r>
              <a:rPr lang="en-US" dirty="0">
                <a:ea typeface="+mn-ea"/>
              </a:rPr>
              <a:t>Data Interpreter</a:t>
            </a:r>
          </a:p>
        </p:txBody>
      </p:sp>
      <p:pic>
        <p:nvPicPr>
          <p:cNvPr id="5" name="Picture 4" descr="A screenshot of a computer&#10;&#10;Description automatically generated">
            <a:extLst>
              <a:ext uri="{FF2B5EF4-FFF2-40B4-BE49-F238E27FC236}">
                <a16:creationId xmlns:a16="http://schemas.microsoft.com/office/drawing/2014/main" id="{DC27CDD5-F960-4210-88D9-1EC45D3E6B4E}"/>
              </a:ext>
            </a:extLst>
          </p:cNvPr>
          <p:cNvPicPr>
            <a:picLocks noChangeAspect="1"/>
          </p:cNvPicPr>
          <p:nvPr/>
        </p:nvPicPr>
        <p:blipFill rotWithShape="1">
          <a:blip r:embed="rId4">
            <a:extLst>
              <a:ext uri="{28A0092B-C50C-407E-A947-70E740481C1C}">
                <a14:useLocalDpi xmlns:a14="http://schemas.microsoft.com/office/drawing/2010/main" val="0"/>
              </a:ext>
            </a:extLst>
          </a:blip>
          <a:srcRect r="31977"/>
          <a:stretch/>
        </p:blipFill>
        <p:spPr>
          <a:xfrm>
            <a:off x="6194630" y="1152697"/>
            <a:ext cx="7992550" cy="5915760"/>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1822746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537027" y="1893515"/>
            <a:ext cx="4049488" cy="2893100"/>
          </a:xfrm>
        </p:spPr>
        <p:txBody>
          <a:bodyPr/>
          <a:lstStyle/>
          <a:p>
            <a:pPr lvl="0"/>
            <a:r>
              <a:rPr lang="en-US" dirty="0"/>
              <a:t>Open Tableau Desktop</a:t>
            </a:r>
          </a:p>
          <a:p>
            <a:pPr lvl="0"/>
            <a:r>
              <a:rPr lang="en-US" dirty="0"/>
              <a:t>Click on Excel</a:t>
            </a:r>
          </a:p>
          <a:p>
            <a:pPr lvl="0"/>
            <a:r>
              <a:rPr lang="en-US" dirty="0"/>
              <a:t>Navigate to saved file</a:t>
            </a:r>
          </a:p>
          <a:p>
            <a:pPr lvl="0"/>
            <a:r>
              <a:rPr lang="en-US" dirty="0"/>
              <a:t>Click open</a:t>
            </a:r>
          </a:p>
          <a:p>
            <a:r>
              <a:rPr lang="en-US" dirty="0"/>
              <a:t>Drag “Resolved Incidents” to the canvas</a:t>
            </a:r>
            <a:endParaRPr lang="en-US" dirty="0">
              <a:ea typeface="+mn-ea"/>
            </a:endParaRPr>
          </a:p>
        </p:txBody>
      </p:sp>
      <p:sp>
        <p:nvSpPr>
          <p:cNvPr id="3" name="Text Placeholder 2"/>
          <p:cNvSpPr>
            <a:spLocks noGrp="1"/>
          </p:cNvSpPr>
          <p:nvPr>
            <p:ph type="body" sz="quarter" idx="12"/>
          </p:nvPr>
        </p:nvSpPr>
        <p:spPr>
          <a:xfrm>
            <a:off x="710057" y="598699"/>
            <a:ext cx="13269093" cy="567848"/>
          </a:xfrm>
          <a:prstGeom prst="rect">
            <a:avLst/>
          </a:prstGeom>
        </p:spPr>
        <p:txBody>
          <a:bodyPr/>
          <a:lstStyle/>
          <a:p>
            <a:pPr defTabSz="1306221" fontAlgn="auto">
              <a:spcAft>
                <a:spcPts val="0"/>
              </a:spcAft>
              <a:defRPr/>
            </a:pPr>
            <a:r>
              <a:rPr lang="en-US" dirty="0">
                <a:ea typeface="+mn-ea"/>
              </a:rPr>
              <a:t>Data Interpreter</a:t>
            </a:r>
          </a:p>
        </p:txBody>
      </p:sp>
      <p:pic>
        <p:nvPicPr>
          <p:cNvPr id="5" name="Picture 4" descr="A screenshot of a computer&#10;&#10;Description automatically generated">
            <a:extLst>
              <a:ext uri="{FF2B5EF4-FFF2-40B4-BE49-F238E27FC236}">
                <a16:creationId xmlns:a16="http://schemas.microsoft.com/office/drawing/2014/main" id="{DC27CDD5-F960-4210-88D9-1EC45D3E6B4E}"/>
              </a:ext>
            </a:extLst>
          </p:cNvPr>
          <p:cNvPicPr>
            <a:picLocks noChangeAspect="1"/>
          </p:cNvPicPr>
          <p:nvPr/>
        </p:nvPicPr>
        <p:blipFill rotWithShape="1">
          <a:blip r:embed="rId4">
            <a:extLst>
              <a:ext uri="{28A0092B-C50C-407E-A947-70E740481C1C}">
                <a14:useLocalDpi xmlns:a14="http://schemas.microsoft.com/office/drawing/2010/main" val="0"/>
              </a:ext>
            </a:extLst>
          </a:blip>
          <a:srcRect r="31977"/>
          <a:stretch/>
        </p:blipFill>
        <p:spPr>
          <a:xfrm>
            <a:off x="6194630" y="1152697"/>
            <a:ext cx="7992550" cy="5915760"/>
          </a:xfrm>
          <a:prstGeom prst="rect">
            <a:avLst/>
          </a:prstGeom>
          <a:effectLst>
            <a:outerShdw blurRad="63500" sx="102000" sy="102000" algn="ctr" rotWithShape="0">
              <a:prstClr val="black">
                <a:alpha val="40000"/>
              </a:prstClr>
            </a:outerShdw>
          </a:effectLst>
        </p:spPr>
      </p:pic>
      <p:sp>
        <p:nvSpPr>
          <p:cNvPr id="6" name="Arrow: Right 5">
            <a:extLst>
              <a:ext uri="{FF2B5EF4-FFF2-40B4-BE49-F238E27FC236}">
                <a16:creationId xmlns:a16="http://schemas.microsoft.com/office/drawing/2014/main" id="{D99026CA-A77D-47BD-8EA5-191C4A2185AA}"/>
              </a:ext>
            </a:extLst>
          </p:cNvPr>
          <p:cNvSpPr/>
          <p:nvPr/>
        </p:nvSpPr>
        <p:spPr>
          <a:xfrm>
            <a:off x="5595402" y="3436547"/>
            <a:ext cx="754743" cy="380712"/>
          </a:xfrm>
          <a:prstGeom prst="rightArrow">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9900"/>
              </a:solidFill>
            </a:endParaRPr>
          </a:p>
        </p:txBody>
      </p:sp>
    </p:spTree>
    <p:custDataLst>
      <p:tags r:id="rId1"/>
    </p:custDataLst>
    <p:extLst>
      <p:ext uri="{BB962C8B-B14F-4D97-AF65-F5344CB8AC3E}">
        <p14:creationId xmlns:p14="http://schemas.microsoft.com/office/powerpoint/2010/main" val="452896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10057" y="1059545"/>
            <a:ext cx="13273820" cy="430887"/>
          </a:xfrm>
        </p:spPr>
        <p:txBody>
          <a:bodyPr/>
          <a:lstStyle/>
          <a:p>
            <a:pPr lvl="0"/>
            <a:r>
              <a:rPr lang="en-US" dirty="0"/>
              <a:t>Click the Run Interpreter Box</a:t>
            </a:r>
          </a:p>
        </p:txBody>
      </p:sp>
      <p:sp>
        <p:nvSpPr>
          <p:cNvPr id="3" name="Text Placeholder 2"/>
          <p:cNvSpPr>
            <a:spLocks noGrp="1"/>
          </p:cNvSpPr>
          <p:nvPr>
            <p:ph type="body" sz="quarter" idx="12"/>
          </p:nvPr>
        </p:nvSpPr>
        <p:spPr>
          <a:xfrm>
            <a:off x="714784" y="248048"/>
            <a:ext cx="13269093" cy="553998"/>
          </a:xfrm>
          <a:prstGeom prst="rect">
            <a:avLst/>
          </a:prstGeom>
        </p:spPr>
        <p:txBody>
          <a:bodyPr/>
          <a:lstStyle/>
          <a:p>
            <a:pPr defTabSz="1306221" fontAlgn="auto">
              <a:spcAft>
                <a:spcPts val="0"/>
              </a:spcAft>
              <a:defRPr/>
            </a:pPr>
            <a:r>
              <a:rPr lang="en-US" dirty="0">
                <a:ea typeface="+mn-ea"/>
              </a:rPr>
              <a:t>Data Interpreter</a:t>
            </a:r>
          </a:p>
        </p:txBody>
      </p:sp>
      <p:pic>
        <p:nvPicPr>
          <p:cNvPr id="5" name="Picture 4" descr="A screenshot of a social media post&#10;&#10;Description automatically generated">
            <a:extLst>
              <a:ext uri="{FF2B5EF4-FFF2-40B4-BE49-F238E27FC236}">
                <a16:creationId xmlns:a16="http://schemas.microsoft.com/office/drawing/2014/main" id="{AEB0F8B9-7D29-4CC4-BE57-0B052E9D132A}"/>
              </a:ext>
            </a:extLst>
          </p:cNvPr>
          <p:cNvPicPr>
            <a:picLocks noChangeAspect="1"/>
          </p:cNvPicPr>
          <p:nvPr/>
        </p:nvPicPr>
        <p:blipFill rotWithShape="1">
          <a:blip r:embed="rId4">
            <a:extLst>
              <a:ext uri="{28A0092B-C50C-407E-A947-70E740481C1C}">
                <a14:useLocalDpi xmlns:a14="http://schemas.microsoft.com/office/drawing/2010/main" val="0"/>
              </a:ext>
            </a:extLst>
          </a:blip>
          <a:srcRect t="1437" r="305" b="3806"/>
          <a:stretch/>
        </p:blipFill>
        <p:spPr>
          <a:xfrm>
            <a:off x="1855676" y="1756227"/>
            <a:ext cx="10919048" cy="5225143"/>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2423286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4784" y="248048"/>
            <a:ext cx="13269093" cy="553998"/>
          </a:xfrm>
          <a:prstGeom prst="rect">
            <a:avLst/>
          </a:prstGeom>
        </p:spPr>
        <p:txBody>
          <a:bodyPr/>
          <a:lstStyle/>
          <a:p>
            <a:pPr defTabSz="1306221" fontAlgn="auto">
              <a:spcAft>
                <a:spcPts val="0"/>
              </a:spcAft>
              <a:defRPr/>
            </a:pPr>
            <a:r>
              <a:rPr lang="en-US" dirty="0">
                <a:ea typeface="+mn-ea"/>
              </a:rPr>
              <a:t>Data Interpreter</a:t>
            </a:r>
          </a:p>
        </p:txBody>
      </p:sp>
      <p:pic>
        <p:nvPicPr>
          <p:cNvPr id="5" name="Picture 4" descr="A screenshot of a social media post&#10;&#10;Description automatically generated">
            <a:extLst>
              <a:ext uri="{FF2B5EF4-FFF2-40B4-BE49-F238E27FC236}">
                <a16:creationId xmlns:a16="http://schemas.microsoft.com/office/drawing/2014/main" id="{AEB0F8B9-7D29-4CC4-BE57-0B052E9D132A}"/>
              </a:ext>
            </a:extLst>
          </p:cNvPr>
          <p:cNvPicPr>
            <a:picLocks noChangeAspect="1"/>
          </p:cNvPicPr>
          <p:nvPr/>
        </p:nvPicPr>
        <p:blipFill rotWithShape="1">
          <a:blip r:embed="rId4">
            <a:extLst>
              <a:ext uri="{28A0092B-C50C-407E-A947-70E740481C1C}">
                <a14:useLocalDpi xmlns:a14="http://schemas.microsoft.com/office/drawing/2010/main" val="0"/>
              </a:ext>
            </a:extLst>
          </a:blip>
          <a:srcRect t="1437" r="32262" b="3806"/>
          <a:stretch/>
        </p:blipFill>
        <p:spPr>
          <a:xfrm>
            <a:off x="2842647" y="947190"/>
            <a:ext cx="8684450" cy="6116428"/>
          </a:xfrm>
          <a:prstGeom prst="rect">
            <a:avLst/>
          </a:prstGeom>
          <a:effectLst>
            <a:outerShdw blurRad="63500" sx="102000" sy="102000" algn="ctr" rotWithShape="0">
              <a:prstClr val="black">
                <a:alpha val="40000"/>
              </a:prstClr>
            </a:outerShdw>
          </a:effectLst>
        </p:spPr>
      </p:pic>
      <p:sp>
        <p:nvSpPr>
          <p:cNvPr id="6" name="Arrow: Right 5">
            <a:extLst>
              <a:ext uri="{FF2B5EF4-FFF2-40B4-BE49-F238E27FC236}">
                <a16:creationId xmlns:a16="http://schemas.microsoft.com/office/drawing/2014/main" id="{511CB64E-81FA-412D-8413-7C68DD2CD96B}"/>
              </a:ext>
            </a:extLst>
          </p:cNvPr>
          <p:cNvSpPr/>
          <p:nvPr/>
        </p:nvSpPr>
        <p:spPr>
          <a:xfrm>
            <a:off x="2587127" y="3734088"/>
            <a:ext cx="754743" cy="380712"/>
          </a:xfrm>
          <a:prstGeom prst="rightArrow">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9900"/>
              </a:solidFill>
            </a:endParaRPr>
          </a:p>
        </p:txBody>
      </p:sp>
    </p:spTree>
    <p:custDataLst>
      <p:tags r:id="rId1"/>
    </p:custDataLst>
    <p:extLst>
      <p:ext uri="{BB962C8B-B14F-4D97-AF65-F5344CB8AC3E}">
        <p14:creationId xmlns:p14="http://schemas.microsoft.com/office/powerpoint/2010/main" val="1183018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4784" y="248048"/>
            <a:ext cx="13269093" cy="567848"/>
          </a:xfrm>
          <a:prstGeom prst="rect">
            <a:avLst/>
          </a:prstGeom>
        </p:spPr>
        <p:txBody>
          <a:bodyPr/>
          <a:lstStyle/>
          <a:p>
            <a:pPr defTabSz="1306221" fontAlgn="auto">
              <a:spcAft>
                <a:spcPts val="0"/>
              </a:spcAft>
              <a:defRPr/>
            </a:pPr>
            <a:r>
              <a:rPr lang="en-US" dirty="0">
                <a:ea typeface="+mn-ea"/>
              </a:rPr>
              <a:t>Data Interpreter Results Key</a:t>
            </a:r>
          </a:p>
        </p:txBody>
      </p:sp>
      <p:pic>
        <p:nvPicPr>
          <p:cNvPr id="7" name="Picture 6" descr="A screenshot of a cell phone&#10;&#10;Description automatically generated">
            <a:extLst>
              <a:ext uri="{FF2B5EF4-FFF2-40B4-BE49-F238E27FC236}">
                <a16:creationId xmlns:a16="http://schemas.microsoft.com/office/drawing/2014/main" id="{BAE5FD73-A898-423C-8ADF-ED2681DF04BC}"/>
              </a:ext>
            </a:extLst>
          </p:cNvPr>
          <p:cNvPicPr>
            <a:picLocks noChangeAspect="1"/>
          </p:cNvPicPr>
          <p:nvPr/>
        </p:nvPicPr>
        <p:blipFill rotWithShape="1">
          <a:blip r:embed="rId4">
            <a:extLst>
              <a:ext uri="{28A0092B-C50C-407E-A947-70E740481C1C}">
                <a14:useLocalDpi xmlns:a14="http://schemas.microsoft.com/office/drawing/2010/main" val="0"/>
              </a:ext>
            </a:extLst>
          </a:blip>
          <a:srcRect l="7951" t="3730" r="21428"/>
          <a:stretch/>
        </p:blipFill>
        <p:spPr>
          <a:xfrm>
            <a:off x="2989942" y="954648"/>
            <a:ext cx="7968343" cy="6196156"/>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2188007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4784" y="248048"/>
            <a:ext cx="13269093" cy="567848"/>
          </a:xfrm>
          <a:prstGeom prst="rect">
            <a:avLst/>
          </a:prstGeom>
        </p:spPr>
        <p:txBody>
          <a:bodyPr/>
          <a:lstStyle/>
          <a:p>
            <a:pPr defTabSz="1306221" fontAlgn="auto">
              <a:spcAft>
                <a:spcPts val="0"/>
              </a:spcAft>
              <a:defRPr/>
            </a:pPr>
            <a:r>
              <a:rPr lang="en-US" dirty="0">
                <a:ea typeface="+mn-ea"/>
              </a:rPr>
              <a:t>Data Interpreter Results</a:t>
            </a:r>
          </a:p>
        </p:txBody>
      </p:sp>
      <p:pic>
        <p:nvPicPr>
          <p:cNvPr id="4" name="Picture 3" descr="A screenshot of a cell phone&#10;&#10;Description automatically generated">
            <a:extLst>
              <a:ext uri="{FF2B5EF4-FFF2-40B4-BE49-F238E27FC236}">
                <a16:creationId xmlns:a16="http://schemas.microsoft.com/office/drawing/2014/main" id="{8DE82269-C331-4A37-B879-255D08319EB7}"/>
              </a:ext>
            </a:extLst>
          </p:cNvPr>
          <p:cNvPicPr>
            <a:picLocks noChangeAspect="1"/>
          </p:cNvPicPr>
          <p:nvPr/>
        </p:nvPicPr>
        <p:blipFill rotWithShape="1">
          <a:blip r:embed="rId4">
            <a:extLst>
              <a:ext uri="{28A0092B-C50C-407E-A947-70E740481C1C}">
                <a14:useLocalDpi xmlns:a14="http://schemas.microsoft.com/office/drawing/2010/main" val="0"/>
              </a:ext>
            </a:extLst>
          </a:blip>
          <a:srcRect r="13248"/>
          <a:stretch/>
        </p:blipFill>
        <p:spPr>
          <a:xfrm>
            <a:off x="887977" y="2510971"/>
            <a:ext cx="11996384" cy="3991430"/>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3792474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solidFill>
                  <a:srgbClr val="4C4C4C"/>
                </a:solidFill>
                <a:latin typeface="BentonSans Book" charset="0"/>
              </a:rPr>
              <a:t>Pivot</a:t>
            </a:r>
            <a:endParaRPr lang="en-US" dirty="0"/>
          </a:p>
        </p:txBody>
      </p:sp>
    </p:spTree>
    <p:extLst>
      <p:ext uri="{BB962C8B-B14F-4D97-AF65-F5344CB8AC3E}">
        <p14:creationId xmlns:p14="http://schemas.microsoft.com/office/powerpoint/2010/main" val="1378152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67848"/>
          </a:xfrm>
          <a:prstGeom prst="rect">
            <a:avLst/>
          </a:prstGeom>
        </p:spPr>
        <p:txBody>
          <a:bodyPr/>
          <a:lstStyle/>
          <a:p>
            <a:pPr defTabSz="1306221" fontAlgn="auto">
              <a:spcAft>
                <a:spcPts val="0"/>
              </a:spcAft>
              <a:defRPr/>
            </a:pPr>
            <a:r>
              <a:rPr lang="en-US" dirty="0">
                <a:ea typeface="+mn-ea"/>
              </a:rPr>
              <a:t>Review Ideal Data </a:t>
            </a:r>
          </a:p>
        </p:txBody>
      </p:sp>
      <p:pic>
        <p:nvPicPr>
          <p:cNvPr id="7" name="Picture 6" descr="A screenshot of a cell phone&#10;&#10;Description automatically generated">
            <a:extLst>
              <a:ext uri="{FF2B5EF4-FFF2-40B4-BE49-F238E27FC236}">
                <a16:creationId xmlns:a16="http://schemas.microsoft.com/office/drawing/2014/main" id="{DCE58E39-B648-4080-821D-038AC81D5A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830161"/>
            <a:ext cx="10885714" cy="4479719"/>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246179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pPr defTabSz="1306221" fontAlgn="auto">
              <a:spcAft>
                <a:spcPts val="0"/>
              </a:spcAft>
              <a:defRPr/>
            </a:pPr>
            <a:r>
              <a:rPr lang="en-US" dirty="0">
                <a:ea typeface="+mn-ea"/>
              </a:rPr>
              <a:t>Pivot</a:t>
            </a:r>
          </a:p>
        </p:txBody>
      </p:sp>
      <p:pic>
        <p:nvPicPr>
          <p:cNvPr id="7" name="Picture 6" descr="A screenshot of a computer&#10;&#10;Description automatically generated">
            <a:extLst>
              <a:ext uri="{FF2B5EF4-FFF2-40B4-BE49-F238E27FC236}">
                <a16:creationId xmlns:a16="http://schemas.microsoft.com/office/drawing/2014/main" id="{2932C03C-036C-4DA6-80A9-F855CD202F1D}"/>
              </a:ext>
            </a:extLst>
          </p:cNvPr>
          <p:cNvPicPr>
            <a:picLocks noChangeAspect="1"/>
          </p:cNvPicPr>
          <p:nvPr/>
        </p:nvPicPr>
        <p:blipFill rotWithShape="1">
          <a:blip r:embed="rId4">
            <a:extLst>
              <a:ext uri="{28A0092B-C50C-407E-A947-70E740481C1C}">
                <a14:useLocalDpi xmlns:a14="http://schemas.microsoft.com/office/drawing/2010/main" val="0"/>
              </a:ext>
            </a:extLst>
          </a:blip>
          <a:srcRect l="15674" t="41353" r="-297" b="4158"/>
          <a:stretch/>
        </p:blipFill>
        <p:spPr>
          <a:xfrm>
            <a:off x="362776" y="2470245"/>
            <a:ext cx="13904847" cy="4136425"/>
          </a:xfrm>
          <a:prstGeom prst="rect">
            <a:avLst/>
          </a:prstGeom>
          <a:effectLst>
            <a:outerShdw blurRad="63500" sx="102000" sy="102000" algn="ctr" rotWithShape="0">
              <a:prstClr val="black">
                <a:alpha val="40000"/>
              </a:prstClr>
            </a:outerShdw>
          </a:effectLst>
        </p:spPr>
      </p:pic>
      <p:sp>
        <p:nvSpPr>
          <p:cNvPr id="8" name="Arrow: Right 7">
            <a:extLst>
              <a:ext uri="{FF2B5EF4-FFF2-40B4-BE49-F238E27FC236}">
                <a16:creationId xmlns:a16="http://schemas.microsoft.com/office/drawing/2014/main" id="{725DEB2D-F894-4296-98BC-081A1AD339EE}"/>
              </a:ext>
            </a:extLst>
          </p:cNvPr>
          <p:cNvSpPr/>
          <p:nvPr/>
        </p:nvSpPr>
        <p:spPr>
          <a:xfrm>
            <a:off x="2057424" y="4321299"/>
            <a:ext cx="754743" cy="270539"/>
          </a:xfrm>
          <a:prstGeom prst="rightArrow">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9900"/>
              </a:solidFill>
            </a:endParaRPr>
          </a:p>
        </p:txBody>
      </p:sp>
      <p:sp>
        <p:nvSpPr>
          <p:cNvPr id="9" name="Content Placeholder 1">
            <a:extLst>
              <a:ext uri="{FF2B5EF4-FFF2-40B4-BE49-F238E27FC236}">
                <a16:creationId xmlns:a16="http://schemas.microsoft.com/office/drawing/2014/main" id="{E8CD2B23-B32F-4743-B51F-970E6352CF31}"/>
              </a:ext>
            </a:extLst>
          </p:cNvPr>
          <p:cNvSpPr>
            <a:spLocks noGrp="1"/>
          </p:cNvSpPr>
          <p:nvPr>
            <p:ph idx="14"/>
          </p:nvPr>
        </p:nvSpPr>
        <p:spPr>
          <a:xfrm>
            <a:off x="742361" y="1152697"/>
            <a:ext cx="13177981" cy="938719"/>
          </a:xfrm>
        </p:spPr>
        <p:txBody>
          <a:bodyPr/>
          <a:lstStyle/>
          <a:p>
            <a:pPr lvl="0"/>
            <a:r>
              <a:rPr lang="en-US" dirty="0"/>
              <a:t>Select all date columns</a:t>
            </a:r>
          </a:p>
          <a:p>
            <a:pPr lvl="0"/>
            <a:r>
              <a:rPr lang="en-US" dirty="0"/>
              <a:t>Click carat and select Pivot </a:t>
            </a:r>
          </a:p>
        </p:txBody>
      </p:sp>
    </p:spTree>
    <p:custDataLst>
      <p:tags r:id="rId1"/>
    </p:custDataLst>
    <p:extLst>
      <p:ext uri="{BB962C8B-B14F-4D97-AF65-F5344CB8AC3E}">
        <p14:creationId xmlns:p14="http://schemas.microsoft.com/office/powerpoint/2010/main" val="2126962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pPr defTabSz="1306221" fontAlgn="auto">
              <a:spcAft>
                <a:spcPts val="0"/>
              </a:spcAft>
              <a:defRPr/>
            </a:pPr>
            <a:r>
              <a:rPr lang="en-US" dirty="0">
                <a:ea typeface="+mn-ea"/>
              </a:rPr>
              <a:t>Pivot</a:t>
            </a:r>
          </a:p>
        </p:txBody>
      </p:sp>
      <p:sp>
        <p:nvSpPr>
          <p:cNvPr id="9" name="Content Placeholder 1">
            <a:extLst>
              <a:ext uri="{FF2B5EF4-FFF2-40B4-BE49-F238E27FC236}">
                <a16:creationId xmlns:a16="http://schemas.microsoft.com/office/drawing/2014/main" id="{E8CD2B23-B32F-4743-B51F-970E6352CF31}"/>
              </a:ext>
            </a:extLst>
          </p:cNvPr>
          <p:cNvSpPr>
            <a:spLocks noGrp="1"/>
          </p:cNvSpPr>
          <p:nvPr>
            <p:ph idx="14"/>
          </p:nvPr>
        </p:nvSpPr>
        <p:spPr>
          <a:xfrm>
            <a:off x="742361" y="1152697"/>
            <a:ext cx="13177981" cy="938719"/>
          </a:xfrm>
        </p:spPr>
        <p:txBody>
          <a:bodyPr/>
          <a:lstStyle/>
          <a:p>
            <a:r>
              <a:rPr lang="en-US" dirty="0"/>
              <a:t>Click on Pivot Field Values and rename to Resolved Incidents  </a:t>
            </a:r>
          </a:p>
          <a:p>
            <a:pPr lvl="0"/>
            <a:r>
              <a:rPr lang="en-US" dirty="0"/>
              <a:t>Click on Pivot Field Names and rename to Date</a:t>
            </a:r>
          </a:p>
        </p:txBody>
      </p:sp>
      <p:pic>
        <p:nvPicPr>
          <p:cNvPr id="4" name="Picture 3" descr="A screenshot of a cell phone&#10;&#10;Description automatically generated">
            <a:extLst>
              <a:ext uri="{FF2B5EF4-FFF2-40B4-BE49-F238E27FC236}">
                <a16:creationId xmlns:a16="http://schemas.microsoft.com/office/drawing/2014/main" id="{AFFD4A0F-A3E1-49A6-A921-602ECE8C1355}"/>
              </a:ext>
            </a:extLst>
          </p:cNvPr>
          <p:cNvPicPr>
            <a:picLocks noChangeAspect="1"/>
          </p:cNvPicPr>
          <p:nvPr/>
        </p:nvPicPr>
        <p:blipFill rotWithShape="1">
          <a:blip r:embed="rId4">
            <a:extLst>
              <a:ext uri="{28A0092B-C50C-407E-A947-70E740481C1C}">
                <a14:useLocalDpi xmlns:a14="http://schemas.microsoft.com/office/drawing/2010/main" val="0"/>
              </a:ext>
            </a:extLst>
          </a:blip>
          <a:srcRect t="1494" b="-1"/>
          <a:stretch/>
        </p:blipFill>
        <p:spPr>
          <a:xfrm>
            <a:off x="1705970" y="2500684"/>
            <a:ext cx="4676236" cy="4314338"/>
          </a:xfrm>
          <a:prstGeom prst="rect">
            <a:avLst/>
          </a:prstGeom>
          <a:effectLst>
            <a:outerShdw blurRad="63500" sx="102000" sy="102000" algn="ctr" rotWithShape="0">
              <a:prstClr val="black">
                <a:alpha val="40000"/>
              </a:prstClr>
            </a:outerShdw>
          </a:effectLst>
        </p:spPr>
      </p:pic>
      <p:pic>
        <p:nvPicPr>
          <p:cNvPr id="6" name="Picture 5" descr="A screenshot of a cell phone&#10;&#10;Description automatically generated">
            <a:extLst>
              <a:ext uri="{FF2B5EF4-FFF2-40B4-BE49-F238E27FC236}">
                <a16:creationId xmlns:a16="http://schemas.microsoft.com/office/drawing/2014/main" id="{C79AD70E-7B19-4600-A726-D7275CEDC2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82937" y="2500684"/>
            <a:ext cx="4676235" cy="4307344"/>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1526480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67848"/>
          </a:xfrm>
          <a:prstGeom prst="rect">
            <a:avLst/>
          </a:prstGeom>
        </p:spPr>
        <p:txBody>
          <a:bodyPr/>
          <a:lstStyle/>
          <a:p>
            <a:pPr defTabSz="1306221" fontAlgn="auto">
              <a:spcAft>
                <a:spcPts val="0"/>
              </a:spcAft>
              <a:defRPr/>
            </a:pPr>
            <a:r>
              <a:rPr lang="en-US" dirty="0">
                <a:ea typeface="+mn-ea"/>
              </a:rPr>
              <a:t>Pivot </a:t>
            </a:r>
          </a:p>
        </p:txBody>
      </p:sp>
      <p:pic>
        <p:nvPicPr>
          <p:cNvPr id="4" name="Recording #7">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2279176" y="1325097"/>
            <a:ext cx="10011248" cy="5631327"/>
          </a:xfrm>
          <a:prstGeom prst="rect">
            <a:avLst/>
          </a:prstGeom>
        </p:spPr>
      </p:pic>
    </p:spTree>
    <p:custDataLst>
      <p:tags r:id="rId1"/>
    </p:custDataLst>
    <p:extLst>
      <p:ext uri="{BB962C8B-B14F-4D97-AF65-F5344CB8AC3E}">
        <p14:creationId xmlns:p14="http://schemas.microsoft.com/office/powerpoint/2010/main" val="361018530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solidFill>
                  <a:srgbClr val="4C4C4C"/>
                </a:solidFill>
                <a:latin typeface="BentonSans Book" charset="0"/>
              </a:rPr>
              <a:t>Split</a:t>
            </a:r>
            <a:endParaRPr lang="en-US" dirty="0"/>
          </a:p>
        </p:txBody>
      </p:sp>
    </p:spTree>
    <p:custDataLst>
      <p:tags r:id="rId1"/>
    </p:custDataLst>
    <p:extLst>
      <p:ext uri="{BB962C8B-B14F-4D97-AF65-F5344CB8AC3E}">
        <p14:creationId xmlns:p14="http://schemas.microsoft.com/office/powerpoint/2010/main" val="38836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pPr defTabSz="1306221" fontAlgn="auto">
              <a:spcAft>
                <a:spcPts val="0"/>
              </a:spcAft>
              <a:defRPr/>
            </a:pPr>
            <a:r>
              <a:rPr lang="en-US" dirty="0">
                <a:ea typeface="+mn-ea"/>
              </a:rPr>
              <a:t>Split</a:t>
            </a:r>
          </a:p>
        </p:txBody>
      </p:sp>
      <p:sp>
        <p:nvSpPr>
          <p:cNvPr id="5" name="Content Placeholder 4">
            <a:extLst>
              <a:ext uri="{FF2B5EF4-FFF2-40B4-BE49-F238E27FC236}">
                <a16:creationId xmlns:a16="http://schemas.microsoft.com/office/drawing/2014/main" id="{17E8E82D-F096-4B4A-B52A-A8F519FBF96E}"/>
              </a:ext>
            </a:extLst>
          </p:cNvPr>
          <p:cNvSpPr>
            <a:spLocks noGrp="1"/>
          </p:cNvSpPr>
          <p:nvPr>
            <p:ph idx="14"/>
          </p:nvPr>
        </p:nvSpPr>
        <p:spPr>
          <a:xfrm>
            <a:off x="710057" y="1388548"/>
            <a:ext cx="13273820" cy="938719"/>
          </a:xfrm>
        </p:spPr>
        <p:txBody>
          <a:bodyPr/>
          <a:lstStyle/>
          <a:p>
            <a:r>
              <a:rPr lang="en-US" dirty="0"/>
              <a:t>Click carat and open menu of Employee field</a:t>
            </a:r>
          </a:p>
          <a:p>
            <a:r>
              <a:rPr lang="en-US" dirty="0"/>
              <a:t>Select Split</a:t>
            </a:r>
          </a:p>
        </p:txBody>
      </p:sp>
      <p:pic>
        <p:nvPicPr>
          <p:cNvPr id="9" name="Picture 8" descr="A screenshot of a cell phone&#10;&#10;Description automatically generated">
            <a:extLst>
              <a:ext uri="{FF2B5EF4-FFF2-40B4-BE49-F238E27FC236}">
                <a16:creationId xmlns:a16="http://schemas.microsoft.com/office/drawing/2014/main" id="{70965E69-C18D-44E8-9560-B80A657935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625" y="3004161"/>
            <a:ext cx="6250302" cy="3837905"/>
          </a:xfrm>
          <a:prstGeom prst="rect">
            <a:avLst/>
          </a:prstGeom>
          <a:effectLst>
            <a:outerShdw blurRad="63500" sx="102000" sy="102000" algn="ctr" rotWithShape="0">
              <a:prstClr val="black">
                <a:alpha val="40000"/>
              </a:prstClr>
            </a:outerShdw>
          </a:effectLst>
        </p:spPr>
      </p:pic>
      <p:pic>
        <p:nvPicPr>
          <p:cNvPr id="11" name="Picture 10" descr="A screenshot of a cell phone&#10;&#10;Description automatically generated">
            <a:extLst>
              <a:ext uri="{FF2B5EF4-FFF2-40B4-BE49-F238E27FC236}">
                <a16:creationId xmlns:a16="http://schemas.microsoft.com/office/drawing/2014/main" id="{372E1689-C6AA-4D63-99DA-9C9FB05021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22526" y="3032733"/>
            <a:ext cx="7249699" cy="3809333"/>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2529577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pPr defTabSz="1306221" fontAlgn="auto">
              <a:spcAft>
                <a:spcPts val="0"/>
              </a:spcAft>
              <a:defRPr/>
            </a:pPr>
            <a:r>
              <a:rPr lang="en-US" dirty="0">
                <a:ea typeface="+mn-ea"/>
              </a:rPr>
              <a:t>Split</a:t>
            </a:r>
          </a:p>
        </p:txBody>
      </p:sp>
      <p:sp>
        <p:nvSpPr>
          <p:cNvPr id="5" name="Content Placeholder 4">
            <a:extLst>
              <a:ext uri="{FF2B5EF4-FFF2-40B4-BE49-F238E27FC236}">
                <a16:creationId xmlns:a16="http://schemas.microsoft.com/office/drawing/2014/main" id="{17E8E82D-F096-4B4A-B52A-A8F519FBF96E}"/>
              </a:ext>
            </a:extLst>
          </p:cNvPr>
          <p:cNvSpPr>
            <a:spLocks noGrp="1"/>
          </p:cNvSpPr>
          <p:nvPr>
            <p:ph idx="14"/>
          </p:nvPr>
        </p:nvSpPr>
        <p:spPr>
          <a:xfrm>
            <a:off x="710057" y="1388548"/>
            <a:ext cx="13273820" cy="430887"/>
          </a:xfrm>
        </p:spPr>
        <p:txBody>
          <a:bodyPr/>
          <a:lstStyle/>
          <a:p>
            <a:r>
              <a:rPr lang="en-US" dirty="0"/>
              <a:t>Rename fields as Location and Employee ID</a:t>
            </a:r>
          </a:p>
        </p:txBody>
      </p:sp>
      <p:pic>
        <p:nvPicPr>
          <p:cNvPr id="4" name="Picture 3" descr="A screenshot of a cell phone&#10;&#10;Description automatically generated">
            <a:extLst>
              <a:ext uri="{FF2B5EF4-FFF2-40B4-BE49-F238E27FC236}">
                <a16:creationId xmlns:a16="http://schemas.microsoft.com/office/drawing/2014/main" id="{D2CA2B19-6F0F-4689-9ECB-A49A815DC7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43556" y="2055286"/>
            <a:ext cx="8493267" cy="4886187"/>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1635600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pPr defTabSz="1306221" fontAlgn="auto">
              <a:spcAft>
                <a:spcPts val="0"/>
              </a:spcAft>
              <a:defRPr/>
            </a:pPr>
            <a:r>
              <a:rPr lang="en-US" dirty="0">
                <a:ea typeface="+mn-ea"/>
              </a:rPr>
              <a:t>Split</a:t>
            </a:r>
          </a:p>
        </p:txBody>
      </p:sp>
      <p:pic>
        <p:nvPicPr>
          <p:cNvPr id="2" name="Recording #8">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1814285" y="1063597"/>
            <a:ext cx="10476139" cy="5892828"/>
          </a:xfrm>
          <a:prstGeom prst="rect">
            <a:avLst/>
          </a:prstGeom>
        </p:spPr>
      </p:pic>
    </p:spTree>
    <p:custDataLst>
      <p:tags r:id="rId1"/>
    </p:custDataLst>
    <p:extLst>
      <p:ext uri="{BB962C8B-B14F-4D97-AF65-F5344CB8AC3E}">
        <p14:creationId xmlns:p14="http://schemas.microsoft.com/office/powerpoint/2010/main" val="137718034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PT_Corporate_Template_BentonSans_16.9_c">
  <a:themeElements>
    <a:clrScheme name="Custom 8">
      <a:dk1>
        <a:srgbClr val="666666"/>
      </a:dk1>
      <a:lt1>
        <a:sysClr val="window" lastClr="FFFFFF"/>
      </a:lt1>
      <a:dk2>
        <a:srgbClr val="5B6591"/>
      </a:dk2>
      <a:lt2>
        <a:srgbClr val="FFFFFF"/>
      </a:lt2>
      <a:accent1>
        <a:srgbClr val="1F447D"/>
      </a:accent1>
      <a:accent2>
        <a:srgbClr val="E8762C"/>
      </a:accent2>
      <a:accent3>
        <a:srgbClr val="7099A6"/>
      </a:accent3>
      <a:accent4>
        <a:srgbClr val="59879B"/>
      </a:accent4>
      <a:accent5>
        <a:srgbClr val="4C4C4C"/>
      </a:accent5>
      <a:accent6>
        <a:srgbClr val="C72035"/>
      </a:accent6>
      <a:hlink>
        <a:srgbClr val="EB912C"/>
      </a:hlink>
      <a:folHlink>
        <a:srgbClr val="969696"/>
      </a:folHlink>
    </a:clrScheme>
    <a:fontScheme name="Tableau Corporate Fonts">
      <a:majorFont>
        <a:latin typeface="BentonSans Book"/>
        <a:ea typeface=""/>
        <a:cs typeface=""/>
      </a:majorFont>
      <a:minorFont>
        <a:latin typeface="Merriweather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60000"/>
            <a:lumOff val="4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cmpd="sng">
          <a:solidFill>
            <a:schemeClr val="bg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PPT_Corporate_Template_BentonSans_16.9_c">
  <a:themeElements>
    <a:clrScheme name="Custom 8">
      <a:dk1>
        <a:srgbClr val="666666"/>
      </a:dk1>
      <a:lt1>
        <a:sysClr val="window" lastClr="FFFFFF"/>
      </a:lt1>
      <a:dk2>
        <a:srgbClr val="5B6591"/>
      </a:dk2>
      <a:lt2>
        <a:srgbClr val="FFFFFF"/>
      </a:lt2>
      <a:accent1>
        <a:srgbClr val="1F447D"/>
      </a:accent1>
      <a:accent2>
        <a:srgbClr val="E8762C"/>
      </a:accent2>
      <a:accent3>
        <a:srgbClr val="7099A6"/>
      </a:accent3>
      <a:accent4>
        <a:srgbClr val="59879B"/>
      </a:accent4>
      <a:accent5>
        <a:srgbClr val="4C4C4C"/>
      </a:accent5>
      <a:accent6>
        <a:srgbClr val="C72035"/>
      </a:accent6>
      <a:hlink>
        <a:srgbClr val="EB912C"/>
      </a:hlink>
      <a:folHlink>
        <a:srgbClr val="969696"/>
      </a:folHlink>
    </a:clrScheme>
    <a:fontScheme name="Tableau Corporate Fonts">
      <a:majorFont>
        <a:latin typeface="BentonSans Book"/>
        <a:ea typeface=""/>
        <a:cs typeface=""/>
      </a:majorFont>
      <a:minorFont>
        <a:latin typeface="Merriweather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60000"/>
            <a:lumOff val="4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cmpd="sng">
          <a:solidFill>
            <a:schemeClr val="bg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PPT_Corporate_Template_BentonSans_16.9_c</Template>
  <TotalTime>544</TotalTime>
  <Words>1012</Words>
  <Application>Microsoft Office PowerPoint</Application>
  <PresentationFormat>Custom</PresentationFormat>
  <Paragraphs>96</Paragraphs>
  <Slides>22</Slides>
  <Notes>22</Notes>
  <HiddenSlides>0</HiddenSlides>
  <MMClips>2</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ＭＳ Ｐゴシック</vt:lpstr>
      <vt:lpstr>Arial</vt:lpstr>
      <vt:lpstr>BentonSans Book</vt:lpstr>
      <vt:lpstr>Gill Sans MT</vt:lpstr>
      <vt:lpstr>Merriweather Light</vt:lpstr>
      <vt:lpstr>PPT_Corporate_Template_BentonSans_16.9_c</vt:lpstr>
      <vt:lpstr>1_PPT_Corporate_Template_BentonSans_16.9_c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UWEC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Kraft, Nicole L</dc:creator>
  <cp:keywords/>
  <dc:description/>
  <cp:lastModifiedBy>Earl, Patrick</cp:lastModifiedBy>
  <cp:revision>33</cp:revision>
  <cp:lastPrinted>2015-11-05T23:58:20Z</cp:lastPrinted>
  <dcterms:created xsi:type="dcterms:W3CDTF">2017-07-18T22:55:20Z</dcterms:created>
  <dcterms:modified xsi:type="dcterms:W3CDTF">2021-09-15T16:49:41Z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ECDDD28D-90C4-411D-9A21-A8EBCFDF7C32</vt:lpwstr>
  </property>
  <property fmtid="{D5CDD505-2E9C-101B-9397-08002B2CF9AE}" pid="3" name="ArticulatePath">
    <vt:lpwstr>Connecting to and Preparing Data Tableau Demo</vt:lpwstr>
  </property>
</Properties>
</file>