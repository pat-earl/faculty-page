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27.xml" ContentType="application/vnd.openxmlformats-officedocument.presentationml.notesSlide+xml"/>
  <Override PartName="/ppt/tags/tag29.xml" ContentType="application/vnd.openxmlformats-officedocument.presentationml.tags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75" r:id="rId1"/>
  </p:sldMasterIdLst>
  <p:notesMasterIdLst>
    <p:notesMasterId r:id="rId31"/>
  </p:notesMasterIdLst>
  <p:handoutMasterIdLst>
    <p:handoutMasterId r:id="rId32"/>
  </p:handoutMasterIdLst>
  <p:sldIdLst>
    <p:sldId id="256" r:id="rId2"/>
    <p:sldId id="609" r:id="rId3"/>
    <p:sldId id="632" r:id="rId4"/>
    <p:sldId id="610" r:id="rId5"/>
    <p:sldId id="611" r:id="rId6"/>
    <p:sldId id="612" r:id="rId7"/>
    <p:sldId id="613" r:id="rId8"/>
    <p:sldId id="614" r:id="rId9"/>
    <p:sldId id="615" r:id="rId10"/>
    <p:sldId id="616" r:id="rId11"/>
    <p:sldId id="618" r:id="rId12"/>
    <p:sldId id="619" r:id="rId13"/>
    <p:sldId id="621" r:id="rId14"/>
    <p:sldId id="620" r:id="rId15"/>
    <p:sldId id="607" r:id="rId16"/>
    <p:sldId id="624" r:id="rId17"/>
    <p:sldId id="622" r:id="rId18"/>
    <p:sldId id="608" r:id="rId19"/>
    <p:sldId id="623" r:id="rId20"/>
    <p:sldId id="626" r:id="rId21"/>
    <p:sldId id="628" r:id="rId22"/>
    <p:sldId id="627" r:id="rId23"/>
    <p:sldId id="563" r:id="rId24"/>
    <p:sldId id="564" r:id="rId25"/>
    <p:sldId id="629" r:id="rId26"/>
    <p:sldId id="630" r:id="rId27"/>
    <p:sldId id="631" r:id="rId28"/>
    <p:sldId id="625" r:id="rId29"/>
    <p:sldId id="426" r:id="rId30"/>
  </p:sldIdLst>
  <p:sldSz cx="14630400" cy="8229600"/>
  <p:notesSz cx="6858000" cy="1724025"/>
  <p:custDataLst>
    <p:tags r:id="rId33"/>
  </p:custDataLst>
  <p:defaultTextStyle>
    <a:defPPr>
      <a:defRPr lang="en-US"/>
    </a:defPPr>
    <a:lvl1pPr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1pPr>
    <a:lvl2pPr marL="652463" indent="-195263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2pPr>
    <a:lvl3pPr marL="1304925" indent="-390525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3pPr>
    <a:lvl4pPr marL="1958975" indent="-587375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4pPr>
    <a:lvl5pPr marL="2611438" indent="-782638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181">
          <p15:clr>
            <a:srgbClr val="A4A3A4"/>
          </p15:clr>
        </p15:guide>
        <p15:guide id="2" orient="horz" pos="369">
          <p15:clr>
            <a:srgbClr val="A4A3A4"/>
          </p15:clr>
        </p15:guide>
        <p15:guide id="3" pos="4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FFFFFF"/>
    <a:srgbClr val="B2E4D7"/>
    <a:srgbClr val="E0E0E0"/>
    <a:srgbClr val="59879B"/>
    <a:srgbClr val="1F447D"/>
    <a:srgbClr val="6666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420BA7-BCD2-2DBF-1820-CFA93E393DFA}" v="1" dt="2020-02-18T20:18:50.793"/>
    <p1510:client id="{970596DC-AA49-4804-9388-125FF759ED0A}" v="18" dt="2020-02-19T02:26:19.640"/>
    <p1510:client id="{D9C384EC-764D-44C3-895A-F228A3FD8126}" v="488" dt="2020-02-18T19:39:59.299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94" autoAdjust="0"/>
    <p:restoredTop sz="77834" autoAdjust="0"/>
  </p:normalViewPr>
  <p:slideViewPr>
    <p:cSldViewPr snapToGrid="0" showGuides="1">
      <p:cViewPr varScale="1">
        <p:scale>
          <a:sx n="56" d="100"/>
          <a:sy n="56" d="100"/>
        </p:scale>
        <p:origin x="1098" y="66"/>
      </p:cViewPr>
      <p:guideLst>
        <p:guide orient="horz" pos="1181"/>
        <p:guide orient="horz" pos="369"/>
        <p:guide pos="4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85591767-110F-A243-83F9-36645DAA76CB}" type="datetime1">
              <a:rPr lang="en-US"/>
              <a:pPr>
                <a:defRPr/>
              </a:pPr>
              <a:t>11/12/2021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183AF4F7-31B0-B643-9B95-E1F087EE11A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5410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7850FBDF-363D-BA4E-BF53-7E974FE76827}" type="datetime1">
              <a:rPr lang="en-US"/>
              <a:pPr>
                <a:defRPr/>
              </a:pPr>
              <a:t>11/12/2021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BE318CCB-9EB4-A04E-B82B-4EF927884A6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68407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ＭＳ Ｐゴシック" charset="0"/>
      </a:defRPr>
    </a:lvl1pPr>
    <a:lvl2pPr marL="652463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2pPr>
    <a:lvl3pPr marL="1304925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3pPr>
    <a:lvl4pPr marL="1958975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4pPr>
    <a:lvl5pPr marL="2611438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5pPr>
    <a:lvl6pPr marL="3265550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3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959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116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63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359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412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93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85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268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725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6410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653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468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4258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901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2412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746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660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4000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466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0B3D09-BB56-442F-848B-38539A34655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F58AD1-14EE-4197-B962-EB83A0109830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F58AD1-14EE-4197-B962-EB83A010983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119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4463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7685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2254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609600"/>
            <a:ext cx="25939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0990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/>
          <p:cNvSpPr>
            <a:spLocks noGrp="1"/>
          </p:cNvSpPr>
          <p:nvPr>
            <p:ph type="body" sz="quarter" idx="11"/>
          </p:nvPr>
        </p:nvSpPr>
        <p:spPr>
          <a:xfrm>
            <a:off x="706102" y="1813044"/>
            <a:ext cx="5337174" cy="3643818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FontTx/>
              <a:buNone/>
              <a:defRPr sz="2800" b="0" i="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2pPr>
            <a:lvl3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3pPr>
            <a:lvl4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4pPr>
            <a:lvl5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2"/>
          <p:cNvSpPr>
            <a:spLocks noGrp="1"/>
          </p:cNvSpPr>
          <p:nvPr>
            <p:ph type="body" sz="quarter" idx="12"/>
          </p:nvPr>
        </p:nvSpPr>
        <p:spPr>
          <a:xfrm>
            <a:off x="8545513" y="1813044"/>
            <a:ext cx="5414961" cy="364381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marR="0" indent="0" algn="l" defTabSz="130622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2pPr>
            <a:lvl3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3pPr>
            <a:lvl4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4pPr>
            <a:lvl5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715321" y="600286"/>
            <a:ext cx="13245154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696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BentonSans Book"/>
            </a:endParaRPr>
          </a:p>
        </p:txBody>
      </p:sp>
      <p:pic>
        <p:nvPicPr>
          <p:cNvPr id="7" name="Picture 6" descr="Bottom_Viz_August-02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328"/>
          <a:stretch/>
        </p:blipFill>
        <p:spPr>
          <a:xfrm>
            <a:off x="0" y="3225800"/>
            <a:ext cx="14630400" cy="3153156"/>
          </a:xfrm>
          <a:prstGeom prst="rect">
            <a:avLst/>
          </a:prstGeom>
        </p:spPr>
      </p:pic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0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BentonSans Book"/>
            </a:endParaRPr>
          </a:p>
        </p:txBody>
      </p:sp>
      <p:pic>
        <p:nvPicPr>
          <p:cNvPr id="5" name="Picture 4" descr="SectionDivider-03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8" r="12503"/>
          <a:stretch/>
        </p:blipFill>
        <p:spPr>
          <a:xfrm>
            <a:off x="0" y="2362200"/>
            <a:ext cx="14630400" cy="5482336"/>
          </a:xfrm>
          <a:prstGeom prst="rect">
            <a:avLst/>
          </a:prstGeom>
        </p:spPr>
      </p:pic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430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BentonSans Book"/>
            </a:endParaRPr>
          </a:p>
        </p:txBody>
      </p:sp>
      <p:pic>
        <p:nvPicPr>
          <p:cNvPr id="7" name="Picture 6" descr="SectionDivider-02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1"/>
          <a:stretch/>
        </p:blipFill>
        <p:spPr>
          <a:xfrm>
            <a:off x="0" y="2946400"/>
            <a:ext cx="14630400" cy="4749800"/>
          </a:xfrm>
          <a:prstGeom prst="rect">
            <a:avLst/>
          </a:prstGeom>
        </p:spPr>
      </p:pic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655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279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eve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476" y="1893515"/>
            <a:ext cx="13274793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6350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tabLst/>
              <a:defRPr sz="2800" b="0" i="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288925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2400" baseline="0">
                <a:solidFill>
                  <a:schemeClr val="accent5"/>
                </a:solidFill>
              </a:defRPr>
            </a:lvl2pPr>
            <a:lvl3pPr marL="512763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2100" baseline="0">
                <a:solidFill>
                  <a:schemeClr val="accent5"/>
                </a:solidFill>
              </a:defRPr>
            </a:lvl3pPr>
            <a:lvl4pPr marL="741363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517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599" y="2438401"/>
            <a:ext cx="9133131" cy="761747"/>
          </a:xfrm>
        </p:spPr>
        <p:txBody>
          <a:bodyPr/>
          <a:lstStyle>
            <a:lvl1pPr>
              <a:defRPr sz="540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3561080" y="3733800"/>
            <a:ext cx="807720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653110" indent="0">
              <a:buNone/>
              <a:defRPr sz="1000"/>
            </a:lvl2pPr>
            <a:lvl3pPr marL="1306221" indent="0">
              <a:buNone/>
              <a:defRPr sz="1000"/>
            </a:lvl3pPr>
            <a:lvl4pPr marL="1959331" indent="0">
              <a:buNone/>
              <a:defRPr sz="1000"/>
            </a:lvl4pPr>
            <a:lvl5pPr marL="2612442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2645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357" y="1893515"/>
            <a:ext cx="13274793" cy="1631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520701" indent="-51435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746125" indent="-45720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romanUcPeriod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969963" indent="-45720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21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3pPr>
            <a:lvl4pPr marL="1084262" indent="-342901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800" baseline="0">
                <a:solidFill>
                  <a:schemeClr val="accent5"/>
                </a:solidFill>
              </a:defRPr>
            </a:lvl4pPr>
            <a:lvl5pPr marL="2063749" indent="0">
              <a:buSzPct val="100000"/>
              <a:buFont typeface="+mj-lt"/>
              <a:buNone/>
              <a:defRPr sz="1600">
                <a:solidFill>
                  <a:srgbClr val="4C4C4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776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476" y="1893515"/>
            <a:ext cx="1327382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441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5331" y="1893749"/>
            <a:ext cx="594360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5"/>
          </p:nvPr>
        </p:nvSpPr>
        <p:spPr>
          <a:xfrm>
            <a:off x="7311907" y="1893515"/>
            <a:ext cx="594360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6054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3"/>
          </p:nvPr>
        </p:nvSpPr>
        <p:spPr>
          <a:xfrm>
            <a:off x="7329803" y="1887752"/>
            <a:ext cx="664934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SzPct val="100000"/>
              <a:buFont typeface="Arial"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339725" indent="0">
              <a:buSzPct val="100000"/>
              <a:buFont typeface="Arial"/>
              <a:buNone/>
              <a:defRPr sz="2400">
                <a:solidFill>
                  <a:schemeClr val="accent5"/>
                </a:solidFill>
              </a:defRPr>
            </a:lvl2pPr>
            <a:lvl3pPr marL="692150" indent="0">
              <a:buSzPct val="100000"/>
              <a:buFont typeface="Arial"/>
              <a:buNone/>
              <a:defRPr sz="2100">
                <a:solidFill>
                  <a:schemeClr val="accent5"/>
                </a:solidFill>
              </a:defRPr>
            </a:lvl3pPr>
            <a:lvl4pPr marL="1384301" indent="0">
              <a:buSzPct val="100000"/>
              <a:buFont typeface="Arial"/>
              <a:buNone/>
              <a:defRPr sz="180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04476" y="1869074"/>
            <a:ext cx="6019800" cy="5407933"/>
          </a:xfrm>
          <a:prstGeom prst="rect">
            <a:avLst/>
          </a:prstGeom>
          <a:ln w="6350" cmpd="sng">
            <a:solidFill>
              <a:srgbClr val="666666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568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704476" y="1893515"/>
            <a:ext cx="13273731" cy="53589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SzPct val="120000"/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1633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PageImage_NoColor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 w="6350" cmpd="sng">
            <a:solidFill>
              <a:srgbClr val="666666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5207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 w Colo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4630400" cy="8229602"/>
          </a:xfrm>
          <a:prstGeom prst="rect">
            <a:avLst/>
          </a:prstGeom>
          <a:ln w="6350" cmpd="sng">
            <a:solidFill>
              <a:schemeClr val="tx1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0614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043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38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BentonSans Book"/>
            </a:endParaRPr>
          </a:p>
        </p:txBody>
      </p:sp>
      <p:pic>
        <p:nvPicPr>
          <p:cNvPr id="3" name="Picture 6" descr="tableau_rgb.eps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400" y="3206750"/>
            <a:ext cx="87376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9641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C22C4-3638-4C46-AE9E-7C242D85A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C246AB-6B0F-4845-9064-1989DDA0B24B}" type="datetimeFigureOut">
              <a:rPr lang="en-US"/>
              <a:pPr>
                <a:defRPr/>
              </a:pPr>
              <a:t>11/12/2021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86ABA-2091-4A31-80BF-F23AAD688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CF2B6-6905-465D-AA2E-679049A3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0FA6C-E89F-4E60-8F6F-DE9379A19F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64026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1"/>
            <a:ext cx="12435840" cy="17640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90880-AFB9-4636-BBB5-1BCB5992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61B1E9-7324-47C7-AB48-951429EE70EF}" type="datetimeFigureOut">
              <a:rPr lang="en-US"/>
              <a:pPr>
                <a:defRPr/>
              </a:pPr>
              <a:t>11/12/2021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24568-9574-4049-9944-58E5A3E29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11519-82D6-41B8-8B82-ADE985835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4C503F-507D-406D-8480-1009A03AF4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2641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2E1D-5498-4C62-8F88-21254087B6B9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ECF9D-8112-4DB4-8003-296816DA1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548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6176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1920240"/>
            <a:ext cx="646176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2E1D-5498-4C62-8F88-21254087B6B9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ECF9D-8112-4DB4-8003-296816DA1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41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ottom_Viz_August-02.png"/>
          <p:cNvPicPr>
            <a:picLocks noChangeAspect="1"/>
          </p:cNvPicPr>
          <p:nvPr/>
        </p:nvPicPr>
        <p:blipFill rotWithShape="1">
          <a:blip r:embed="rId2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83"/>
          <a:stretch/>
        </p:blipFill>
        <p:spPr>
          <a:xfrm flipH="1">
            <a:off x="0" y="6932613"/>
            <a:ext cx="14630400" cy="1296987"/>
          </a:xfrm>
          <a:prstGeom prst="rect">
            <a:avLst/>
          </a:prstGeom>
        </p:spPr>
      </p:pic>
      <p:pic>
        <p:nvPicPr>
          <p:cNvPr id="1027" name="Picture 7" descr="tableau_white.eps"/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9838" y="7724775"/>
            <a:ext cx="172720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601314"/>
            <a:ext cx="13244512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35" r:id="rId2"/>
    <p:sldLayoutId id="2147484148" r:id="rId3"/>
    <p:sldLayoutId id="2147484150" r:id="rId4"/>
    <p:sldLayoutId id="2147484152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  <p:sldLayoutId id="2147484142" r:id="rId12"/>
    <p:sldLayoutId id="2147484143" r:id="rId13"/>
    <p:sldLayoutId id="2147484144" r:id="rId14"/>
    <p:sldLayoutId id="2147484145" r:id="rId15"/>
    <p:sldLayoutId id="2147484146" r:id="rId16"/>
    <p:sldLayoutId id="2147484149" r:id="rId17"/>
    <p:sldLayoutId id="2147484153" r:id="rId18"/>
    <p:sldLayoutId id="2147484154" r:id="rId19"/>
    <p:sldLayoutId id="2147484156" r:id="rId20"/>
    <p:sldLayoutId id="2147484158" r:id="rId21"/>
  </p:sldLayoutIdLst>
  <p:txStyles>
    <p:titleStyle>
      <a:lvl1pPr algn="l" defTabSz="1304925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500" kern="1200">
          <a:solidFill>
            <a:srgbClr val="4C4C4C"/>
          </a:solidFill>
          <a:latin typeface="BentonSans Book"/>
          <a:ea typeface="ＭＳ Ｐゴシック" charset="0"/>
          <a:cs typeface="BentonSans Book"/>
        </a:defRPr>
      </a:lvl1pPr>
      <a:lvl2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2pPr>
      <a:lvl3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3pPr>
      <a:lvl4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4pPr>
      <a:lvl5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5pPr>
      <a:lvl6pPr marL="4572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6pPr>
      <a:lvl7pPr marL="9144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7pPr>
      <a:lvl8pPr marL="13716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8pPr>
      <a:lvl9pPr marL="18288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9pPr>
    </p:titleStyle>
    <p:bodyStyle>
      <a:lvl1pPr marL="488950" indent="-488950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6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1060450" indent="-40798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40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631950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284413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938463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9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59210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521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832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1437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2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5" Type="http://schemas.openxmlformats.org/officeDocument/2006/relationships/image" Target="../media/image14.emf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4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5" Type="http://schemas.openxmlformats.org/officeDocument/2006/relationships/hyperlink" Target="https://opentextbc.ca/introbusinessstatopenstax/chapter/introduction-6/" TargetMode="External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Relationship Id="rId6" Type="http://schemas.openxmlformats.org/officeDocument/2006/relationships/image" Target="../media/image18.png"/><Relationship Id="rId5" Type="http://schemas.openxmlformats.org/officeDocument/2006/relationships/hyperlink" Target="https://www.drdawnwright.com/empirical-rule-and-z-score-probability/" TargetMode="Externa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5" Type="http://schemas.openxmlformats.org/officeDocument/2006/relationships/hyperlink" Target="https://www.drdawnwright.com/empirical-rule-and-z-score-probability/" TargetMode="Externa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Relationship Id="rId6" Type="http://schemas.openxmlformats.org/officeDocument/2006/relationships/image" Target="../media/image21.png"/><Relationship Id="rId5" Type="http://schemas.openxmlformats.org/officeDocument/2006/relationships/hyperlink" Target="https://youtu.be/cyNqdostWzk" TargetMode="External"/><Relationship Id="rId4" Type="http://schemas.openxmlformats.org/officeDocument/2006/relationships/hyperlink" Target="https://youtu.be/fqOOownnkA4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4" Type="http://schemas.openxmlformats.org/officeDocument/2006/relationships/image" Target="../media/image2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4" Type="http://schemas.openxmlformats.org/officeDocument/2006/relationships/image" Target="../media/image2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4" Type="http://schemas.openxmlformats.org/officeDocument/2006/relationships/hyperlink" Target="https://www.nytimes.com/interactive/2019/08/29/opinion/hurricane-dorian-forecast-map.htm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3.xml"/><Relationship Id="rId5" Type="http://schemas.openxmlformats.org/officeDocument/2006/relationships/hyperlink" Target="http://disjointedthinking.jeffhughes.ca/2013/04/correlation-and-causation/" TargetMode="Externa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4.xml"/><Relationship Id="rId5" Type="http://schemas.openxmlformats.org/officeDocument/2006/relationships/hyperlink" Target="https://2012books.lardbucket.org/books/sociology-comprehensive-edition/s05-02-stages-in-the-sociological-res.html" TargetMode="External"/><Relationship Id="rId4" Type="http://schemas.openxmlformats.org/officeDocument/2006/relationships/image" Target="../media/image2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Relationship Id="rId5" Type="http://schemas.openxmlformats.org/officeDocument/2006/relationships/image" Target="../media/image26.png"/><Relationship Id="rId4" Type="http://schemas.openxmlformats.org/officeDocument/2006/relationships/hyperlink" Target="https://projects.fivethirtyeight.com/p-hacking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2924070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Statistical Thinking</a:t>
            </a:r>
          </a:p>
          <a:p>
            <a:pPr defTabSz="1306221" fontAlgn="auto">
              <a:lnSpc>
                <a:spcPct val="110000"/>
              </a:lnSpc>
              <a:spcBef>
                <a:spcPts val="1776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Merriweather Light"/>
                <a:ea typeface="+mn-ea"/>
                <a:cs typeface="Merriweather Light"/>
              </a:rPr>
              <a:t>CSC105</a:t>
            </a:r>
          </a:p>
          <a:p>
            <a:pPr defTabSz="1306221" fontAlgn="auto">
              <a:lnSpc>
                <a:spcPct val="110000"/>
              </a:lnSpc>
              <a:spcBef>
                <a:spcPts val="1776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400" dirty="0">
              <a:latin typeface="Merriweather Light"/>
              <a:ea typeface="+mn-ea"/>
              <a:cs typeface="Merriweather Light"/>
            </a:endParaRPr>
          </a:p>
          <a:p>
            <a:pPr defTabSz="1306221" fontAlgn="auto">
              <a:lnSpc>
                <a:spcPct val="110000"/>
              </a:lnSpc>
              <a:spcBef>
                <a:spcPts val="1776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Merriweather Light"/>
                <a:ea typeface="+mn-ea"/>
                <a:cs typeface="Merriweather Light"/>
              </a:rPr>
              <a:t>Prof. Earl</a:t>
            </a:r>
          </a:p>
          <a:p>
            <a:pPr defTabSz="1306221" fontAlgn="auto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400" dirty="0">
              <a:latin typeface="Merriweather Light"/>
              <a:ea typeface="+mn-ea"/>
              <a:cs typeface="Merriweather Ligh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4C4C4C"/>
                </a:solidFill>
                <a:latin typeface="BentonSans Book" charset="0"/>
              </a:rPr>
              <a:t>Measures of Variation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39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77171C-28BD-41E9-9D44-83F8E88539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Quiz Scores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E15682-BCF9-425E-9B1D-07DF309E34A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753" y="0"/>
            <a:ext cx="3502893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448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1269578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Measures of Variation</a:t>
            </a:r>
          </a:p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ea typeface="+mn-ea"/>
            </a:endParaRPr>
          </a:p>
        </p:txBody>
      </p:sp>
      <p:pic>
        <p:nvPicPr>
          <p:cNvPr id="3" name="Picture 2" descr="A picture containing table, standing, sitting, man&#10;&#10;Description automatically generated">
            <a:extLst>
              <a:ext uri="{FF2B5EF4-FFF2-40B4-BE49-F238E27FC236}">
                <a16:creationId xmlns:a16="http://schemas.microsoft.com/office/drawing/2014/main" id="{D2ECFF95-8B41-4428-8249-07B8C69D4F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963" y="990408"/>
            <a:ext cx="2128337" cy="57954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picture containing bus, large, side, sitting&#10;&#10;Description automatically generated">
            <a:extLst>
              <a:ext uri="{FF2B5EF4-FFF2-40B4-BE49-F238E27FC236}">
                <a16:creationId xmlns:a16="http://schemas.microsoft.com/office/drawing/2014/main" id="{99367FFE-91B1-4669-86D6-F41B1EBE1D2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2" r="2558"/>
          <a:stretch/>
        </p:blipFill>
        <p:spPr>
          <a:xfrm>
            <a:off x="1740250" y="2320075"/>
            <a:ext cx="6827520" cy="35894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D646D3-C1FB-41E6-B670-1AB2FFF52746}"/>
              </a:ext>
            </a:extLst>
          </p:cNvPr>
          <p:cNvSpPr txBox="1"/>
          <p:nvPr/>
        </p:nvSpPr>
        <p:spPr>
          <a:xfrm flipH="1">
            <a:off x="485386" y="6766560"/>
            <a:ext cx="3776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Online Stats, page 144-151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193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1269578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Range and Interquartile Range (IQR)</a:t>
            </a:r>
          </a:p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646D3-C1FB-41E6-B670-1AB2FFF52746}"/>
              </a:ext>
            </a:extLst>
          </p:cNvPr>
          <p:cNvSpPr txBox="1"/>
          <p:nvPr/>
        </p:nvSpPr>
        <p:spPr>
          <a:xfrm flipH="1">
            <a:off x="485386" y="6766560"/>
            <a:ext cx="3776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Online Stats, pages 144-151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C8D7A-CDDC-4330-8598-0289B12A1F4D}"/>
              </a:ext>
            </a:extLst>
          </p:cNvPr>
          <p:cNvSpPr txBox="1"/>
          <p:nvPr/>
        </p:nvSpPr>
        <p:spPr>
          <a:xfrm>
            <a:off x="1151322" y="1868277"/>
            <a:ext cx="635895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Range </a:t>
            </a:r>
          </a:p>
          <a:p>
            <a:pPr marL="1109663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Quiz A: 4</a:t>
            </a:r>
          </a:p>
          <a:p>
            <a:pPr marL="1109663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Quiz B: 6 </a:t>
            </a:r>
          </a:p>
          <a:p>
            <a:endParaRPr lang="en-US" sz="32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Interquartile Range (IQR) </a:t>
            </a:r>
          </a:p>
          <a:p>
            <a:pPr marL="1109663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Quiz A: 4</a:t>
            </a:r>
          </a:p>
          <a:p>
            <a:pPr marL="1109663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Quiz B: 2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+mn-lt"/>
            </a:endParaRPr>
          </a:p>
        </p:txBody>
      </p:sp>
      <p:pic>
        <p:nvPicPr>
          <p:cNvPr id="10" name="Picture 9" descr="A close up of a map&#10;&#10;Description automatically generated">
            <a:extLst>
              <a:ext uri="{FF2B5EF4-FFF2-40B4-BE49-F238E27FC236}">
                <a16:creationId xmlns:a16="http://schemas.microsoft.com/office/drawing/2014/main" id="{5D05F437-AEC9-457B-92E5-8AC64CDC64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432" y="1304438"/>
            <a:ext cx="3652646" cy="569295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2890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586507"/>
            <a:ext cx="13269093" cy="1269578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Mean</a:t>
            </a:r>
          </a:p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646D3-C1FB-41E6-B670-1AB2FFF52746}"/>
              </a:ext>
            </a:extLst>
          </p:cNvPr>
          <p:cNvSpPr txBox="1"/>
          <p:nvPr/>
        </p:nvSpPr>
        <p:spPr>
          <a:xfrm flipH="1">
            <a:off x="485386" y="6766560"/>
            <a:ext cx="3776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Online Stats, page 144-151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C58C9A-7939-4320-91E6-F09E4B8AC8A6}"/>
              </a:ext>
            </a:extLst>
          </p:cNvPr>
          <p:cNvSpPr txBox="1"/>
          <p:nvPr/>
        </p:nvSpPr>
        <p:spPr>
          <a:xfrm>
            <a:off x="1367730" y="2000341"/>
            <a:ext cx="63589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Mean is arithmetic average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Sum of values/number of values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700FDC-E7FA-45C4-AE23-6C7B0675E2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616"/>
          <a:stretch/>
        </p:blipFill>
        <p:spPr>
          <a:xfrm>
            <a:off x="8629248" y="2294997"/>
            <a:ext cx="3526801" cy="2007207"/>
          </a:xfrm>
          <a:prstGeom prst="rect">
            <a:avLst/>
          </a:prstGeom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98DBBD8F-85D9-4920-9A40-091EFAF67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67" y="5016996"/>
            <a:ext cx="1920240" cy="1539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116834-AAEA-4110-AC66-2FB1F01F4BDB}"/>
              </a:ext>
            </a:extLst>
          </p:cNvPr>
          <p:cNvCxnSpPr/>
          <p:nvPr/>
        </p:nvCxnSpPr>
        <p:spPr>
          <a:xfrm>
            <a:off x="10000327" y="5565636"/>
            <a:ext cx="457200" cy="3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0">
            <a:extLst>
              <a:ext uri="{FF2B5EF4-FFF2-40B4-BE49-F238E27FC236}">
                <a16:creationId xmlns:a16="http://schemas.microsoft.com/office/drawing/2014/main" id="{4A392A0B-F548-4587-8863-FC1F07499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0487" y="5839956"/>
            <a:ext cx="731520" cy="77724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5311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0622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5933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61244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265551" algn="l" defTabSz="130622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3918661" algn="l" defTabSz="130622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4571771" algn="l" defTabSz="130622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5224882" algn="l" defTabSz="130622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320">
                <a:latin typeface="Arial" panose="020B0604020202020204" pitchFamily="34" charset="0"/>
              </a:rPr>
              <a:t>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2889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586507"/>
            <a:ext cx="13269093" cy="1269578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Variance</a:t>
            </a:r>
          </a:p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646D3-C1FB-41E6-B670-1AB2FFF52746}"/>
              </a:ext>
            </a:extLst>
          </p:cNvPr>
          <p:cNvSpPr txBox="1"/>
          <p:nvPr/>
        </p:nvSpPr>
        <p:spPr>
          <a:xfrm flipH="1">
            <a:off x="485386" y="6766560"/>
            <a:ext cx="3776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Online Stats, page 144-151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CE29DEF2-BDB4-40CE-AFDD-D332CB0576B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928" y="158330"/>
            <a:ext cx="4847253" cy="69942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20DE12-4AD8-48A0-BD5A-C06F808076BC}"/>
              </a:ext>
            </a:extLst>
          </p:cNvPr>
          <p:cNvSpPr txBox="1"/>
          <p:nvPr/>
        </p:nvSpPr>
        <p:spPr>
          <a:xfrm>
            <a:off x="710057" y="2173077"/>
            <a:ext cx="63589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How far are the scores from the mean?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D0E7E-8AE8-4B2A-97AC-41A8AA312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2703" y="3403652"/>
            <a:ext cx="3224795" cy="11485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89585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586507"/>
            <a:ext cx="13269093" cy="1269578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Variance and Standard Deviation</a:t>
            </a:r>
          </a:p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646D3-C1FB-41E6-B670-1AB2FFF52746}"/>
              </a:ext>
            </a:extLst>
          </p:cNvPr>
          <p:cNvSpPr txBox="1"/>
          <p:nvPr/>
        </p:nvSpPr>
        <p:spPr>
          <a:xfrm flipH="1">
            <a:off x="485384" y="6766560"/>
            <a:ext cx="7357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Online Stats, page 144-151, Truthful Art, pages 171-172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C58C9A-7939-4320-91E6-F09E4B8AC8A6}"/>
              </a:ext>
            </a:extLst>
          </p:cNvPr>
          <p:cNvSpPr txBox="1"/>
          <p:nvPr/>
        </p:nvSpPr>
        <p:spPr>
          <a:xfrm>
            <a:off x="365760" y="2294997"/>
            <a:ext cx="85953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Quiz A Variance is 1.5 and Quiz B Variance is 6.7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 Standard Deviation is Square root of variance</a:t>
            </a:r>
          </a:p>
          <a:p>
            <a:pPr marL="1109663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Quiz A standard deviation is 1.22</a:t>
            </a:r>
          </a:p>
          <a:p>
            <a:pPr marL="1109663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Quiz B standard deviation is 2.5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+mn-lt"/>
            </a:endParaRPr>
          </a:p>
        </p:txBody>
      </p:sp>
      <p:pic>
        <p:nvPicPr>
          <p:cNvPr id="8" name="Picture 7" descr="A picture containing table, standing, sitting, man&#10;&#10;Description automatically generated">
            <a:extLst>
              <a:ext uri="{FF2B5EF4-FFF2-40B4-BE49-F238E27FC236}">
                <a16:creationId xmlns:a16="http://schemas.microsoft.com/office/drawing/2014/main" id="{6F6698ED-4735-48B9-95D2-B22E59AB61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3872" y="953037"/>
            <a:ext cx="2194530" cy="59757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8340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4C4C4C"/>
                </a:solidFill>
                <a:latin typeface="BentonSans Book" charset="0"/>
              </a:rPr>
              <a:t>Normal Curve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4148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72E1DE-CC4C-4224-B37D-3206457CF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78" y="732811"/>
            <a:ext cx="10682486" cy="6232991"/>
          </a:xfrm>
          <a:prstGeom prst="rect">
            <a:avLst/>
          </a:prstGeom>
        </p:spPr>
      </p:pic>
      <p:sp>
        <p:nvSpPr>
          <p:cNvPr id="7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586507"/>
            <a:ext cx="13269093" cy="1269578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Normal Distribution</a:t>
            </a:r>
          </a:p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646D3-C1FB-41E6-B670-1AB2FFF52746}"/>
              </a:ext>
            </a:extLst>
          </p:cNvPr>
          <p:cNvSpPr txBox="1"/>
          <p:nvPr/>
        </p:nvSpPr>
        <p:spPr>
          <a:xfrm flipH="1">
            <a:off x="10960608" y="6650441"/>
            <a:ext cx="3776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Online Stats, page 250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243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73481" y="586507"/>
            <a:ext cx="13269093" cy="1269578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Normal Distribution</a:t>
            </a:r>
          </a:p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646D3-C1FB-41E6-B670-1AB2FFF52746}"/>
              </a:ext>
            </a:extLst>
          </p:cNvPr>
          <p:cNvSpPr txBox="1"/>
          <p:nvPr/>
        </p:nvSpPr>
        <p:spPr>
          <a:xfrm flipH="1">
            <a:off x="7836653" y="6650441"/>
            <a:ext cx="6900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Online Stats, page 250 and Truthful Art, pages 188-190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D61C5E-3ADE-41CA-89B0-847D9E109C7A}"/>
              </a:ext>
            </a:extLst>
          </p:cNvPr>
          <p:cNvSpPr/>
          <p:nvPr/>
        </p:nvSpPr>
        <p:spPr>
          <a:xfrm>
            <a:off x="568411" y="1991362"/>
            <a:ext cx="695405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Symmetric around the mean.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The mean, median, and mode are equal.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The area under the normal curve is equal to 1.0.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Denser in the center and less dense in the 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Defined by two parameters, the mean (μ) and the standard deviation (</a:t>
            </a:r>
            <a:r>
              <a:rPr lang="el-GR" sz="3200" dirty="0">
                <a:latin typeface="+mj-lt"/>
              </a:rPr>
              <a:t>σ).</a:t>
            </a:r>
            <a:endParaRPr lang="en-US" sz="3200" dirty="0">
              <a:latin typeface="+mj-lt"/>
            </a:endParaRPr>
          </a:p>
        </p:txBody>
      </p:sp>
      <p:pic>
        <p:nvPicPr>
          <p:cNvPr id="4" name="Picture 3" descr="A picture containing lamp&#10;&#10;Description automatically generated">
            <a:extLst>
              <a:ext uri="{FF2B5EF4-FFF2-40B4-BE49-F238E27FC236}">
                <a16:creationId xmlns:a16="http://schemas.microsoft.com/office/drawing/2014/main" id="{A6AF28BC-C85C-45B5-9D53-2CD5F29435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836654" y="2458994"/>
            <a:ext cx="6522956" cy="30644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10940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73481" y="586507"/>
            <a:ext cx="13269093" cy="1269578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Normal Distribution: The Empirical Rule</a:t>
            </a:r>
          </a:p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ea typeface="+mn-ea"/>
            </a:endParaRP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9FF011C4-E31A-4F49-8416-110F80244BC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256853" y="1221296"/>
            <a:ext cx="4549535" cy="2893504"/>
          </a:xfrm>
          <a:prstGeom prst="rect">
            <a:avLst/>
          </a:prstGeom>
        </p:spPr>
      </p:pic>
      <p:pic>
        <p:nvPicPr>
          <p:cNvPr id="13" name="Picture 12" descr="A picture containing clock&#10;&#10;Description automatically generated">
            <a:extLst>
              <a:ext uri="{FF2B5EF4-FFF2-40B4-BE49-F238E27FC236}">
                <a16:creationId xmlns:a16="http://schemas.microsoft.com/office/drawing/2014/main" id="{42931C53-5A6E-465F-A86A-7154D0D00BA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256853" y="4431285"/>
            <a:ext cx="4549535" cy="2893505"/>
          </a:xfrm>
          <a:prstGeom prst="rect">
            <a:avLst/>
          </a:prstGeom>
        </p:spPr>
      </p:pic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75B4FD50-5D1E-4BA9-9BC1-87720D7D5D7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389760" y="1855446"/>
            <a:ext cx="7104885" cy="45187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63F211-F690-484A-99B7-761F687066EE}"/>
              </a:ext>
            </a:extLst>
          </p:cNvPr>
          <p:cNvSpPr txBox="1"/>
          <p:nvPr/>
        </p:nvSpPr>
        <p:spPr>
          <a:xfrm flipH="1">
            <a:off x="7836652" y="6650441"/>
            <a:ext cx="610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Online Stats, page 250 and Truthful Art, pages 188-190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101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73481" y="586507"/>
            <a:ext cx="13269093" cy="1269578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Standard Normal Distribution</a:t>
            </a:r>
          </a:p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646D3-C1FB-41E6-B670-1AB2FFF52746}"/>
              </a:ext>
            </a:extLst>
          </p:cNvPr>
          <p:cNvSpPr txBox="1"/>
          <p:nvPr/>
        </p:nvSpPr>
        <p:spPr>
          <a:xfrm flipH="1">
            <a:off x="284369" y="6757611"/>
            <a:ext cx="6013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Online Stats, pages 259-260, Truthful Art, 173-177</a:t>
            </a: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9FF011C4-E31A-4F49-8416-110F80244BC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717" t="11129" r="1466" b="1371"/>
          <a:stretch/>
        </p:blipFill>
        <p:spPr>
          <a:xfrm>
            <a:off x="2631989" y="1989438"/>
            <a:ext cx="7722973" cy="4485504"/>
          </a:xfrm>
          <a:prstGeom prst="rect">
            <a:avLst/>
          </a:prstGeom>
        </p:spPr>
      </p:pic>
      <p:sp>
        <p:nvSpPr>
          <p:cNvPr id="2" name="Arrow: Left 1">
            <a:extLst>
              <a:ext uri="{FF2B5EF4-FFF2-40B4-BE49-F238E27FC236}">
                <a16:creationId xmlns:a16="http://schemas.microsoft.com/office/drawing/2014/main" id="{07455810-603D-4A24-BC54-D61F82C62BDB}"/>
              </a:ext>
            </a:extLst>
          </p:cNvPr>
          <p:cNvSpPr/>
          <p:nvPr/>
        </p:nvSpPr>
        <p:spPr>
          <a:xfrm>
            <a:off x="9687699" y="5597613"/>
            <a:ext cx="1853514" cy="345989"/>
          </a:xfrm>
          <a:prstGeom prst="leftArrow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0F96359A-1411-4566-88F7-E60298E49F54}"/>
              </a:ext>
            </a:extLst>
          </p:cNvPr>
          <p:cNvSpPr/>
          <p:nvPr/>
        </p:nvSpPr>
        <p:spPr>
          <a:xfrm>
            <a:off x="9687699" y="6120861"/>
            <a:ext cx="1853514" cy="345989"/>
          </a:xfrm>
          <a:prstGeom prst="leftArrow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5D25F-F62D-43C1-ABB8-2ADCD41CEF77}"/>
              </a:ext>
            </a:extLst>
          </p:cNvPr>
          <p:cNvSpPr txBox="1"/>
          <p:nvPr/>
        </p:nvSpPr>
        <p:spPr>
          <a:xfrm>
            <a:off x="11553569" y="5488231"/>
            <a:ext cx="27150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Z-score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3F676B-C8B6-4E77-B877-E497EA97A328}"/>
              </a:ext>
            </a:extLst>
          </p:cNvPr>
          <p:cNvSpPr txBox="1"/>
          <p:nvPr/>
        </p:nvSpPr>
        <p:spPr>
          <a:xfrm>
            <a:off x="11553569" y="5937339"/>
            <a:ext cx="27150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 Score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1821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4C4C4C"/>
                </a:solidFill>
                <a:latin typeface="BentonSans Book" charset="0"/>
              </a:rPr>
              <a:t>Showing Uncertainty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6731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112184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Estimating a Characteristic of a Population from a Sample</a:t>
            </a:r>
          </a:p>
        </p:txBody>
      </p:sp>
      <p:pic>
        <p:nvPicPr>
          <p:cNvPr id="3" name="Picture 2" descr="Image result for sample population">
            <a:extLst>
              <a:ext uri="{FF2B5EF4-FFF2-40B4-BE49-F238E27FC236}">
                <a16:creationId xmlns:a16="http://schemas.microsoft.com/office/drawing/2014/main" id="{C48976DB-F70E-45EF-8B37-D62DCD5F2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775" y="2303361"/>
            <a:ext cx="9371365" cy="400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71479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Confidence Interval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>
          <a:xfrm>
            <a:off x="543841" y="1463253"/>
            <a:ext cx="12455468" cy="5509200"/>
          </a:xfrm>
        </p:spPr>
        <p:txBody>
          <a:bodyPr wrap="square" lIns="0" tIns="0" rIns="0" bIns="0" anchor="t">
            <a:spAutoFit/>
          </a:bodyPr>
          <a:lstStyle/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+mn-ea"/>
              </a:rPr>
              <a:t>Tells us the uncertainty around a statistic that you want to report.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+mn-ea"/>
              </a:rPr>
              <a:t>Gives us a margin of error.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+mn-ea"/>
              </a:rPr>
              <a:t>Will contain the population mean for a specified proportion of the time</a:t>
            </a:r>
          </a:p>
          <a:p>
            <a:pPr marL="746125" lvl="1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ea typeface="+mn-ea"/>
              </a:rPr>
              <a:t>Typically 95% or 99% of the time.</a:t>
            </a:r>
          </a:p>
          <a:p>
            <a:pPr marL="746125" lvl="1" indent="-457200" defTabSz="1306221" fontAlgn="auto">
              <a:buFont typeface="Arial" panose="020B0604020202020204" pitchFamily="34" charset="0"/>
              <a:buChar char="•"/>
              <a:defRPr/>
            </a:pPr>
            <a:endParaRPr lang="en-US" sz="2800" dirty="0">
              <a:ea typeface="+mn-ea"/>
            </a:endParaRP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+mn-ea"/>
              </a:rPr>
              <a:t>Example of 95% interval: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endParaRPr lang="en-US" dirty="0">
              <a:ea typeface="+mn-ea"/>
            </a:endParaRPr>
          </a:p>
          <a:p>
            <a:pPr defTabSz="1306221" fontAlgn="auto">
              <a:defRPr/>
            </a:pPr>
            <a:endParaRPr lang="en-US" dirty="0">
              <a:ea typeface="+mn-ea"/>
            </a:endParaRPr>
          </a:p>
          <a:p>
            <a:pPr marL="746125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ea typeface="ＭＳ Ｐゴシック"/>
              </a:rPr>
              <a:t>If repeated samples were taken and the 95% confidence interval computed for each sample, 95% of the intervals would contain the population mean.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endParaRPr lang="en-US" dirty="0"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91A59-EB76-450E-8C75-3618B74FC1D5}"/>
              </a:ext>
            </a:extLst>
          </p:cNvPr>
          <p:cNvSpPr txBox="1"/>
          <p:nvPr/>
        </p:nvSpPr>
        <p:spPr>
          <a:xfrm flipH="1">
            <a:off x="8525814" y="6766347"/>
            <a:ext cx="6220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Online Stats, page 337 and Truthful Art, pages 308-312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EAE3B1-8B4C-470D-977A-9560977C6F92}"/>
              </a:ext>
            </a:extLst>
          </p:cNvPr>
          <p:cNvSpPr/>
          <p:nvPr/>
        </p:nvSpPr>
        <p:spPr>
          <a:xfrm>
            <a:off x="3615828" y="4523229"/>
            <a:ext cx="29097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800" b="1" dirty="0">
                <a:solidFill>
                  <a:srgbClr val="000000"/>
                </a:solidFill>
                <a:latin typeface="+mj-lt"/>
              </a:rPr>
              <a:t>72.85 &lt; μ &lt; 107.15</a:t>
            </a:r>
            <a:endParaRPr lang="en-US" b="1" dirty="0">
              <a:solidFill>
                <a:srgbClr val="000000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8254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1121846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We use the mean and standard deviation to create a margin of error. Why?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B5FF20-1EE0-4DC5-8DEC-E913B8F8B9EF}"/>
              </a:ext>
            </a:extLst>
          </p:cNvPr>
          <p:cNvSpPr txBox="1">
            <a:spLocks/>
          </p:cNvSpPr>
          <p:nvPr/>
        </p:nvSpPr>
        <p:spPr>
          <a:xfrm>
            <a:off x="843374" y="2668250"/>
            <a:ext cx="6819068" cy="1446550"/>
          </a:xfrm>
          <a:prstGeom prst="rect">
            <a:avLst/>
          </a:prstGeom>
        </p:spPr>
        <p:txBody>
          <a:bodyPr anchor="t"/>
          <a:lstStyle>
            <a:lvl1pPr marL="488950" indent="-488950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4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ea typeface="ＭＳ Ｐゴシック"/>
              </a:rPr>
              <a:t>Behavior of sample means:</a:t>
            </a:r>
          </a:p>
          <a:p>
            <a:pPr marL="0" indent="0">
              <a:buNone/>
            </a:pPr>
            <a:r>
              <a:rPr lang="en-US" sz="3200" dirty="0">
                <a:ea typeface="+mn-lt"/>
                <a:cs typeface="+mn-lt"/>
                <a:hlinkClick r:id="rId4"/>
              </a:rPr>
              <a:t>https://youtu.be/fqOOownnkA4</a:t>
            </a:r>
            <a:endParaRPr lang="en-US" sz="3200" dirty="0">
              <a:ea typeface="ＭＳ Ｐゴシック"/>
            </a:endParaRPr>
          </a:p>
          <a:p>
            <a:pPr>
              <a:buNone/>
            </a:pPr>
            <a:r>
              <a:rPr lang="en-US" sz="3200" dirty="0">
                <a:ea typeface="+mn-lt"/>
                <a:cs typeface="+mn-lt"/>
                <a:hlinkClick r:id="rId5"/>
              </a:rPr>
              <a:t>https://youtu.be/cyNqdostWzk</a:t>
            </a:r>
            <a:endParaRPr lang="en-US" dirty="0"/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9D649AF0-5E86-44D5-BBCC-FE9FA3AEBE2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423" y="1438592"/>
            <a:ext cx="4856904" cy="562923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AD36BD-BBFB-4565-A899-97F86268EF93}"/>
              </a:ext>
            </a:extLst>
          </p:cNvPr>
          <p:cNvSpPr txBox="1"/>
          <p:nvPr/>
        </p:nvSpPr>
        <p:spPr>
          <a:xfrm flipH="1">
            <a:off x="542482" y="6667713"/>
            <a:ext cx="6220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Truthful Art, pages 305-307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6597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Standard 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91A59-EB76-450E-8C75-3618B74FC1D5}"/>
              </a:ext>
            </a:extLst>
          </p:cNvPr>
          <p:cNvSpPr txBox="1"/>
          <p:nvPr/>
        </p:nvSpPr>
        <p:spPr>
          <a:xfrm flipH="1">
            <a:off x="7849017" y="6565909"/>
            <a:ext cx="6485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Online Stats, pages 343-348 and Truthful Art, pages 305-308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2DC7CF4-2C44-4A93-9633-FFF538000B0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0057" y="1841999"/>
            <a:ext cx="12988394" cy="4847481"/>
          </a:xfrm>
        </p:spPr>
        <p:txBody>
          <a:bodyPr wrap="square" lIns="0" tIns="0" rIns="0" bIns="0" anchor="t">
            <a:spAutoFit/>
          </a:bodyPr>
          <a:lstStyle/>
          <a:p>
            <a:pPr marL="463550" indent="-457200">
              <a:buFont typeface="Arial" panose="020B0604020202020204" pitchFamily="34" charset="0"/>
              <a:buChar char="•"/>
            </a:pPr>
            <a:r>
              <a:rPr lang="en-US" dirty="0">
                <a:ea typeface="ＭＳ Ｐゴシック"/>
              </a:rPr>
              <a:t>Standard Error (</a:t>
            </a:r>
            <a:r>
              <a:rPr lang="en-US" dirty="0" err="1">
                <a:ea typeface="ＭＳ Ｐゴシック"/>
              </a:rPr>
              <a:t>s</a:t>
            </a:r>
            <a:r>
              <a:rPr lang="en-US" i="1" baseline="-25000" dirty="0" err="1">
                <a:ea typeface="ＭＳ Ｐゴシック"/>
              </a:rPr>
              <a:t>m</a:t>
            </a:r>
            <a:r>
              <a:rPr lang="en-US" dirty="0">
                <a:ea typeface="ＭＳ Ｐゴシック"/>
              </a:rPr>
              <a:t>)</a:t>
            </a:r>
            <a:r>
              <a:rPr lang="en-US" baseline="-25000" dirty="0">
                <a:ea typeface="ＭＳ Ｐゴシック"/>
              </a:rPr>
              <a:t> </a:t>
            </a:r>
            <a:r>
              <a:rPr lang="en-US" dirty="0">
                <a:ea typeface="ＭＳ Ｐゴシック"/>
              </a:rPr>
              <a:t>is the estimate of the distribution of sample means.</a:t>
            </a:r>
          </a:p>
          <a:p>
            <a:pPr marL="463550" indent="-457200">
              <a:buFont typeface="Arial" panose="020B0604020202020204" pitchFamily="34" charset="0"/>
              <a:buChar char="•"/>
            </a:pPr>
            <a:r>
              <a:rPr lang="en-US" dirty="0"/>
              <a:t>How much will the mean of your specific sample size deviate, on average, from the population mean?</a:t>
            </a:r>
          </a:p>
          <a:p>
            <a:pPr marL="463550" indent="-457200">
              <a:buFont typeface="Arial" panose="020B0604020202020204" pitchFamily="34" charset="0"/>
              <a:buChar char="•"/>
            </a:pPr>
            <a:r>
              <a:rPr lang="en-US" dirty="0"/>
              <a:t>We use the standard deviation and sample size of our sample to estimate the standard error.</a:t>
            </a:r>
          </a:p>
          <a:p>
            <a:pPr marL="46355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6355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6355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6355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6355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6A2F0B-BEA9-46F5-9872-DAEF5A86B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228" y="4737581"/>
            <a:ext cx="3246156" cy="21664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8577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Standard Error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>
          <a:xfrm>
            <a:off x="494414" y="1312748"/>
            <a:ext cx="12455468" cy="2970044"/>
          </a:xfrm>
        </p:spPr>
        <p:txBody>
          <a:bodyPr/>
          <a:lstStyle/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+mn-ea"/>
              </a:rPr>
              <a:t>Interested in the weights of 10-year-old children.  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+mn-ea"/>
              </a:rPr>
              <a:t>Take a sample of 9 children 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+mn-ea"/>
              </a:rPr>
              <a:t>Find a mean of 90 pounds and standard deviation of 36 pounds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endParaRPr lang="en-US" dirty="0">
              <a:ea typeface="+mn-ea"/>
            </a:endParaRP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b="1" dirty="0">
                <a:ea typeface="+mn-ea"/>
              </a:rPr>
              <a:t>SE = 36/3 = 12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endParaRPr lang="en-US" dirty="0"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91A59-EB76-450E-8C75-3618B74FC1D5}"/>
              </a:ext>
            </a:extLst>
          </p:cNvPr>
          <p:cNvSpPr txBox="1"/>
          <p:nvPr/>
        </p:nvSpPr>
        <p:spPr>
          <a:xfrm flipH="1">
            <a:off x="218245" y="6686019"/>
            <a:ext cx="4250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Online Stats, page 343</a:t>
            </a:r>
          </a:p>
        </p:txBody>
      </p:sp>
      <p:pic>
        <p:nvPicPr>
          <p:cNvPr id="6" name="Picture 5" descr="Image result for sample population">
            <a:extLst>
              <a:ext uri="{FF2B5EF4-FFF2-40B4-BE49-F238E27FC236}">
                <a16:creationId xmlns:a16="http://schemas.microsoft.com/office/drawing/2014/main" id="{C25E83A0-3FE8-48FA-A4A6-9A138EA05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310" y="3568142"/>
            <a:ext cx="6681106" cy="285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81499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Use Standard Error to Calculate Confidence interval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>
          <a:xfrm>
            <a:off x="494414" y="1312748"/>
            <a:ext cx="7380343" cy="5355312"/>
          </a:xfrm>
        </p:spPr>
        <p:txBody>
          <a:bodyPr/>
          <a:lstStyle/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  <a:ea typeface="+mn-ea"/>
              </a:rPr>
              <a:t>Interested in the weights of 10-year-old children.  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  <a:ea typeface="+mn-ea"/>
              </a:rPr>
              <a:t>Take a sample of 9 children 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  <a:ea typeface="+mn-ea"/>
              </a:rPr>
              <a:t>Find a mean of 90 pounds and standard deviation of 36 pounds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chemeClr val="tx1">
                    <a:lumMod val="20000"/>
                    <a:lumOff val="80000"/>
                  </a:schemeClr>
                </a:solidFill>
                <a:ea typeface="+mn-ea"/>
              </a:rPr>
              <a:t>SE = 36/3 = 12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  <a:ea typeface="+mn-ea"/>
              </a:rPr>
              <a:t>For 95% interval, use +/- 1.96:</a:t>
            </a:r>
          </a:p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	90 - (1.96)(12) = 66.48</a:t>
            </a:r>
          </a:p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	90 + (1.96)(12) = 113.52</a:t>
            </a:r>
          </a:p>
          <a:p>
            <a:pPr marL="463550" indent="-4572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</a:schemeClr>
                </a:solidFill>
                <a:ea typeface="+mn-ea"/>
              </a:rPr>
              <a:t>Confidence Interval:  66.48 to 113.52 pounds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endParaRPr lang="en-US" dirty="0"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91A59-EB76-450E-8C75-3618B74FC1D5}"/>
              </a:ext>
            </a:extLst>
          </p:cNvPr>
          <p:cNvSpPr txBox="1"/>
          <p:nvPr/>
        </p:nvSpPr>
        <p:spPr>
          <a:xfrm flipH="1">
            <a:off x="180304" y="6754410"/>
            <a:ext cx="4250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Online Stats, page 344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90B083-D53B-4215-A886-29D3D1BA79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78" r="24030" b="19225"/>
          <a:stretch/>
        </p:blipFill>
        <p:spPr>
          <a:xfrm>
            <a:off x="7874757" y="1780060"/>
            <a:ext cx="6261229" cy="33239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AD9CFF-046B-4034-A994-D8F58251A3CB}"/>
              </a:ext>
            </a:extLst>
          </p:cNvPr>
          <p:cNvSpPr txBox="1"/>
          <p:nvPr/>
        </p:nvSpPr>
        <p:spPr>
          <a:xfrm>
            <a:off x="7874757" y="5571360"/>
            <a:ext cx="649633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erriweather Light"/>
              </a:rPr>
              <a:t>Sampling Distribution of the mean for N=9.  The middle 95% is shaded.  # of standard errors shown below the weights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9281AF-3DA7-4DC2-A494-E01E22BFFAD1}"/>
              </a:ext>
            </a:extLst>
          </p:cNvPr>
          <p:cNvSpPr txBox="1"/>
          <p:nvPr/>
        </p:nvSpPr>
        <p:spPr>
          <a:xfrm>
            <a:off x="10861742" y="5104048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A194F-C33F-405A-B536-E8E0E1DBE565}"/>
              </a:ext>
            </a:extLst>
          </p:cNvPr>
          <p:cNvSpPr txBox="1"/>
          <p:nvPr/>
        </p:nvSpPr>
        <p:spPr>
          <a:xfrm>
            <a:off x="11650750" y="5104048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46EF43-5333-43B0-9A8C-6797C1EF08DA}"/>
              </a:ext>
            </a:extLst>
          </p:cNvPr>
          <p:cNvSpPr txBox="1"/>
          <p:nvPr/>
        </p:nvSpPr>
        <p:spPr>
          <a:xfrm>
            <a:off x="12585540" y="5104048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DBD0DE-8584-47DD-9C23-32ED71C8E8A3}"/>
              </a:ext>
            </a:extLst>
          </p:cNvPr>
          <p:cNvSpPr txBox="1"/>
          <p:nvPr/>
        </p:nvSpPr>
        <p:spPr>
          <a:xfrm>
            <a:off x="9999843" y="5114512"/>
            <a:ext cx="352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F0BB46-67C0-4FF0-B106-C9F6FF827F0B}"/>
              </a:ext>
            </a:extLst>
          </p:cNvPr>
          <p:cNvSpPr txBox="1"/>
          <p:nvPr/>
        </p:nvSpPr>
        <p:spPr>
          <a:xfrm>
            <a:off x="9137944" y="5114512"/>
            <a:ext cx="352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-2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7229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Discussing Uncertainty Activity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3A7FD32-1DD1-4B31-ABCC-86E6FD5069B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04476" y="1893515"/>
            <a:ext cx="13274793" cy="1369606"/>
          </a:xfrm>
        </p:spPr>
        <p:txBody>
          <a:bodyPr/>
          <a:lstStyle/>
          <a:p>
            <a:r>
              <a:rPr lang="en-US" u="sng" dirty="0">
                <a:hlinkClick r:id="rId4"/>
              </a:rPr>
              <a:t>https://www.nytimes.com/interactive/2019/08/29/opinion/hurricane-dorian-forecast-map.html</a:t>
            </a:r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5687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4C4C4C"/>
                </a:solidFill>
                <a:latin typeface="BentonSans Book" charset="0"/>
              </a:rPr>
              <a:t>Significance and p-values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3421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/>
          </p:cNvSpPr>
          <p:nvPr>
            <p:ph type="body" idx="1"/>
          </p:nvPr>
        </p:nvSpPr>
        <p:spPr>
          <a:xfrm>
            <a:off x="1081560" y="3847453"/>
            <a:ext cx="12875740" cy="3716912"/>
          </a:xfrm>
        </p:spPr>
        <p:txBody>
          <a:bodyPr anchor="t"/>
          <a:lstStyle>
            <a:defPPr>
              <a:defRPr lang="en-US"/>
            </a:defPPr>
            <a:lvl1pPr marL="0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3110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6220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9331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12441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5551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18661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1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24882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2780" lvl="1" indent="-407670">
              <a:buFont typeface="Arial" panose="020B0604020202020204" pitchFamily="34" charset="0"/>
              <a:buChar char="•"/>
            </a:pPr>
            <a:r>
              <a:rPr lang="en-US" altLang="en-US" sz="2800" dirty="0"/>
              <a:t>An experiment with 2 groups (in some cases more):</a:t>
            </a:r>
            <a:endParaRPr lang="en-US"/>
          </a:p>
          <a:p>
            <a:pPr marL="1306195" lvl="2" indent="-325120"/>
            <a:r>
              <a:rPr lang="en-US" altLang="en-US" sz="2800" dirty="0"/>
              <a:t>An Experimental Group (receives some intervention)</a:t>
            </a:r>
          </a:p>
          <a:p>
            <a:pPr marL="1306195" lvl="2" indent="-325120"/>
            <a:r>
              <a:rPr lang="en-US" altLang="en-US" sz="2800" dirty="0"/>
              <a:t>A Control Group</a:t>
            </a:r>
          </a:p>
          <a:p>
            <a:pPr marL="652780" lvl="1" indent="-407670">
              <a:buFont typeface="Arial" panose="020B0604020202020204" pitchFamily="34" charset="0"/>
              <a:buChar char="•"/>
            </a:pPr>
            <a:r>
              <a:rPr lang="en-US" altLang="en-US" sz="2800" dirty="0"/>
              <a:t>If groups are randomly assigned, any difference in the outcome between the Experimental and Control groups should be attributable to the research intervention.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4ABC07-B883-4113-B098-57A25877A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Controlled Experiment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AAFF948F-5454-4BA6-94E5-FFADE6F10D9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3213171" y="1272917"/>
            <a:ext cx="7388512" cy="22983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5702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xfrm>
            <a:off x="1348195" y="3555291"/>
            <a:ext cx="11973697" cy="3047176"/>
          </a:xfrm>
        </p:spPr>
        <p:txBody>
          <a:bodyPr>
            <a:normAutofit lnSpcReduction="10000"/>
          </a:bodyPr>
          <a:lstStyle>
            <a:defPPr>
              <a:defRPr lang="en-US"/>
            </a:defPPr>
            <a:lvl1pPr marL="0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3110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6220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9331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12441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5551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18661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1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24882" algn="l" defTabSz="1306220" rtl="0" eaLnBrk="1" latinLnBrk="0" hangingPunct="1"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2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800" dirty="0"/>
              <a:t>Independent (or explanatory) Variable (what influences the outcome)</a:t>
            </a:r>
          </a:p>
          <a:p>
            <a:pPr lvl="2"/>
            <a:r>
              <a:rPr lang="en-US" altLang="en-US" sz="2800" dirty="0"/>
              <a:t>The study condition (experimental vs. control group)</a:t>
            </a:r>
          </a:p>
          <a:p>
            <a:pPr lvl="2"/>
            <a:endParaRPr lang="en-US" altLang="en-US" sz="2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800" dirty="0"/>
              <a:t>Dependent (</a:t>
            </a:r>
            <a:r>
              <a:rPr lang="en-US" altLang="en-US" sz="2800"/>
              <a:t>or response) </a:t>
            </a:r>
            <a:r>
              <a:rPr lang="en-US" altLang="en-US" sz="2800" dirty="0"/>
              <a:t>Variable (what you are trying to change)</a:t>
            </a:r>
          </a:p>
          <a:p>
            <a:pPr lvl="2"/>
            <a:r>
              <a:rPr lang="en-US" altLang="en-US" sz="2800" dirty="0"/>
              <a:t>What ever it is that you are studying as an outcome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40678849-2342-43A3-9012-6ACAF5C30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8" y="601663"/>
            <a:ext cx="13244512" cy="576262"/>
          </a:xfrm>
        </p:spPr>
        <p:txBody>
          <a:bodyPr/>
          <a:lstStyle/>
          <a:p>
            <a:r>
              <a:rPr lang="en-US" dirty="0"/>
              <a:t>Dependent and Independent Variables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C94B5B94-8668-4B72-9264-7B5817120CD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3828537" y="1623678"/>
            <a:ext cx="6329106" cy="14858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55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40678849-2342-43A3-9012-6ACAF5C30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8" y="601663"/>
            <a:ext cx="13244512" cy="576262"/>
          </a:xfrm>
        </p:spPr>
        <p:txBody>
          <a:bodyPr/>
          <a:lstStyle/>
          <a:p>
            <a:r>
              <a:rPr lang="en-US" dirty="0"/>
              <a:t>Hypothesis Testing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5EF7E58-332E-4F67-8843-9181C96984D8}"/>
              </a:ext>
            </a:extLst>
          </p:cNvPr>
          <p:cNvSpPr txBox="1">
            <a:spLocks/>
          </p:cNvSpPr>
          <p:nvPr/>
        </p:nvSpPr>
        <p:spPr>
          <a:xfrm>
            <a:off x="1087395" y="1280160"/>
            <a:ext cx="11439885" cy="4997072"/>
          </a:xfrm>
        </p:spPr>
        <p:txBody>
          <a:bodyPr>
            <a:normAutofit/>
          </a:bodyPr>
          <a:lstStyle>
            <a:defPPr>
              <a:defRPr lang="en-US"/>
            </a:defPPr>
            <a:lvl1pPr marL="0" indent="-488950" algn="l" defTabSz="130622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3110" indent="-407988" algn="l" defTabSz="130622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6220" indent="-325438" algn="l" defTabSz="130622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9331" indent="-325438" algn="l" defTabSz="130622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12441" indent="-325438" algn="l" defTabSz="130622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5551" indent="-326555" algn="l" defTabSz="130622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18661" indent="-326555" algn="l" defTabSz="130622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1" indent="-326555" algn="l" defTabSz="130622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24882" indent="-326555" algn="l" defTabSz="130622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7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2800" b="1" i="1" dirty="0"/>
              <a:t>Null Hypothesis (H</a:t>
            </a:r>
            <a:r>
              <a:rPr lang="en-US" altLang="en-US" sz="2800" b="1" i="1" baseline="-25000" dirty="0"/>
              <a:t>0</a:t>
            </a:r>
            <a:r>
              <a:rPr lang="en-US" altLang="en-US" sz="2800" b="1" i="1" dirty="0"/>
              <a:t>)</a:t>
            </a:r>
            <a:endParaRPr lang="en-US" altLang="en-US" sz="2800" dirty="0"/>
          </a:p>
          <a:p>
            <a:pPr lvl="1"/>
            <a:r>
              <a:rPr lang="en-US" altLang="en-US" sz="2800" dirty="0"/>
              <a:t>States that there is no relationship between the independent and dependent (outcome) variables.</a:t>
            </a:r>
          </a:p>
          <a:p>
            <a:pPr marL="980782" lvl="2" indent="0">
              <a:buNone/>
            </a:pPr>
            <a:endParaRPr lang="en-US" altLang="en-US" sz="2800" dirty="0"/>
          </a:p>
          <a:p>
            <a:pPr marL="980782" lvl="2" indent="0">
              <a:buNone/>
            </a:pPr>
            <a:endParaRPr lang="en-US" alt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b="1" i="1" dirty="0"/>
              <a:t>Alternative Hypothesis (H</a:t>
            </a:r>
            <a:r>
              <a:rPr lang="en-US" altLang="en-US" sz="2800" b="1" i="1" baseline="-25000" dirty="0"/>
              <a:t>A</a:t>
            </a:r>
            <a:r>
              <a:rPr lang="en-US" altLang="en-US" sz="2800" b="1" i="1" dirty="0"/>
              <a:t>)</a:t>
            </a:r>
            <a:endParaRPr lang="en-US" altLang="en-US" sz="2800" dirty="0"/>
          </a:p>
          <a:p>
            <a:pPr lvl="1"/>
            <a:r>
              <a:rPr lang="en-US" altLang="en-US" sz="2800" dirty="0"/>
              <a:t>States that there will be a relationship between the independent and dependent variables</a:t>
            </a:r>
          </a:p>
          <a:p>
            <a:pPr lvl="2"/>
            <a:r>
              <a:rPr lang="en-US" altLang="en-US" sz="2800" dirty="0"/>
              <a:t>The experimental group will differ from controls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06B652-79AF-4F50-AD7B-4C623E3765D9}"/>
              </a:ext>
            </a:extLst>
          </p:cNvPr>
          <p:cNvSpPr/>
          <p:nvPr/>
        </p:nvSpPr>
        <p:spPr>
          <a:xfrm>
            <a:off x="5703185" y="2803558"/>
            <a:ext cx="4042453" cy="646331"/>
          </a:xfrm>
          <a:prstGeom prst="rect">
            <a:avLst/>
          </a:prstGeom>
        </p:spPr>
        <p:txBody>
          <a:bodyPr wrap="none" anchor="t">
            <a:spAutoFit/>
          </a:bodyPr>
          <a:lstStyle/>
          <a:p>
            <a:pPr algn="ctr"/>
            <a:r>
              <a:rPr lang="en-US" altLang="en-US" sz="3600" b="1" i="1" dirty="0">
                <a:latin typeface="Merriweather Light"/>
                <a:ea typeface="ＭＳ Ｐゴシック"/>
              </a:rPr>
              <a:t>H</a:t>
            </a:r>
            <a:r>
              <a:rPr lang="en-US" altLang="en-US" sz="3600" b="1" i="1" baseline="-25000" dirty="0">
                <a:latin typeface="Merriweather Light"/>
                <a:ea typeface="ＭＳ Ｐゴシック"/>
              </a:rPr>
              <a:t>0 </a:t>
            </a:r>
            <a:r>
              <a:rPr lang="en-US" altLang="en-US" sz="3600" b="1" i="1" dirty="0">
                <a:latin typeface="Merriweather Light"/>
                <a:ea typeface="ＭＳ Ｐゴシック"/>
              </a:rPr>
              <a:t>: </a:t>
            </a:r>
            <a:r>
              <a:rPr lang="el-GR" altLang="en-US" sz="3600" b="1" i="1" dirty="0">
                <a:latin typeface="Merriweather Light"/>
                <a:ea typeface="ＭＳ Ｐゴシック"/>
              </a:rPr>
              <a:t>μ</a:t>
            </a:r>
            <a:r>
              <a:rPr lang="en-US" altLang="en-US" sz="3600" b="1" i="1" baseline="-25000" dirty="0">
                <a:latin typeface="Merriweather Light"/>
                <a:ea typeface="ＭＳ Ｐゴシック"/>
              </a:rPr>
              <a:t>treatment </a:t>
            </a:r>
            <a:r>
              <a:rPr lang="en-US" altLang="en-US" sz="3600" b="1" i="1" dirty="0">
                <a:latin typeface="Merriweather Light"/>
                <a:ea typeface="ＭＳ Ｐゴシック"/>
              </a:rPr>
              <a:t>= </a:t>
            </a:r>
            <a:r>
              <a:rPr lang="el-GR" altLang="en-US" sz="3600" b="1" i="1" dirty="0">
                <a:latin typeface="Merriweather Light"/>
                <a:ea typeface="ＭＳ Ｐゴシック"/>
              </a:rPr>
              <a:t>μ</a:t>
            </a:r>
            <a:r>
              <a:rPr lang="en-US" altLang="en-US" sz="3600" b="1" i="1" baseline="-25000" dirty="0">
                <a:latin typeface="Merriweather Light"/>
                <a:ea typeface="ＭＳ Ｐゴシック"/>
              </a:rPr>
              <a:t>control</a:t>
            </a:r>
            <a:endParaRPr lang="en-US" altLang="en-US" sz="3600" b="1" i="1" dirty="0">
              <a:latin typeface="Merriweather Light"/>
              <a:ea typeface="ＭＳ Ｐゴシック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9DAA74-6855-458A-B588-FAA8E8FA8C18}"/>
              </a:ext>
            </a:extLst>
          </p:cNvPr>
          <p:cNvSpPr/>
          <p:nvPr/>
        </p:nvSpPr>
        <p:spPr>
          <a:xfrm>
            <a:off x="5703184" y="5954066"/>
            <a:ext cx="4104970" cy="646331"/>
          </a:xfrm>
          <a:prstGeom prst="rect">
            <a:avLst/>
          </a:prstGeom>
        </p:spPr>
        <p:txBody>
          <a:bodyPr wrap="none" anchor="t">
            <a:spAutoFit/>
          </a:bodyPr>
          <a:lstStyle/>
          <a:p>
            <a:pPr algn="ctr"/>
            <a:r>
              <a:rPr lang="en-US" altLang="en-US" sz="3600" b="1" i="1" dirty="0">
                <a:latin typeface="Merriweather Light"/>
                <a:ea typeface="ＭＳ Ｐゴシック"/>
              </a:rPr>
              <a:t>H</a:t>
            </a:r>
            <a:r>
              <a:rPr lang="en-US" altLang="en-US" sz="3600" b="1" i="1" baseline="-25000" dirty="0">
                <a:latin typeface="Merriweather Light"/>
                <a:ea typeface="ＭＳ Ｐゴシック"/>
              </a:rPr>
              <a:t>A </a:t>
            </a:r>
            <a:r>
              <a:rPr lang="en-US" altLang="en-US" sz="3600" dirty="0">
                <a:latin typeface="Merriweather Light"/>
                <a:ea typeface="ＭＳ Ｐゴシック"/>
              </a:rPr>
              <a:t>: </a:t>
            </a:r>
            <a:r>
              <a:rPr lang="el-GR" altLang="en-US" sz="3600" b="1" i="1" dirty="0">
                <a:latin typeface="Merriweather Light"/>
                <a:ea typeface="ＭＳ Ｐゴシック"/>
              </a:rPr>
              <a:t>μ</a:t>
            </a:r>
            <a:r>
              <a:rPr lang="en-US" altLang="en-US" sz="3600" b="1" i="1" baseline="-25000" dirty="0">
                <a:latin typeface="Merriweather Light"/>
                <a:ea typeface="ＭＳ Ｐゴシック"/>
              </a:rPr>
              <a:t>treatment</a:t>
            </a:r>
            <a:r>
              <a:rPr lang="en-US" altLang="en-US" sz="3600" dirty="0">
                <a:latin typeface="Merriweather Light"/>
                <a:ea typeface="ＭＳ Ｐゴシック"/>
              </a:rPr>
              <a:t> ≠ </a:t>
            </a:r>
            <a:r>
              <a:rPr lang="el-GR" altLang="en-US" sz="3600" b="1" i="1" dirty="0">
                <a:latin typeface="Merriweather Light"/>
                <a:ea typeface="ＭＳ Ｐゴシック"/>
              </a:rPr>
              <a:t>μ</a:t>
            </a:r>
            <a:r>
              <a:rPr lang="en-US" altLang="en-US" sz="3600" b="1" i="1" baseline="-25000" dirty="0">
                <a:latin typeface="Merriweather Light"/>
                <a:ea typeface="ＭＳ Ｐゴシック"/>
              </a:rPr>
              <a:t>control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22258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549272"/>
            <a:ext cx="13269093" cy="577081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 What are p-values?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>
          <a:xfrm>
            <a:off x="494414" y="1312748"/>
            <a:ext cx="12455468" cy="5786199"/>
          </a:xfrm>
        </p:spPr>
        <p:txBody>
          <a:bodyPr wrap="square" lIns="0" tIns="0" rIns="0" bIns="0" anchor="t">
            <a:spAutoFit/>
          </a:bodyPr>
          <a:lstStyle/>
          <a:p>
            <a:pPr defTabSz="1306221" fontAlgn="auto">
              <a:defRPr/>
            </a:pPr>
            <a:endParaRPr lang="en-US" dirty="0">
              <a:ea typeface="+mn-ea"/>
            </a:endParaRP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+mn-ea"/>
              </a:rPr>
              <a:t>Use p-values to help decide whether to reject null hypothesis.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endParaRPr lang="en-US" dirty="0">
              <a:ea typeface="+mn-ea"/>
            </a:endParaRP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+mn-ea"/>
              </a:rPr>
              <a:t>“A p-value is the probability, under the assumption that there is no true effect or no true difference, of collecting data that shows a difference equal to or more extreme than what you actually observed.”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endParaRPr lang="en-US" dirty="0">
              <a:ea typeface="+mn-ea"/>
            </a:endParaRP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+mn-ea"/>
              </a:rPr>
              <a:t>“A p-value is </a:t>
            </a:r>
            <a:r>
              <a:rPr lang="en-US" i="1" dirty="0">
                <a:ea typeface="+mn-ea"/>
              </a:rPr>
              <a:t>not </a:t>
            </a:r>
            <a:r>
              <a:rPr lang="en-US" dirty="0">
                <a:ea typeface="+mn-ea"/>
              </a:rPr>
              <a:t>the probability of the effect being real.  It is </a:t>
            </a:r>
            <a:r>
              <a:rPr lang="en-US" i="1" dirty="0">
                <a:ea typeface="+mn-ea"/>
              </a:rPr>
              <a:t>not</a:t>
            </a:r>
            <a:r>
              <a:rPr lang="en-US" dirty="0">
                <a:ea typeface="+mn-ea"/>
              </a:rPr>
              <a:t> the probability of the scientist having found a relevant effect.”</a:t>
            </a: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endParaRPr lang="en-US" dirty="0">
              <a:ea typeface="+mn-ea"/>
            </a:endParaRPr>
          </a:p>
          <a:p>
            <a:pPr defTabSz="1306221" fontAlgn="auto">
              <a:defRPr/>
            </a:pPr>
            <a:endParaRPr lang="en-US" dirty="0">
              <a:ea typeface="+mn-ea"/>
            </a:endParaRP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endParaRPr lang="en-US" dirty="0"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676953-6896-4702-8DD0-D6333F3732ED}"/>
              </a:ext>
            </a:extLst>
          </p:cNvPr>
          <p:cNvSpPr txBox="1"/>
          <p:nvPr/>
        </p:nvSpPr>
        <p:spPr>
          <a:xfrm>
            <a:off x="10824172" y="6516742"/>
            <a:ext cx="3561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Truthful Art, pages 321-325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488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549272"/>
            <a:ext cx="13269093" cy="577081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 Power and Effect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>
          <a:xfrm>
            <a:off x="705429" y="1312748"/>
            <a:ext cx="12959560" cy="5201424"/>
          </a:xfrm>
        </p:spPr>
        <p:txBody>
          <a:bodyPr wrap="square" lIns="0" tIns="0" rIns="0" bIns="0" anchor="t">
            <a:spAutoFit/>
          </a:bodyPr>
          <a:lstStyle/>
          <a:p>
            <a:pPr defTabSz="1306221" fontAlgn="auto">
              <a:defRPr/>
            </a:pPr>
            <a:r>
              <a:rPr lang="en-US" sz="3200" b="1" dirty="0">
                <a:ea typeface="+mn-ea"/>
              </a:rPr>
              <a:t>Power: </a:t>
            </a:r>
            <a:r>
              <a:rPr lang="en-US" sz="3200" dirty="0">
                <a:ea typeface="+mn-ea"/>
              </a:rPr>
              <a:t>probability that an experiment will detect an effect of a particular </a:t>
            </a:r>
            <a:r>
              <a:rPr lang="en-US" sz="3200">
                <a:ea typeface="+mn-ea"/>
              </a:rPr>
              <a:t>size. The power depends on sample size:  </a:t>
            </a:r>
          </a:p>
          <a:p>
            <a:pPr defTabSz="1306221">
              <a:defRPr/>
            </a:pPr>
            <a:r>
              <a:rPr lang="en-US" sz="1200" dirty="0">
                <a:ea typeface="+mn-ea"/>
              </a:rPr>
              <a:t>    </a:t>
            </a:r>
          </a:p>
          <a:p>
            <a:pPr marL="746125" lvl="1" indent="-457200" defTabSz="1306221">
              <a:buFont typeface="Arial" panose="020B0604020202020204" pitchFamily="34" charset="0"/>
              <a:buChar char="•"/>
              <a:defRPr/>
            </a:pPr>
            <a:r>
              <a:rPr lang="en-US" sz="3100">
                <a:ea typeface="+mn-ea"/>
              </a:rPr>
              <a:t>An overpowered (large sample) test may detect effects that are not relevant.</a:t>
            </a:r>
          </a:p>
          <a:p>
            <a:pPr marL="746125" lvl="1" indent="-457200" defTabSz="1306221">
              <a:buFont typeface="Arial" panose="020B0604020202020204" pitchFamily="34" charset="0"/>
              <a:buChar char="•"/>
              <a:defRPr/>
            </a:pPr>
            <a:r>
              <a:rPr lang="en-US" sz="3100">
                <a:ea typeface="+mn-ea"/>
              </a:rPr>
              <a:t>An underpowered (small sample) test may not be able to detect a relevant effect.</a:t>
            </a:r>
          </a:p>
          <a:p>
            <a:pPr defTabSz="1306221" fontAlgn="auto">
              <a:defRPr/>
            </a:pPr>
            <a:endParaRPr lang="en-US" sz="3200" dirty="0">
              <a:ea typeface="+mn-ea"/>
            </a:endParaRPr>
          </a:p>
          <a:p>
            <a:pPr defTabSz="1306221" fontAlgn="auto">
              <a:defRPr/>
            </a:pPr>
            <a:r>
              <a:rPr lang="en-US" sz="3200" b="1" dirty="0">
                <a:ea typeface="+mn-ea"/>
              </a:rPr>
              <a:t>Effect Size: </a:t>
            </a:r>
            <a:r>
              <a:rPr lang="en-US" sz="3200" dirty="0">
                <a:ea typeface="+mn-ea"/>
              </a:rPr>
              <a:t>the amount of difference a test can detect. </a:t>
            </a:r>
          </a:p>
          <a:p>
            <a:pPr defTabSz="1306221" fontAlgn="auto">
              <a:defRPr/>
            </a:pPr>
            <a:endParaRPr lang="en-US" sz="3200" dirty="0">
              <a:ea typeface="+mn-ea"/>
            </a:endParaRPr>
          </a:p>
          <a:p>
            <a:pPr marL="463550" indent="-457200" defTabSz="1306221" fontAlgn="auto">
              <a:buFont typeface="Arial" panose="020B0604020202020204" pitchFamily="34" charset="0"/>
              <a:buChar char="•"/>
              <a:defRPr/>
            </a:pPr>
            <a:endParaRPr lang="en-US" sz="3200" dirty="0"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20A5C6-1931-48E3-9A0B-573EA3149027}"/>
              </a:ext>
            </a:extLst>
          </p:cNvPr>
          <p:cNvSpPr txBox="1"/>
          <p:nvPr/>
        </p:nvSpPr>
        <p:spPr>
          <a:xfrm>
            <a:off x="10824172" y="6516742"/>
            <a:ext cx="3561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Truthful Art, pages 321-325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51171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10057" y="549272"/>
            <a:ext cx="13269093" cy="577081"/>
          </a:xfrm>
          <a:prstGeom prst="rect">
            <a:avLst/>
          </a:prstGeom>
        </p:spPr>
        <p:txBody>
          <a:bodyPr/>
          <a:lstStyle/>
          <a:p>
            <a:pPr defTabSz="1306221" fontAlgn="auto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ea typeface="+mn-ea"/>
              </a:rPr>
              <a:t> p-hacking activity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C527FEF-7C76-402C-BC28-7134C996744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0057" y="1187089"/>
            <a:ext cx="13274793" cy="443198"/>
          </a:xfrm>
        </p:spPr>
        <p:txBody>
          <a:bodyPr/>
          <a:lstStyle/>
          <a:p>
            <a:r>
              <a:rPr lang="en-US" dirty="0">
                <a:hlinkClick r:id="rId4"/>
              </a:rPr>
              <a:t>https://projects.fivethirtyeight.com/p-hacking/</a:t>
            </a:r>
            <a:endParaRPr lang="en-US" dirty="0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6E72A832-BE1C-423B-B9A4-6EBC170F9AD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778" y="1794055"/>
            <a:ext cx="10513289" cy="521530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95282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30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PPT_Corporate_Template_BentonSans_16.9_c">
  <a:themeElements>
    <a:clrScheme name="Custom 8">
      <a:dk1>
        <a:srgbClr val="666666"/>
      </a:dk1>
      <a:lt1>
        <a:sysClr val="window" lastClr="FFFFFF"/>
      </a:lt1>
      <a:dk2>
        <a:srgbClr val="5B6591"/>
      </a:dk2>
      <a:lt2>
        <a:srgbClr val="FFFFFF"/>
      </a:lt2>
      <a:accent1>
        <a:srgbClr val="1F447D"/>
      </a:accent1>
      <a:accent2>
        <a:srgbClr val="E8762C"/>
      </a:accent2>
      <a:accent3>
        <a:srgbClr val="7099A6"/>
      </a:accent3>
      <a:accent4>
        <a:srgbClr val="59879B"/>
      </a:accent4>
      <a:accent5>
        <a:srgbClr val="4C4C4C"/>
      </a:accent5>
      <a:accent6>
        <a:srgbClr val="C72035"/>
      </a:accent6>
      <a:hlink>
        <a:srgbClr val="EB912C"/>
      </a:hlink>
      <a:folHlink>
        <a:srgbClr val="969696"/>
      </a:folHlink>
    </a:clrScheme>
    <a:fontScheme name="Tableau Corporate Fonts">
      <a:majorFont>
        <a:latin typeface="BentonSans Book"/>
        <a:ea typeface=""/>
        <a:cs typeface=""/>
      </a:majorFont>
      <a:minorFont>
        <a:latin typeface="Merriweather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mpd="sng">
          <a:solidFill>
            <a:schemeClr val="bg1">
              <a:lumMod val="7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PPT_Corporate_Template_BentonSans_16.9_c (1)</Template>
  <TotalTime>0</TotalTime>
  <Words>975</Words>
  <Application>Microsoft Office PowerPoint</Application>
  <PresentationFormat>Custom</PresentationFormat>
  <Paragraphs>146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ＭＳ Ｐゴシック</vt:lpstr>
      <vt:lpstr>Arial</vt:lpstr>
      <vt:lpstr>BentonSans Book</vt:lpstr>
      <vt:lpstr>Gill Sans MT</vt:lpstr>
      <vt:lpstr>Merriweather Light</vt:lpstr>
      <vt:lpstr>PPT_Corporate_Template_BentonSans_16.9_c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Controlled Experiment</vt:lpstr>
      <vt:lpstr>Dependent and Independent Variables</vt:lpstr>
      <vt:lpstr>Hypothesis Testing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2021-11-12T18:56:07Z</dcterms:created>
  <dcterms:modified xsi:type="dcterms:W3CDTF">2021-11-12T18:56:14Z</dcterms:modified>
  <cp:category/>
</cp:coreProperties>
</file>