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75" r:id="rId1"/>
  </p:sldMasterIdLst>
  <p:notesMasterIdLst>
    <p:notesMasterId r:id="rId23"/>
  </p:notesMasterIdLst>
  <p:handoutMasterIdLst>
    <p:handoutMasterId r:id="rId24"/>
  </p:handoutMasterIdLst>
  <p:sldIdLst>
    <p:sldId id="256" r:id="rId2"/>
    <p:sldId id="555" r:id="rId3"/>
    <p:sldId id="560" r:id="rId4"/>
    <p:sldId id="562" r:id="rId5"/>
    <p:sldId id="563" r:id="rId6"/>
    <p:sldId id="257" r:id="rId7"/>
    <p:sldId id="511" r:id="rId8"/>
    <p:sldId id="557" r:id="rId9"/>
    <p:sldId id="538" r:id="rId10"/>
    <p:sldId id="537" r:id="rId11"/>
    <p:sldId id="558" r:id="rId12"/>
    <p:sldId id="547" r:id="rId13"/>
    <p:sldId id="551" r:id="rId14"/>
    <p:sldId id="559" r:id="rId15"/>
    <p:sldId id="1032" r:id="rId16"/>
    <p:sldId id="1033" r:id="rId17"/>
    <p:sldId id="1034" r:id="rId18"/>
    <p:sldId id="1035" r:id="rId19"/>
    <p:sldId id="540" r:id="rId20"/>
    <p:sldId id="552" r:id="rId21"/>
    <p:sldId id="426" r:id="rId22"/>
  </p:sldIdLst>
  <p:sldSz cx="14630400" cy="8229600"/>
  <p:notesSz cx="7010400" cy="9296400"/>
  <p:custDataLst>
    <p:tags r:id="rId25"/>
  </p:custDataLst>
  <p:defaultTextStyle>
    <a:defPPr>
      <a:defRPr lang="en-US"/>
    </a:defPPr>
    <a:lvl1pPr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1pPr>
    <a:lvl2pPr marL="652463" indent="-195263"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2pPr>
    <a:lvl3pPr marL="1304925" indent="-39052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3pPr>
    <a:lvl4pPr marL="1958975" indent="-58737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4pPr>
    <a:lvl5pPr marL="2611438" indent="-782638"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5pPr>
    <a:lvl6pPr marL="2286000" algn="l" defTabSz="457200" rtl="0" eaLnBrk="1" latinLnBrk="0" hangingPunct="1">
      <a:defRPr sz="2600" kern="1200">
        <a:solidFill>
          <a:schemeClr val="tx1"/>
        </a:solidFill>
        <a:latin typeface="Gill Sans MT" charset="0"/>
        <a:ea typeface="ＭＳ Ｐゴシック" charset="0"/>
        <a:cs typeface="ＭＳ Ｐゴシック" charset="0"/>
      </a:defRPr>
    </a:lvl6pPr>
    <a:lvl7pPr marL="2743200" algn="l" defTabSz="457200" rtl="0" eaLnBrk="1" latinLnBrk="0" hangingPunct="1">
      <a:defRPr sz="2600" kern="1200">
        <a:solidFill>
          <a:schemeClr val="tx1"/>
        </a:solidFill>
        <a:latin typeface="Gill Sans MT" charset="0"/>
        <a:ea typeface="ＭＳ Ｐゴシック" charset="0"/>
        <a:cs typeface="ＭＳ Ｐゴシック" charset="0"/>
      </a:defRPr>
    </a:lvl7pPr>
    <a:lvl8pPr marL="3200400" algn="l" defTabSz="457200" rtl="0" eaLnBrk="1" latinLnBrk="0" hangingPunct="1">
      <a:defRPr sz="2600" kern="1200">
        <a:solidFill>
          <a:schemeClr val="tx1"/>
        </a:solidFill>
        <a:latin typeface="Gill Sans MT" charset="0"/>
        <a:ea typeface="ＭＳ Ｐゴシック" charset="0"/>
        <a:cs typeface="ＭＳ Ｐゴシック" charset="0"/>
      </a:defRPr>
    </a:lvl8pPr>
    <a:lvl9pPr marL="3657600" algn="l" defTabSz="457200" rtl="0" eaLnBrk="1" latinLnBrk="0" hangingPunct="1">
      <a:defRPr sz="2600" kern="1200">
        <a:solidFill>
          <a:schemeClr val="tx1"/>
        </a:solidFill>
        <a:latin typeface="Gill Sans MT"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181">
          <p15:clr>
            <a:srgbClr val="A4A3A4"/>
          </p15:clr>
        </p15:guide>
        <p15:guide id="2" orient="horz" pos="369">
          <p15:clr>
            <a:srgbClr val="A4A3A4"/>
          </p15:clr>
        </p15:guide>
        <p15:guide id="3" pos="432">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0000"/>
    <a:srgbClr val="FFFFFF"/>
    <a:srgbClr val="B2E4D7"/>
    <a:srgbClr val="E0E0E0"/>
    <a:srgbClr val="59879B"/>
    <a:srgbClr val="1F447D"/>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960" autoAdjust="0"/>
  </p:normalViewPr>
  <p:slideViewPr>
    <p:cSldViewPr snapToGrid="0">
      <p:cViewPr varScale="1">
        <p:scale>
          <a:sx n="70" d="100"/>
          <a:sy n="70" d="100"/>
        </p:scale>
        <p:origin x="582" y="60"/>
      </p:cViewPr>
      <p:guideLst>
        <p:guide orient="horz" pos="1181"/>
        <p:guide orient="horz" pos="369"/>
        <p:guide pos="43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1851565"/>
          </a:xfrm>
          <a:prstGeom prst="rect">
            <a:avLst/>
          </a:prstGeom>
        </p:spPr>
        <p:txBody>
          <a:bodyPr vert="horz" lIns="162891" tIns="81446" rIns="162891" bIns="81446" rtlCol="0"/>
          <a:lstStyle>
            <a:lvl1pPr algn="l" defTabSz="2326902" fontAlgn="auto">
              <a:spcBef>
                <a:spcPts val="0"/>
              </a:spcBef>
              <a:spcAft>
                <a:spcPts val="0"/>
              </a:spcAft>
              <a:defRPr sz="2100" dirty="0">
                <a:latin typeface="BentonSans Book"/>
                <a:ea typeface="+mn-ea"/>
                <a:cs typeface="+mn-cs"/>
              </a:defRPr>
            </a:lvl1pPr>
          </a:lstStyle>
          <a:p>
            <a:pPr>
              <a:defRPr/>
            </a:pPr>
            <a:endParaRPr lang="en-US"/>
          </a:p>
        </p:txBody>
      </p:sp>
      <p:sp>
        <p:nvSpPr>
          <p:cNvPr id="3" name="Date Placeholder 2"/>
          <p:cNvSpPr>
            <a:spLocks noGrp="1"/>
          </p:cNvSpPr>
          <p:nvPr>
            <p:ph type="dt" sz="quarter" idx="1"/>
          </p:nvPr>
        </p:nvSpPr>
        <p:spPr>
          <a:xfrm>
            <a:off x="3970938" y="0"/>
            <a:ext cx="3037840" cy="1851565"/>
          </a:xfrm>
          <a:prstGeom prst="rect">
            <a:avLst/>
          </a:prstGeom>
        </p:spPr>
        <p:txBody>
          <a:bodyPr vert="horz" lIns="162891" tIns="81446" rIns="162891" bIns="81446" rtlCol="0"/>
          <a:lstStyle>
            <a:lvl1pPr algn="r" defTabSz="2326902" fontAlgn="auto">
              <a:spcBef>
                <a:spcPts val="0"/>
              </a:spcBef>
              <a:spcAft>
                <a:spcPts val="0"/>
              </a:spcAft>
              <a:defRPr sz="2100" smtClean="0">
                <a:latin typeface="BentonSans Book"/>
                <a:ea typeface="+mn-ea"/>
                <a:cs typeface="+mn-cs"/>
              </a:defRPr>
            </a:lvl1pPr>
          </a:lstStyle>
          <a:p>
            <a:pPr>
              <a:defRPr/>
            </a:pPr>
            <a:fld id="{85591767-110F-A243-83F9-36645DAA76CB}" type="datetime1">
              <a:rPr lang="en-US"/>
              <a:pPr>
                <a:defRPr/>
              </a:pPr>
              <a:t>9/13/2021</a:t>
            </a:fld>
            <a:endParaRPr lang="en-US"/>
          </a:p>
        </p:txBody>
      </p:sp>
      <p:sp>
        <p:nvSpPr>
          <p:cNvPr id="4" name="Footer Placeholder 3"/>
          <p:cNvSpPr>
            <a:spLocks noGrp="1"/>
          </p:cNvSpPr>
          <p:nvPr>
            <p:ph type="ftr" sz="quarter" idx="2"/>
          </p:nvPr>
        </p:nvSpPr>
        <p:spPr>
          <a:xfrm>
            <a:off x="0" y="35173311"/>
            <a:ext cx="3037840" cy="1851565"/>
          </a:xfrm>
          <a:prstGeom prst="rect">
            <a:avLst/>
          </a:prstGeom>
        </p:spPr>
        <p:txBody>
          <a:bodyPr vert="horz" lIns="162891" tIns="81446" rIns="162891" bIns="81446" rtlCol="0" anchor="b"/>
          <a:lstStyle>
            <a:lvl1pPr algn="l" defTabSz="2326902" fontAlgn="auto">
              <a:spcBef>
                <a:spcPts val="0"/>
              </a:spcBef>
              <a:spcAft>
                <a:spcPts val="0"/>
              </a:spcAft>
              <a:defRPr sz="2100" dirty="0">
                <a:latin typeface="BentonSans Book"/>
                <a:ea typeface="+mn-ea"/>
                <a:cs typeface="+mn-cs"/>
              </a:defRPr>
            </a:lvl1pPr>
          </a:lstStyle>
          <a:p>
            <a:pPr>
              <a:defRPr/>
            </a:pPr>
            <a:endParaRPr lang="en-US"/>
          </a:p>
        </p:txBody>
      </p:sp>
      <p:sp>
        <p:nvSpPr>
          <p:cNvPr id="5" name="Slide Number Placeholder 4"/>
          <p:cNvSpPr>
            <a:spLocks noGrp="1"/>
          </p:cNvSpPr>
          <p:nvPr>
            <p:ph type="sldNum" sz="quarter" idx="3"/>
          </p:nvPr>
        </p:nvSpPr>
        <p:spPr>
          <a:xfrm>
            <a:off x="3970938" y="35173311"/>
            <a:ext cx="3037840" cy="1851565"/>
          </a:xfrm>
          <a:prstGeom prst="rect">
            <a:avLst/>
          </a:prstGeom>
        </p:spPr>
        <p:txBody>
          <a:bodyPr vert="horz" lIns="162891" tIns="81446" rIns="162891" bIns="81446" rtlCol="0" anchor="b"/>
          <a:lstStyle>
            <a:lvl1pPr algn="r" defTabSz="2326902" fontAlgn="auto">
              <a:spcBef>
                <a:spcPts val="0"/>
              </a:spcBef>
              <a:spcAft>
                <a:spcPts val="0"/>
              </a:spcAft>
              <a:defRPr sz="2100" smtClean="0">
                <a:latin typeface="BentonSans Book"/>
                <a:ea typeface="+mn-ea"/>
                <a:cs typeface="+mn-cs"/>
              </a:defRPr>
            </a:lvl1pPr>
          </a:lstStyle>
          <a:p>
            <a:pPr>
              <a:defRPr/>
            </a:pPr>
            <a:fld id="{183AF4F7-31B0-B643-9B95-E1F087EE11A4}" type="slidenum">
              <a:rPr lang="en-US"/>
              <a:pPr>
                <a:defRPr/>
              </a:pPr>
              <a:t>‹#›</a:t>
            </a:fld>
            <a:endParaRPr lang="en-US"/>
          </a:p>
        </p:txBody>
      </p:sp>
    </p:spTree>
    <p:extLst>
      <p:ext uri="{BB962C8B-B14F-4D97-AF65-F5344CB8AC3E}">
        <p14:creationId xmlns:p14="http://schemas.microsoft.com/office/powerpoint/2010/main" val="353554104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1851565"/>
          </a:xfrm>
          <a:prstGeom prst="rect">
            <a:avLst/>
          </a:prstGeom>
        </p:spPr>
        <p:txBody>
          <a:bodyPr vert="horz" lIns="162891" tIns="81446" rIns="162891" bIns="81446" rtlCol="0"/>
          <a:lstStyle>
            <a:lvl1pPr algn="l" defTabSz="2326902" fontAlgn="auto">
              <a:spcBef>
                <a:spcPts val="0"/>
              </a:spcBef>
              <a:spcAft>
                <a:spcPts val="0"/>
              </a:spcAft>
              <a:defRPr sz="2100" dirty="0">
                <a:latin typeface="BentonSans Book"/>
                <a:ea typeface="+mn-ea"/>
                <a:cs typeface="+mn-cs"/>
              </a:defRPr>
            </a:lvl1pPr>
          </a:lstStyle>
          <a:p>
            <a:pPr>
              <a:defRPr/>
            </a:pPr>
            <a:endParaRPr lang="en-US"/>
          </a:p>
        </p:txBody>
      </p:sp>
      <p:sp>
        <p:nvSpPr>
          <p:cNvPr id="3" name="Date Placeholder 2"/>
          <p:cNvSpPr>
            <a:spLocks noGrp="1"/>
          </p:cNvSpPr>
          <p:nvPr>
            <p:ph type="dt" idx="1"/>
          </p:nvPr>
        </p:nvSpPr>
        <p:spPr>
          <a:xfrm>
            <a:off x="3970938" y="0"/>
            <a:ext cx="3037840" cy="1851565"/>
          </a:xfrm>
          <a:prstGeom prst="rect">
            <a:avLst/>
          </a:prstGeom>
        </p:spPr>
        <p:txBody>
          <a:bodyPr vert="horz" lIns="162891" tIns="81446" rIns="162891" bIns="81446" rtlCol="0"/>
          <a:lstStyle>
            <a:lvl1pPr algn="r" defTabSz="2326902" fontAlgn="auto">
              <a:spcBef>
                <a:spcPts val="0"/>
              </a:spcBef>
              <a:spcAft>
                <a:spcPts val="0"/>
              </a:spcAft>
              <a:defRPr sz="2100" smtClean="0">
                <a:latin typeface="BentonSans Book"/>
                <a:ea typeface="+mn-ea"/>
                <a:cs typeface="+mn-cs"/>
              </a:defRPr>
            </a:lvl1pPr>
          </a:lstStyle>
          <a:p>
            <a:pPr>
              <a:defRPr/>
            </a:pPr>
            <a:fld id="{7850FBDF-363D-BA4E-BF53-7E974FE76827}" type="datetime1">
              <a:rPr lang="en-US"/>
              <a:pPr>
                <a:defRPr/>
              </a:pPr>
              <a:t>9/13/2021</a:t>
            </a:fld>
            <a:endParaRPr lang="en-US"/>
          </a:p>
        </p:txBody>
      </p:sp>
      <p:sp>
        <p:nvSpPr>
          <p:cNvPr id="4" name="Slide Image Placeholder 3"/>
          <p:cNvSpPr>
            <a:spLocks noGrp="1" noRot="1" noChangeAspect="1"/>
          </p:cNvSpPr>
          <p:nvPr>
            <p:ph type="sldImg" idx="2"/>
          </p:nvPr>
        </p:nvSpPr>
        <p:spPr>
          <a:xfrm>
            <a:off x="-8839200" y="2776538"/>
            <a:ext cx="24688800" cy="13887450"/>
          </a:xfrm>
          <a:prstGeom prst="rect">
            <a:avLst/>
          </a:prstGeom>
          <a:noFill/>
          <a:ln w="12700">
            <a:solidFill>
              <a:prstClr val="black"/>
            </a:solidFill>
          </a:ln>
        </p:spPr>
        <p:txBody>
          <a:bodyPr vert="horz" lIns="162891" tIns="81446" rIns="162891" bIns="81446" rtlCol="0" anchor="ctr"/>
          <a:lstStyle/>
          <a:p>
            <a:pPr lvl="0"/>
            <a:endParaRPr lang="en-US" noProof="0"/>
          </a:p>
        </p:txBody>
      </p:sp>
      <p:sp>
        <p:nvSpPr>
          <p:cNvPr id="5" name="Notes Placeholder 4"/>
          <p:cNvSpPr>
            <a:spLocks noGrp="1"/>
          </p:cNvSpPr>
          <p:nvPr>
            <p:ph type="body" sz="quarter" idx="3"/>
          </p:nvPr>
        </p:nvSpPr>
        <p:spPr>
          <a:xfrm>
            <a:off x="701040" y="17589869"/>
            <a:ext cx="5608320" cy="16664086"/>
          </a:xfrm>
          <a:prstGeom prst="rect">
            <a:avLst/>
          </a:prstGeom>
        </p:spPr>
        <p:txBody>
          <a:bodyPr vert="horz" lIns="162891" tIns="81446" rIns="162891" bIns="81446"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35173311"/>
            <a:ext cx="3037840" cy="1851565"/>
          </a:xfrm>
          <a:prstGeom prst="rect">
            <a:avLst/>
          </a:prstGeom>
        </p:spPr>
        <p:txBody>
          <a:bodyPr vert="horz" lIns="162891" tIns="81446" rIns="162891" bIns="81446" rtlCol="0" anchor="b"/>
          <a:lstStyle>
            <a:lvl1pPr algn="l" defTabSz="2326902" fontAlgn="auto">
              <a:spcBef>
                <a:spcPts val="0"/>
              </a:spcBef>
              <a:spcAft>
                <a:spcPts val="0"/>
              </a:spcAft>
              <a:defRPr sz="2100" dirty="0">
                <a:latin typeface="BentonSans Book"/>
                <a:ea typeface="+mn-ea"/>
                <a:cs typeface="+mn-cs"/>
              </a:defRPr>
            </a:lvl1pPr>
          </a:lstStyle>
          <a:p>
            <a:pPr>
              <a:defRPr/>
            </a:pPr>
            <a:endParaRPr lang="en-US"/>
          </a:p>
        </p:txBody>
      </p:sp>
      <p:sp>
        <p:nvSpPr>
          <p:cNvPr id="7" name="Slide Number Placeholder 6"/>
          <p:cNvSpPr>
            <a:spLocks noGrp="1"/>
          </p:cNvSpPr>
          <p:nvPr>
            <p:ph type="sldNum" sz="quarter" idx="5"/>
          </p:nvPr>
        </p:nvSpPr>
        <p:spPr>
          <a:xfrm>
            <a:off x="3970938" y="35173311"/>
            <a:ext cx="3037840" cy="1851565"/>
          </a:xfrm>
          <a:prstGeom prst="rect">
            <a:avLst/>
          </a:prstGeom>
        </p:spPr>
        <p:txBody>
          <a:bodyPr vert="horz" lIns="162891" tIns="81446" rIns="162891" bIns="81446" rtlCol="0" anchor="b"/>
          <a:lstStyle>
            <a:lvl1pPr algn="r" defTabSz="2326902" fontAlgn="auto">
              <a:spcBef>
                <a:spcPts val="0"/>
              </a:spcBef>
              <a:spcAft>
                <a:spcPts val="0"/>
              </a:spcAft>
              <a:defRPr sz="2100" smtClean="0">
                <a:latin typeface="BentonSans Book"/>
                <a:ea typeface="+mn-ea"/>
                <a:cs typeface="+mn-cs"/>
              </a:defRPr>
            </a:lvl1pPr>
          </a:lstStyle>
          <a:p>
            <a:pPr>
              <a:defRPr/>
            </a:pPr>
            <a:fld id="{BE318CCB-9EB4-A04E-B82B-4EF927884A69}" type="slidenum">
              <a:rPr lang="en-US"/>
              <a:pPr>
                <a:defRPr/>
              </a:pPr>
              <a:t>‹#›</a:t>
            </a:fld>
            <a:endParaRPr lang="en-US"/>
          </a:p>
        </p:txBody>
      </p:sp>
    </p:spTree>
    <p:extLst>
      <p:ext uri="{BB962C8B-B14F-4D97-AF65-F5344CB8AC3E}">
        <p14:creationId xmlns:p14="http://schemas.microsoft.com/office/powerpoint/2010/main" val="1518684071"/>
      </p:ext>
    </p:extLst>
  </p:cSld>
  <p:clrMap bg1="lt1" tx1="dk1" bg2="lt2" tx2="dk2" accent1="accent1" accent2="accent2" accent3="accent3" accent4="accent4" accent5="accent5" accent6="accent6" hlink="hlink" folHlink="folHlink"/>
  <p:hf sldNum="0" hdr="0" ftr="0" dt="0"/>
  <p:notesStyle>
    <a:lvl1pPr algn="l" defTabSz="1304925" rtl="0" fontAlgn="base">
      <a:spcBef>
        <a:spcPct val="30000"/>
      </a:spcBef>
      <a:spcAft>
        <a:spcPct val="0"/>
      </a:spcAft>
      <a:defRPr kern="1200">
        <a:solidFill>
          <a:schemeClr val="tx1"/>
        </a:solidFill>
        <a:latin typeface="BentonSans Book"/>
        <a:ea typeface="ＭＳ Ｐゴシック" charset="0"/>
        <a:cs typeface="ＭＳ Ｐゴシック" charset="0"/>
      </a:defRPr>
    </a:lvl1pPr>
    <a:lvl2pPr marL="652463" algn="l" defTabSz="1304925" rtl="0" fontAlgn="base">
      <a:spcBef>
        <a:spcPct val="30000"/>
      </a:spcBef>
      <a:spcAft>
        <a:spcPct val="0"/>
      </a:spcAft>
      <a:defRPr kern="1200">
        <a:solidFill>
          <a:schemeClr val="tx1"/>
        </a:solidFill>
        <a:latin typeface="BentonSans Book"/>
        <a:ea typeface="ＭＳ Ｐゴシック" charset="0"/>
        <a:cs typeface="+mn-cs"/>
      </a:defRPr>
    </a:lvl2pPr>
    <a:lvl3pPr marL="1304925" algn="l" defTabSz="1304925" rtl="0" fontAlgn="base">
      <a:spcBef>
        <a:spcPct val="30000"/>
      </a:spcBef>
      <a:spcAft>
        <a:spcPct val="0"/>
      </a:spcAft>
      <a:defRPr kern="1200">
        <a:solidFill>
          <a:schemeClr val="tx1"/>
        </a:solidFill>
        <a:latin typeface="BentonSans Book"/>
        <a:ea typeface="ＭＳ Ｐゴシック" charset="0"/>
        <a:cs typeface="+mn-cs"/>
      </a:defRPr>
    </a:lvl3pPr>
    <a:lvl4pPr marL="1958975" algn="l" defTabSz="1304925" rtl="0" fontAlgn="base">
      <a:spcBef>
        <a:spcPct val="30000"/>
      </a:spcBef>
      <a:spcAft>
        <a:spcPct val="0"/>
      </a:spcAft>
      <a:defRPr kern="1200">
        <a:solidFill>
          <a:schemeClr val="tx1"/>
        </a:solidFill>
        <a:latin typeface="BentonSans Book"/>
        <a:ea typeface="ＭＳ Ｐゴシック" charset="0"/>
        <a:cs typeface="+mn-cs"/>
      </a:defRPr>
    </a:lvl4pPr>
    <a:lvl5pPr marL="2611438" algn="l" defTabSz="1304925" rtl="0" fontAlgn="base">
      <a:spcBef>
        <a:spcPct val="30000"/>
      </a:spcBef>
      <a:spcAft>
        <a:spcPct val="0"/>
      </a:spcAft>
      <a:defRPr kern="1200">
        <a:solidFill>
          <a:schemeClr val="tx1"/>
        </a:solidFill>
        <a:latin typeface="BentonSans Book"/>
        <a:ea typeface="ＭＳ Ｐゴシック" charset="0"/>
        <a:cs typeface="+mn-cs"/>
      </a:defRPr>
    </a:lvl5pPr>
    <a:lvl6pPr marL="3265550" algn="l" defTabSz="1306221" rtl="0" eaLnBrk="1" latinLnBrk="0" hangingPunct="1">
      <a:defRPr sz="1800" kern="1200">
        <a:solidFill>
          <a:schemeClr val="tx1"/>
        </a:solidFill>
        <a:latin typeface="+mn-lt"/>
        <a:ea typeface="+mn-ea"/>
        <a:cs typeface="+mn-cs"/>
      </a:defRPr>
    </a:lvl6pPr>
    <a:lvl7pPr marL="3918661" algn="l" defTabSz="1306221" rtl="0" eaLnBrk="1" latinLnBrk="0" hangingPunct="1">
      <a:defRPr sz="1800" kern="1200">
        <a:solidFill>
          <a:schemeClr val="tx1"/>
        </a:solidFill>
        <a:latin typeface="+mn-lt"/>
        <a:ea typeface="+mn-ea"/>
        <a:cs typeface="+mn-cs"/>
      </a:defRPr>
    </a:lvl7pPr>
    <a:lvl8pPr marL="4571771" algn="l" defTabSz="1306221" rtl="0" eaLnBrk="1" latinLnBrk="0" hangingPunct="1">
      <a:defRPr sz="1800" kern="1200">
        <a:solidFill>
          <a:schemeClr val="tx1"/>
        </a:solidFill>
        <a:latin typeface="+mn-lt"/>
        <a:ea typeface="+mn-ea"/>
        <a:cs typeface="+mn-cs"/>
      </a:defRPr>
    </a:lvl8pPr>
    <a:lvl9pPr marL="5224882" algn="l" defTabSz="1306221"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Title Slide</a:t>
            </a:r>
          </a:p>
          <a:p>
            <a:pPr>
              <a:spcBef>
                <a:spcPct val="0"/>
              </a:spcBef>
            </a:pPr>
            <a:endParaRPr lang="en-US">
              <a:latin typeface="BentonSans Book"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Section Header</a:t>
            </a:r>
          </a:p>
        </p:txBody>
      </p:sp>
    </p:spTree>
    <p:extLst>
      <p:ext uri="{BB962C8B-B14F-4D97-AF65-F5344CB8AC3E}">
        <p14:creationId xmlns:p14="http://schemas.microsoft.com/office/powerpoint/2010/main" val="1044124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dirty="0"/>
              <a:t>Point out in the Connect pane that we have a long list of native connections to all sorts of data sources.  This is a real strength of Tableau.  For this demonstration, we will focus on a very common data format – an Excel file.</a:t>
            </a:r>
          </a:p>
        </p:txBody>
      </p:sp>
    </p:spTree>
    <p:extLst>
      <p:ext uri="{BB962C8B-B14F-4D97-AF65-F5344CB8AC3E}">
        <p14:creationId xmlns:p14="http://schemas.microsoft.com/office/powerpoint/2010/main" val="922945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dirty="0"/>
              <a:t>For this example we’ll be using the “Global Superstore” Excel file, which you can download from the course website. Superstore is a data set of sales for a global retail chain that sells furniture, office supplies, and technology goods.  We will use this particular data source extensively in this class.</a:t>
            </a:r>
          </a:p>
          <a:p>
            <a:endParaRPr lang="en-US" dirty="0"/>
          </a:p>
        </p:txBody>
      </p:sp>
    </p:spTree>
    <p:extLst>
      <p:ext uri="{BB962C8B-B14F-4D97-AF65-F5344CB8AC3E}">
        <p14:creationId xmlns:p14="http://schemas.microsoft.com/office/powerpoint/2010/main" val="1949908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dirty="0">
                <a:ea typeface="ＭＳ Ｐゴシック"/>
              </a:rPr>
              <a:t>Simply </a:t>
            </a:r>
            <a:r>
              <a:rPr lang="en-US" b="1" dirty="0">
                <a:ea typeface="ＭＳ Ｐゴシック"/>
              </a:rPr>
              <a:t>drag a sheet into the data connection canvas</a:t>
            </a:r>
            <a:r>
              <a:rPr lang="en-US" dirty="0">
                <a:ea typeface="ＭＳ Ｐゴシック"/>
              </a:rPr>
              <a:t>.</a:t>
            </a:r>
            <a:endParaRPr lang="en-US" dirty="0"/>
          </a:p>
        </p:txBody>
      </p:sp>
    </p:spTree>
    <p:extLst>
      <p:ext uri="{BB962C8B-B14F-4D97-AF65-F5344CB8AC3E}">
        <p14:creationId xmlns:p14="http://schemas.microsoft.com/office/powerpoint/2010/main" val="1690447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rPr>
              <a:t>Now Tableau brings us to the Data Source window. </a:t>
            </a:r>
            <a:endParaRPr lang="en-US" dirty="0"/>
          </a:p>
          <a:p>
            <a:r>
              <a:rPr lang="en-US" dirty="0">
                <a:ea typeface="ＭＳ Ｐゴシック"/>
              </a:rPr>
              <a:t>Here we can see the name of the file – and here we can </a:t>
            </a:r>
            <a:r>
              <a:rPr lang="en-US" dirty="0">
                <a:solidFill>
                  <a:schemeClr val="accent5"/>
                </a:solidFill>
                <a:ea typeface="ＭＳ Ｐゴシック"/>
              </a:rPr>
              <a:t>right-</a:t>
            </a:r>
            <a:r>
              <a:rPr lang="en-US" dirty="0">
                <a:ea typeface="ＭＳ Ｐゴシック"/>
              </a:rPr>
              <a:t>click to rename the connection if desired</a:t>
            </a:r>
          </a:p>
          <a:p>
            <a:r>
              <a:rPr lang="en-US" dirty="0">
                <a:ea typeface="ＭＳ Ｐゴシック"/>
              </a:rPr>
              <a:t>Down below, we can see all the sheets in the Excel file. </a:t>
            </a:r>
          </a:p>
          <a:p>
            <a:r>
              <a:rPr lang="en-US" sz="2800" dirty="0">
                <a:ea typeface="ＭＳ Ｐゴシック"/>
              </a:rPr>
              <a:t>Sheets</a:t>
            </a:r>
            <a:r>
              <a:rPr lang="en-US" dirty="0">
                <a:ea typeface="ＭＳ Ｐゴシック"/>
              </a:rPr>
              <a:t> </a:t>
            </a:r>
            <a:r>
              <a:rPr lang="en-US" sz="2800" dirty="0">
                <a:ea typeface="ＭＳ Ｐゴシック"/>
              </a:rPr>
              <a:t>in Excel are treated the same as tables in databases, and we can choose to connect to a single table or join multiple tables.</a:t>
            </a:r>
            <a:r>
              <a:rPr lang="en-US" dirty="0">
                <a:ea typeface="ＭＳ Ｐゴシック"/>
              </a:rPr>
              <a:t> </a:t>
            </a:r>
            <a:endParaRPr lang="en-US" sz="2800" dirty="0">
              <a:ea typeface="ＭＳ Ｐゴシック" charset="0"/>
            </a:endParaRPr>
          </a:p>
          <a:p>
            <a:endParaRPr lang="en-US" sz="2800" dirty="0">
              <a:ea typeface="ＭＳ Ｐゴシック" charset="0"/>
            </a:endParaRPr>
          </a:p>
          <a:p>
            <a:r>
              <a:rPr lang="en-US" sz="2800" dirty="0">
                <a:ea typeface="ＭＳ Ｐゴシック"/>
              </a:rPr>
              <a:t>Tables can be renamed simply by clicking on the name. The gear icon brings up options related to the data source. </a:t>
            </a:r>
          </a:p>
          <a:p>
            <a:pPr lvl="1"/>
            <a:r>
              <a:rPr lang="en-US" dirty="0">
                <a:ea typeface="ＭＳ Ｐゴシック"/>
              </a:rPr>
              <a:t>We can see the data down in the preview pane.</a:t>
            </a:r>
            <a:endParaRPr lang="en-US" dirty="0"/>
          </a:p>
        </p:txBody>
      </p:sp>
    </p:spTree>
    <p:extLst>
      <p:ext uri="{BB962C8B-B14F-4D97-AF65-F5344CB8AC3E}">
        <p14:creationId xmlns:p14="http://schemas.microsoft.com/office/powerpoint/2010/main" val="3440592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63550" indent="-457200"/>
            <a:r>
              <a:rPr lang="en-US" dirty="0">
                <a:ea typeface="ＭＳ Ｐゴシック"/>
              </a:rPr>
              <a:t>If the column names aren’t ideal, </a:t>
            </a:r>
            <a:r>
              <a:rPr lang="en-US" b="1" dirty="0">
                <a:ea typeface="ＭＳ Ｐゴシック"/>
              </a:rPr>
              <a:t>click on the drop down arrow</a:t>
            </a:r>
            <a:r>
              <a:rPr lang="en-US" dirty="0">
                <a:ea typeface="ＭＳ Ｐゴシック"/>
              </a:rPr>
              <a:t> to the right of the name and select "Rename". </a:t>
            </a:r>
            <a:endParaRPr lang="en-US" dirty="0"/>
          </a:p>
          <a:p>
            <a:r>
              <a:rPr lang="en-US" b="1" dirty="0">
                <a:ea typeface="ＭＳ Ｐゴシック"/>
              </a:rPr>
              <a:t>Clicking on the data type</a:t>
            </a:r>
            <a:r>
              <a:rPr lang="en-US" dirty="0">
                <a:ea typeface="ＭＳ Ｐゴシック"/>
              </a:rPr>
              <a:t> icon changes the default data type for that column. </a:t>
            </a:r>
            <a:endParaRPr lang="en-US" dirty="0"/>
          </a:p>
          <a:p>
            <a:r>
              <a:rPr lang="en-US" dirty="0"/>
              <a:t>Note that we will cover data types in detail in Module Four </a:t>
            </a:r>
          </a:p>
        </p:txBody>
      </p:sp>
    </p:spTree>
    <p:extLst>
      <p:ext uri="{BB962C8B-B14F-4D97-AF65-F5344CB8AC3E}">
        <p14:creationId xmlns:p14="http://schemas.microsoft.com/office/powerpoint/2010/main" val="2312639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Section Header</a:t>
            </a:r>
          </a:p>
        </p:txBody>
      </p:sp>
    </p:spTree>
    <p:extLst>
      <p:ext uri="{BB962C8B-B14F-4D97-AF65-F5344CB8AC3E}">
        <p14:creationId xmlns:p14="http://schemas.microsoft.com/office/powerpoint/2010/main" val="3425455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33303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Section Header</a:t>
            </a:r>
          </a:p>
        </p:txBody>
      </p:sp>
    </p:spTree>
    <p:extLst>
      <p:ext uri="{BB962C8B-B14F-4D97-AF65-F5344CB8AC3E}">
        <p14:creationId xmlns:p14="http://schemas.microsoft.com/office/powerpoint/2010/main" val="399757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04925" rtl="0" eaLnBrk="1" fontAlgn="base" latinLnBrk="0" hangingPunct="1">
              <a:lnSpc>
                <a:spcPct val="100000"/>
              </a:lnSpc>
              <a:spcBef>
                <a:spcPct val="30000"/>
              </a:spcBef>
              <a:spcAft>
                <a:spcPct val="0"/>
              </a:spcAft>
              <a:buClrTx/>
              <a:buSzTx/>
              <a:buFontTx/>
              <a:buNone/>
              <a:tabLst/>
              <a:defRPr/>
            </a:pPr>
            <a:r>
              <a:rPr lang="en-US" b="1" dirty="0"/>
              <a:t>Click on Sheet 1 tab</a:t>
            </a:r>
            <a:r>
              <a:rPr lang="en-US" dirty="0"/>
              <a:t> to open the canvas. If you ever want to go back to the data connection window, simply click on the Data Source tab.</a:t>
            </a:r>
          </a:p>
          <a:p>
            <a:endParaRPr lang="en-US" dirty="0"/>
          </a:p>
          <a:p>
            <a:r>
              <a:rPr lang="en-US" dirty="0"/>
              <a:t>Take time here to describe the data in more detail – this is worthwhile since we will be working with this data extensively in this course:</a:t>
            </a:r>
          </a:p>
          <a:p>
            <a:pPr lvl="0"/>
            <a:r>
              <a:rPr lang="en-US" dirty="0"/>
              <a:t>Discuss the most important fields in the data (category, sales, etc.)</a:t>
            </a:r>
          </a:p>
          <a:p>
            <a:r>
              <a:rPr lang="en-US" dirty="0"/>
              <a:t>Discuss that Dimensions are discrete and Measures are continuous (more on that later in the course)</a:t>
            </a:r>
          </a:p>
          <a:p>
            <a:pPr lvl="0"/>
            <a:r>
              <a:rPr lang="en-US" dirty="0"/>
              <a:t>Show how to click the magnifying glass to search your variables</a:t>
            </a:r>
          </a:p>
          <a:p>
            <a:pPr lvl="0"/>
            <a:r>
              <a:rPr lang="en-US" dirty="0"/>
              <a:t>Show right-click options for the variables (change a variable type, etc.)</a:t>
            </a:r>
          </a:p>
          <a:p>
            <a:pPr lvl="0"/>
            <a:r>
              <a:rPr lang="en-US" dirty="0"/>
              <a:t>Note that we will discuss this user interface in more detail later in the course</a:t>
            </a:r>
          </a:p>
          <a:p>
            <a:endParaRPr lang="en-US" dirty="0"/>
          </a:p>
        </p:txBody>
      </p:sp>
    </p:spTree>
    <p:extLst>
      <p:ext uri="{BB962C8B-B14F-4D97-AF65-F5344CB8AC3E}">
        <p14:creationId xmlns:p14="http://schemas.microsoft.com/office/powerpoint/2010/main" val="3547863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0178"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r>
              <a:rPr lang="en-US" b="1" dirty="0"/>
              <a:t>Do a quick viz example here </a:t>
            </a:r>
          </a:p>
          <a:p>
            <a:r>
              <a:rPr lang="en-US" b="1" dirty="0"/>
              <a:t>Use orders table</a:t>
            </a:r>
            <a:r>
              <a:rPr lang="en-US" dirty="0"/>
              <a:t>(we will go through how to create a viz in much more detail later, but here is a quick preview with a couple important tips)</a:t>
            </a:r>
            <a:r>
              <a:rPr lang="en-US" b="1" dirty="0"/>
              <a:t>:</a:t>
            </a:r>
            <a:endParaRPr lang="en-US" dirty="0"/>
          </a:p>
          <a:p>
            <a:r>
              <a:rPr lang="en-US" dirty="0"/>
              <a:t>Double-click Sales (or Drag sales to rows) – this gives a single bar.  Tableau has aggregated the data.  What if you want to see more detail?</a:t>
            </a:r>
            <a:r>
              <a:rPr lang="en-US" b="1" dirty="0"/>
              <a:t>  </a:t>
            </a:r>
            <a:r>
              <a:rPr lang="en-US" dirty="0"/>
              <a:t>If I want to see Sales at a more granular level, click Analysis, uncheck Aggregate Measures (If you want, you can reduce the size of the circles). Now we have more detail – this is an important feature! For example:</a:t>
            </a:r>
          </a:p>
          <a:p>
            <a:pPr lvl="0"/>
            <a:r>
              <a:rPr lang="en-US" dirty="0"/>
              <a:t>We now see </a:t>
            </a:r>
            <a:r>
              <a:rPr lang="en-US" u="sng" dirty="0"/>
              <a:t>how many</a:t>
            </a:r>
            <a:r>
              <a:rPr lang="en-US" dirty="0"/>
              <a:t> marks there are</a:t>
            </a:r>
          </a:p>
          <a:p>
            <a:pPr lvl="0"/>
            <a:r>
              <a:rPr lang="en-US" dirty="0"/>
              <a:t>We can right-click a mark (or several marks), View Data, Underlying tab, and see the </a:t>
            </a:r>
            <a:r>
              <a:rPr lang="en-US" u="sng" dirty="0"/>
              <a:t>actual data</a:t>
            </a:r>
            <a:r>
              <a:rPr lang="en-US" dirty="0"/>
              <a:t> (nice for investigating outliers, etc.)</a:t>
            </a:r>
          </a:p>
          <a:p>
            <a:endParaRPr lang="en-US" dirty="0"/>
          </a:p>
          <a:p>
            <a:r>
              <a:rPr lang="en-US" dirty="0"/>
              <a:t>Go back and check Aggregate Measures, and bring out Category (double-click).  This gives a total (SUM), which is probably what we want, but we can easily change it to see the average sales price in each category (change to AVERAGE). Sort the bar chart. Use Marks card to adjust color and size, add/remove labels, etc.</a:t>
            </a:r>
          </a:p>
          <a:p>
            <a:endParaRPr lang="en-US" dirty="0"/>
          </a:p>
          <a:p>
            <a:r>
              <a:rPr lang="en-US" dirty="0"/>
              <a:t>Finally, drag out Sales, and drag Number of Records to the shelf.  Discuss the importance of this field, which is automatically calculated for you.  Quick was to see how many are in different categories!</a:t>
            </a:r>
          </a:p>
          <a:p>
            <a:pPr lvl="0"/>
            <a:endParaRPr lang="en-US" dirty="0"/>
          </a:p>
        </p:txBody>
      </p:sp>
    </p:spTree>
    <p:extLst>
      <p:ext uri="{BB962C8B-B14F-4D97-AF65-F5344CB8AC3E}">
        <p14:creationId xmlns:p14="http://schemas.microsoft.com/office/powerpoint/2010/main" val="2379898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Section Header</a:t>
            </a:r>
          </a:p>
        </p:txBody>
      </p:sp>
    </p:spTree>
    <p:extLst>
      <p:ext uri="{BB962C8B-B14F-4D97-AF65-F5344CB8AC3E}">
        <p14:creationId xmlns:p14="http://schemas.microsoft.com/office/powerpoint/2010/main" val="2187826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ＭＳ Ｐゴシック"/>
              </a:rPr>
              <a:t>Let’s apply joins to our Superstore example:</a:t>
            </a:r>
          </a:p>
          <a:p>
            <a:r>
              <a:rPr lang="en-US" dirty="0">
                <a:ea typeface="ＭＳ Ｐゴシック"/>
              </a:rPr>
              <a:t>To add columns from </a:t>
            </a:r>
            <a:r>
              <a:rPr lang="en-US" i="1" dirty="0">
                <a:ea typeface="ＭＳ Ｐゴシック"/>
              </a:rPr>
              <a:t>other tables</a:t>
            </a:r>
            <a:r>
              <a:rPr lang="en-US" dirty="0">
                <a:ea typeface="ＭＳ Ｐゴシック"/>
              </a:rPr>
              <a:t> in the </a:t>
            </a:r>
            <a:r>
              <a:rPr lang="en-US" i="1" dirty="0">
                <a:ea typeface="ＭＳ Ｐゴシック"/>
              </a:rPr>
              <a:t>same data source</a:t>
            </a:r>
            <a:r>
              <a:rPr lang="en-US" dirty="0">
                <a:ea typeface="ＭＳ Ｐゴシック"/>
              </a:rPr>
              <a:t> (i.e. other worksheets in our Excel file), we need to edit our data connection. </a:t>
            </a:r>
          </a:p>
          <a:p>
            <a:r>
              <a:rPr lang="en-US" dirty="0">
                <a:ea typeface="ＭＳ Ｐゴシック"/>
              </a:rPr>
              <a:t> </a:t>
            </a:r>
            <a:r>
              <a:rPr lang="en-US" b="0" dirty="0">
                <a:ea typeface="ＭＳ Ｐゴシック"/>
              </a:rPr>
              <a:t>Click on the Data Source tab. </a:t>
            </a:r>
          </a:p>
          <a:p>
            <a:r>
              <a:rPr lang="en-US" dirty="0">
                <a:ea typeface="ＭＳ Ｐゴシック"/>
              </a:rPr>
              <a:t>Join our R</a:t>
            </a:r>
            <a:r>
              <a:rPr lang="en-US" i="1" dirty="0">
                <a:ea typeface="ＭＳ Ｐゴシック"/>
              </a:rPr>
              <a:t>eturns table</a:t>
            </a:r>
            <a:r>
              <a:rPr lang="en-US" dirty="0">
                <a:ea typeface="ＭＳ Ｐゴシック"/>
              </a:rPr>
              <a:t> to the O</a:t>
            </a:r>
            <a:r>
              <a:rPr lang="en-US" i="1" dirty="0">
                <a:ea typeface="ＭＳ Ｐゴシック"/>
              </a:rPr>
              <a:t>rders table</a:t>
            </a:r>
            <a:r>
              <a:rPr lang="en-US" dirty="0">
                <a:ea typeface="ＭＳ Ｐゴシック"/>
              </a:rPr>
              <a:t>. </a:t>
            </a:r>
          </a:p>
          <a:p>
            <a:r>
              <a:rPr lang="en-US" dirty="0">
                <a:ea typeface="ＭＳ Ｐゴシック"/>
              </a:rPr>
              <a:t>Double click or </a:t>
            </a:r>
            <a:r>
              <a:rPr lang="en-US" b="1" dirty="0">
                <a:ea typeface="ＭＳ Ｐゴシック"/>
              </a:rPr>
              <a:t>drag out Returns</a:t>
            </a:r>
            <a:r>
              <a:rPr lang="en-US" dirty="0">
                <a:ea typeface="ＭＳ Ｐゴシック"/>
              </a:rPr>
              <a:t>. </a:t>
            </a:r>
          </a:p>
          <a:p>
            <a:r>
              <a:rPr lang="en-US" sz="2800" b="1" dirty="0"/>
              <a:t>Click on the join icon</a:t>
            </a:r>
            <a:r>
              <a:rPr lang="en-US" sz="2800" dirty="0"/>
              <a:t> to show the details. </a:t>
            </a:r>
          </a:p>
          <a:p>
            <a:pPr lvl="1"/>
            <a:r>
              <a:rPr lang="en-US" sz="2800" dirty="0"/>
              <a:t>The default join clause is shown here. </a:t>
            </a:r>
          </a:p>
          <a:p>
            <a:pPr lvl="1"/>
            <a:r>
              <a:rPr lang="en-US" sz="2800" dirty="0"/>
              <a:t>Tableau has figured out that Market is a common field between these two tables. </a:t>
            </a:r>
          </a:p>
          <a:p>
            <a:pPr lvl="1"/>
            <a:r>
              <a:rPr lang="en-US" sz="2800" dirty="0"/>
              <a:t>If desired, we could edit the join clause, or even create a new one</a:t>
            </a:r>
          </a:p>
          <a:p>
            <a:pPr lvl="1"/>
            <a:r>
              <a:rPr lang="en-US" sz="2800" dirty="0"/>
              <a:t>For these data we could also select a left join (explain the difference). </a:t>
            </a:r>
          </a:p>
          <a:p>
            <a:pPr lvl="1"/>
            <a:r>
              <a:rPr lang="en-US" sz="2800" dirty="0"/>
              <a:t>For now we’ll </a:t>
            </a:r>
            <a:r>
              <a:rPr lang="en-US" sz="2800" b="1" dirty="0"/>
              <a:t>change it to Left</a:t>
            </a:r>
            <a:r>
              <a:rPr lang="en-US" sz="2800" dirty="0"/>
              <a:t> and close the dialog. </a:t>
            </a:r>
          </a:p>
          <a:p>
            <a:pPr lvl="0" indent="0">
              <a:buNone/>
            </a:pPr>
            <a:r>
              <a:rPr lang="en-US" dirty="0"/>
              <a:t>Again, we can view the data down here and verify the data we’ll be connecting to. </a:t>
            </a:r>
          </a:p>
          <a:p>
            <a:pPr lvl="0" indent="0">
              <a:buNone/>
            </a:pPr>
            <a:r>
              <a:rPr lang="en-US" dirty="0"/>
              <a:t>It looks good, so we’ll click back onto our sheet.  </a:t>
            </a:r>
          </a:p>
          <a:p>
            <a:pPr lvl="0" indent="0">
              <a:buNone/>
            </a:pPr>
            <a:r>
              <a:rPr lang="en-US" dirty="0"/>
              <a:t>We now have columns from both Orders and Returns in our data window and are ready to start our analysis! </a:t>
            </a:r>
          </a:p>
          <a:p>
            <a:endParaRPr lang="en-US" dirty="0"/>
          </a:p>
        </p:txBody>
      </p:sp>
    </p:spTree>
    <p:extLst>
      <p:ext uri="{BB962C8B-B14F-4D97-AF65-F5344CB8AC3E}">
        <p14:creationId xmlns:p14="http://schemas.microsoft.com/office/powerpoint/2010/main" val="1293818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50178"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1306648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198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Tableau Logo</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p:spTree>
      <p:nvGrpSpPr>
        <p:cNvPr id="1" name=""/>
        <p:cNvGrpSpPr/>
        <p:nvPr/>
      </p:nvGrpSpPr>
      <p:grpSpPr>
        <a:xfrm>
          <a:off x="0" y="0"/>
          <a:ext cx="0" cy="0"/>
          <a:chOff x="0" y="0"/>
          <a:chExt cx="0" cy="0"/>
        </a:xfrm>
      </p:grpSpPr>
      <p:pic>
        <p:nvPicPr>
          <p:cNvPr id="5" name="Pictur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1038" y="609600"/>
            <a:ext cx="2593975" cy="539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1530990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ext Placeholder 32"/>
          <p:cNvSpPr>
            <a:spLocks noGrp="1"/>
          </p:cNvSpPr>
          <p:nvPr>
            <p:ph type="body" sz="quarter" idx="11"/>
          </p:nvPr>
        </p:nvSpPr>
        <p:spPr>
          <a:xfrm>
            <a:off x="706102" y="1813044"/>
            <a:ext cx="5337174" cy="3643818"/>
          </a:xfrm>
          <a:prstGeom prst="rect">
            <a:avLst/>
          </a:prstGeom>
        </p:spPr>
        <p:txBody>
          <a:bodyPr vert="horz" lIns="0" tIns="0" rIns="0" bIns="0">
            <a:spAutoFit/>
          </a:bodyPr>
          <a:lstStyle>
            <a:lvl1pPr marL="0" indent="0">
              <a:lnSpc>
                <a:spcPct val="150000"/>
              </a:lnSpc>
              <a:spcBef>
                <a:spcPts val="0"/>
              </a:spcBef>
              <a:buFontTx/>
              <a:buNone/>
              <a:defRPr sz="2800" b="0" i="0" baseline="0">
                <a:solidFill>
                  <a:schemeClr val="accent5"/>
                </a:solidFill>
                <a:latin typeface="Merriweather Light"/>
                <a:cs typeface="Merriweather Light"/>
              </a:defRPr>
            </a:lvl1pPr>
            <a:lvl2pPr marL="0" indent="0">
              <a:lnSpc>
                <a:spcPct val="150000"/>
              </a:lnSpc>
              <a:buFontTx/>
              <a:buNone/>
              <a:defRPr sz="2900" baseline="0">
                <a:solidFill>
                  <a:schemeClr val="accent5"/>
                </a:solidFill>
              </a:defRPr>
            </a:lvl2pPr>
            <a:lvl3pPr marL="0" indent="0">
              <a:lnSpc>
                <a:spcPct val="150000"/>
              </a:lnSpc>
              <a:buFontTx/>
              <a:buNone/>
              <a:defRPr sz="2900" baseline="0">
                <a:solidFill>
                  <a:schemeClr val="accent5"/>
                </a:solidFill>
              </a:defRPr>
            </a:lvl3pPr>
            <a:lvl4pPr marL="0" indent="0">
              <a:lnSpc>
                <a:spcPct val="150000"/>
              </a:lnSpc>
              <a:buFontTx/>
              <a:buNone/>
              <a:defRPr sz="2900" baseline="0">
                <a:solidFill>
                  <a:schemeClr val="accent5"/>
                </a:solidFill>
              </a:defRPr>
            </a:lvl4pPr>
            <a:lvl5pPr marL="0" indent="0">
              <a:lnSpc>
                <a:spcPct val="150000"/>
              </a:lnSpc>
              <a:buFontTx/>
              <a:buNone/>
              <a:defRPr sz="2900" baseline="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2"/>
          <p:cNvSpPr>
            <a:spLocks noGrp="1"/>
          </p:cNvSpPr>
          <p:nvPr>
            <p:ph type="body" sz="quarter" idx="12"/>
          </p:nvPr>
        </p:nvSpPr>
        <p:spPr>
          <a:xfrm>
            <a:off x="8545513" y="1813044"/>
            <a:ext cx="5414961" cy="3643818"/>
          </a:xfrm>
          <a:prstGeom prst="rect">
            <a:avLst/>
          </a:prstGeom>
        </p:spPr>
        <p:txBody>
          <a:bodyPr vert="horz" wrap="square" lIns="0" tIns="0" rIns="0" bIns="0">
            <a:spAutoFit/>
          </a:bodyPr>
          <a:lstStyle>
            <a:lvl1pPr marL="0" marR="0" indent="0" algn="l" defTabSz="1306221" rtl="0" eaLnBrk="1" fontAlgn="auto" latinLnBrk="0" hangingPunct="1">
              <a:lnSpc>
                <a:spcPct val="150000"/>
              </a:lnSpc>
              <a:spcBef>
                <a:spcPts val="0"/>
              </a:spcBef>
              <a:spcAft>
                <a:spcPts val="0"/>
              </a:spcAft>
              <a:buClrTx/>
              <a:buSzTx/>
              <a:buFontTx/>
              <a:buNone/>
              <a:tabLst/>
              <a:defRPr sz="2800" b="0" i="0" baseline="0">
                <a:solidFill>
                  <a:srgbClr val="4C4C4C"/>
                </a:solidFill>
                <a:latin typeface="Merriweather Light"/>
                <a:cs typeface="Merriweather Light"/>
              </a:defRPr>
            </a:lvl1pPr>
            <a:lvl2pPr marL="0" indent="0">
              <a:lnSpc>
                <a:spcPct val="150000"/>
              </a:lnSpc>
              <a:buFontTx/>
              <a:buNone/>
              <a:defRPr sz="2900" baseline="0">
                <a:solidFill>
                  <a:srgbClr val="4C4C4C"/>
                </a:solidFill>
              </a:defRPr>
            </a:lvl2pPr>
            <a:lvl3pPr marL="0" indent="0">
              <a:lnSpc>
                <a:spcPct val="150000"/>
              </a:lnSpc>
              <a:buFontTx/>
              <a:buNone/>
              <a:defRPr sz="2900" baseline="0">
                <a:solidFill>
                  <a:srgbClr val="4C4C4C"/>
                </a:solidFill>
              </a:defRPr>
            </a:lvl3pPr>
            <a:lvl4pPr marL="0" indent="0">
              <a:lnSpc>
                <a:spcPct val="150000"/>
              </a:lnSpc>
              <a:buFontTx/>
              <a:buNone/>
              <a:defRPr sz="2900" baseline="0">
                <a:solidFill>
                  <a:srgbClr val="4C4C4C"/>
                </a:solidFill>
              </a:defRPr>
            </a:lvl4pPr>
            <a:lvl5pPr marL="0" indent="0">
              <a:lnSpc>
                <a:spcPct val="150000"/>
              </a:lnSpc>
              <a:buFontTx/>
              <a:buNone/>
              <a:defRPr sz="2900" baseline="0">
                <a:solidFill>
                  <a:srgbClr val="4C4C4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5"/>
          <p:cNvSpPr>
            <a:spLocks noGrp="1"/>
          </p:cNvSpPr>
          <p:nvPr>
            <p:ph type="body" sz="quarter" idx="13"/>
          </p:nvPr>
        </p:nvSpPr>
        <p:spPr>
          <a:xfrm>
            <a:off x="715321" y="600286"/>
            <a:ext cx="13245154" cy="577081"/>
          </a:xfrm>
          <a:prstGeom prst="rect">
            <a:avLst/>
          </a:prstGeom>
        </p:spPr>
        <p:txBody>
          <a:bodyPr wrap="square" lIns="0" tIns="0" rIns="0" bIns="0">
            <a:spAutoFit/>
          </a:bodyPr>
          <a:lstStyle>
            <a:lvl1pPr marL="0" indent="0">
              <a:lnSpc>
                <a:spcPct val="80000"/>
              </a:lnSpc>
              <a:buFontTx/>
              <a:buNone/>
              <a:defRPr sz="4500" b="0" i="0" baseline="0">
                <a:solidFill>
                  <a:schemeClr val="accent5"/>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2246969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7" name="Picture 6" descr="Bottom_Viz_August-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b="-3328"/>
          <a:stretch/>
        </p:blipFill>
        <p:spPr>
          <a:xfrm>
            <a:off x="0" y="3225800"/>
            <a:ext cx="14630400" cy="3153156"/>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142870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5" name="Picture 4" descr="SectionDivider-03.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658" r="12503"/>
          <a:stretch/>
        </p:blipFill>
        <p:spPr>
          <a:xfrm>
            <a:off x="0" y="2362200"/>
            <a:ext cx="14630400" cy="5482336"/>
          </a:xfrm>
          <a:prstGeom prst="rect">
            <a:avLst/>
          </a:prstGeom>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2254307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7" name="Picture 6" descr="SectionDivider-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541"/>
          <a:stretch/>
        </p:blipFill>
        <p:spPr>
          <a:xfrm>
            <a:off x="0" y="2946400"/>
            <a:ext cx="14630400" cy="4749800"/>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Edit Master text styles</a:t>
            </a:r>
          </a:p>
        </p:txBody>
      </p:sp>
    </p:spTree>
    <p:extLst>
      <p:ext uri="{BB962C8B-B14F-4D97-AF65-F5344CB8AC3E}">
        <p14:creationId xmlns:p14="http://schemas.microsoft.com/office/powerpoint/2010/main" val="476552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4122793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ulti-level content">
    <p:spTree>
      <p:nvGrpSpPr>
        <p:cNvPr id="1" name=""/>
        <p:cNvGrpSpPr/>
        <p:nvPr/>
      </p:nvGrpSpPr>
      <p:grpSpPr>
        <a:xfrm>
          <a:off x="0" y="0"/>
          <a:ext cx="0" cy="0"/>
          <a:chOff x="0" y="0"/>
          <a:chExt cx="0" cy="0"/>
        </a:xfrm>
      </p:grpSpPr>
      <p:sp>
        <p:nvSpPr>
          <p:cNvPr id="18"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
        <p:nvSpPr>
          <p:cNvPr id="4" name="Content Placeholder 2"/>
          <p:cNvSpPr>
            <a:spLocks noGrp="1"/>
          </p:cNvSpPr>
          <p:nvPr>
            <p:ph idx="14"/>
          </p:nvPr>
        </p:nvSpPr>
        <p:spPr>
          <a:xfrm>
            <a:off x="704476" y="1893515"/>
            <a:ext cx="13274793" cy="443198"/>
          </a:xfrm>
          <a:prstGeom prst="rect">
            <a:avLst/>
          </a:prstGeom>
        </p:spPr>
        <p:txBody>
          <a:bodyPr wrap="square" lIns="0" tIns="0" rIns="0" bIns="0">
            <a:spAutoFit/>
          </a:bodyPr>
          <a:lstStyle>
            <a:lvl1pPr marL="6350" indent="0">
              <a:spcBef>
                <a:spcPts val="0"/>
              </a:spcBef>
              <a:spcAft>
                <a:spcPts val="600"/>
              </a:spcAft>
              <a:buSzPct val="100000"/>
              <a:buFont typeface="+mj-lt"/>
              <a:buNone/>
              <a:tabLst/>
              <a:defRPr sz="2800" b="0" i="0" baseline="0">
                <a:solidFill>
                  <a:srgbClr val="4C4C4C"/>
                </a:solidFill>
                <a:latin typeface="Merriweather Light"/>
                <a:cs typeface="Merriweather Light"/>
              </a:defRPr>
            </a:lvl1pPr>
            <a:lvl2pPr marL="288925" indent="0">
              <a:spcBef>
                <a:spcPts val="0"/>
              </a:spcBef>
              <a:spcAft>
                <a:spcPts val="600"/>
              </a:spcAft>
              <a:buSzPct val="100000"/>
              <a:buFont typeface="+mj-lt"/>
              <a:buNone/>
              <a:defRPr sz="2400" baseline="0">
                <a:solidFill>
                  <a:schemeClr val="accent5"/>
                </a:solidFill>
              </a:defRPr>
            </a:lvl2pPr>
            <a:lvl3pPr marL="512763" indent="0">
              <a:spcBef>
                <a:spcPts val="0"/>
              </a:spcBef>
              <a:spcAft>
                <a:spcPts val="600"/>
              </a:spcAft>
              <a:buSzPct val="100000"/>
              <a:buFont typeface="+mj-lt"/>
              <a:buNone/>
              <a:defRPr sz="2100" baseline="0">
                <a:solidFill>
                  <a:schemeClr val="accent5"/>
                </a:solidFill>
              </a:defRPr>
            </a:lvl3pPr>
            <a:lvl4pPr marL="741363" indent="0">
              <a:spcBef>
                <a:spcPts val="0"/>
              </a:spcBef>
              <a:spcAft>
                <a:spcPts val="600"/>
              </a:spcAft>
              <a:buSzPct val="100000"/>
              <a:buFont typeface="+mj-lt"/>
              <a:buNone/>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p:txBody>
      </p:sp>
    </p:spTree>
    <p:extLst>
      <p:ext uri="{BB962C8B-B14F-4D97-AF65-F5344CB8AC3E}">
        <p14:creationId xmlns:p14="http://schemas.microsoft.com/office/powerpoint/2010/main" val="3635177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276599" y="2438401"/>
            <a:ext cx="9133131" cy="761747"/>
          </a:xfrm>
        </p:spPr>
        <p:txBody>
          <a:bodyPr/>
          <a:lstStyle>
            <a:lvl1pPr>
              <a:defRPr sz="5400" baseline="0">
                <a:solidFill>
                  <a:schemeClr val="accent5"/>
                </a:solidFill>
              </a:defRPr>
            </a:lvl1pPr>
          </a:lstStyle>
          <a:p>
            <a:r>
              <a:rPr lang="en-US"/>
              <a:t>Click to edit Master title style</a:t>
            </a:r>
          </a:p>
        </p:txBody>
      </p:sp>
      <p:sp>
        <p:nvSpPr>
          <p:cNvPr id="13" name="Text Placeholder 12"/>
          <p:cNvSpPr>
            <a:spLocks noGrp="1"/>
          </p:cNvSpPr>
          <p:nvPr>
            <p:ph type="body" sz="quarter" idx="11"/>
          </p:nvPr>
        </p:nvSpPr>
        <p:spPr>
          <a:xfrm>
            <a:off x="3561080" y="3733800"/>
            <a:ext cx="8077200" cy="369332"/>
          </a:xfrm>
          <a:prstGeom prst="rect">
            <a:avLst/>
          </a:prstGeom>
        </p:spPr>
        <p:txBody>
          <a:bodyPr lIns="0" tIns="0" rIns="0" bIns="0">
            <a:spAutoFit/>
          </a:bodyPr>
          <a:lstStyle>
            <a:lvl1pPr marL="0" indent="0">
              <a:buNone/>
              <a:defRPr sz="2400" baseline="0">
                <a:solidFill>
                  <a:schemeClr val="accent5"/>
                </a:solidFill>
                <a:latin typeface="Merriweather Light"/>
                <a:cs typeface="Merriweather Light"/>
              </a:defRPr>
            </a:lvl1pPr>
            <a:lvl2pPr marL="653110" indent="0">
              <a:buNone/>
              <a:defRPr sz="1000"/>
            </a:lvl2pPr>
            <a:lvl3pPr marL="1306221" indent="0">
              <a:buNone/>
              <a:defRPr sz="1000"/>
            </a:lvl3pPr>
            <a:lvl4pPr marL="1959331" indent="0">
              <a:buNone/>
              <a:defRPr sz="1000"/>
            </a:lvl4pPr>
            <a:lvl5pPr marL="2612442" indent="0">
              <a:buNone/>
              <a:defRPr sz="1000"/>
            </a:lvl5pPr>
          </a:lstStyle>
          <a:p>
            <a:pPr lvl="0"/>
            <a:r>
              <a:rPr lang="en-US"/>
              <a:t>Edit Master text styles</a:t>
            </a:r>
          </a:p>
        </p:txBody>
      </p:sp>
    </p:spTree>
    <p:extLst>
      <p:ext uri="{BB962C8B-B14F-4D97-AF65-F5344CB8AC3E}">
        <p14:creationId xmlns:p14="http://schemas.microsoft.com/office/powerpoint/2010/main" val="1972645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357" y="1893515"/>
            <a:ext cx="13274793" cy="1631216"/>
          </a:xfrm>
          <a:prstGeom prst="rect">
            <a:avLst/>
          </a:prstGeom>
        </p:spPr>
        <p:txBody>
          <a:bodyPr wrap="square" lIns="0" tIns="0" rIns="0" bIns="0">
            <a:spAutoFit/>
          </a:bodyPr>
          <a:lstStyle>
            <a:lvl1pPr marL="520701" indent="-514350">
              <a:spcBef>
                <a:spcPts val="0"/>
              </a:spcBef>
              <a:spcAft>
                <a:spcPts val="600"/>
              </a:spcAft>
              <a:buSzPct val="100000"/>
              <a:buFont typeface="+mj-lt"/>
              <a:buAutoNum type="arabicPeriod"/>
              <a:tabLst/>
              <a:defRPr sz="2800" baseline="0">
                <a:solidFill>
                  <a:schemeClr val="accent5"/>
                </a:solidFill>
                <a:latin typeface="Merriweather Light"/>
                <a:cs typeface="Merriweather Light"/>
              </a:defRPr>
            </a:lvl1pPr>
            <a:lvl2pPr marL="746125" indent="-457200">
              <a:spcBef>
                <a:spcPts val="0"/>
              </a:spcBef>
              <a:spcAft>
                <a:spcPts val="600"/>
              </a:spcAft>
              <a:buSzPct val="100000"/>
              <a:buFont typeface="+mj-lt"/>
              <a:buAutoNum type="romanUcPeriod"/>
              <a:defRPr sz="2400" baseline="0">
                <a:solidFill>
                  <a:schemeClr val="accent5"/>
                </a:solidFill>
                <a:latin typeface="Merriweather Light"/>
                <a:cs typeface="Merriweather Light"/>
              </a:defRPr>
            </a:lvl2pPr>
            <a:lvl3pPr marL="969963" indent="-457200">
              <a:spcBef>
                <a:spcPts val="0"/>
              </a:spcBef>
              <a:spcAft>
                <a:spcPts val="600"/>
              </a:spcAft>
              <a:buSzPct val="100000"/>
              <a:buFont typeface="+mj-lt"/>
              <a:buAutoNum type="arabicPeriod"/>
              <a:defRPr sz="2100" baseline="0">
                <a:solidFill>
                  <a:schemeClr val="accent5"/>
                </a:solidFill>
                <a:latin typeface="Merriweather Light"/>
                <a:cs typeface="Merriweather Light"/>
              </a:defRPr>
            </a:lvl3pPr>
            <a:lvl4pPr marL="1084262" indent="-342901">
              <a:spcBef>
                <a:spcPts val="0"/>
              </a:spcBef>
              <a:spcAft>
                <a:spcPts val="600"/>
              </a:spcAft>
              <a:buSzPct val="100000"/>
              <a:buFont typeface="+mj-lt"/>
              <a:buAutoNum type="arabicPeriod"/>
              <a:defRPr sz="1800" baseline="0">
                <a:solidFill>
                  <a:schemeClr val="accent5"/>
                </a:solidFill>
              </a:defRPr>
            </a:lvl4pPr>
            <a:lvl5pPr marL="2063749" indent="0">
              <a:buSzPct val="100000"/>
              <a:buFont typeface="+mj-lt"/>
              <a:buNone/>
              <a:defRPr sz="1600">
                <a:solidFill>
                  <a:srgbClr val="4C4C4C"/>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737769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Copy">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476" y="1893515"/>
            <a:ext cx="1327382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rgbClr val="4C4C4C"/>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1644417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Copy - 2 Column">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5331" y="1893749"/>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5"/>
          </p:nvPr>
        </p:nvSpPr>
        <p:spPr>
          <a:xfrm>
            <a:off x="7311907" y="1893515"/>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266054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mp; Copy">
    <p:spTree>
      <p:nvGrpSpPr>
        <p:cNvPr id="1" name=""/>
        <p:cNvGrpSpPr/>
        <p:nvPr/>
      </p:nvGrpSpPr>
      <p:grpSpPr>
        <a:xfrm>
          <a:off x="0" y="0"/>
          <a:ext cx="0" cy="0"/>
          <a:chOff x="0" y="0"/>
          <a:chExt cx="0" cy="0"/>
        </a:xfrm>
      </p:grpSpPr>
      <p:sp>
        <p:nvSpPr>
          <p:cNvPr id="6" name="Content Placeholder 2"/>
          <p:cNvSpPr>
            <a:spLocks noGrp="1"/>
          </p:cNvSpPr>
          <p:nvPr>
            <p:ph idx="13"/>
          </p:nvPr>
        </p:nvSpPr>
        <p:spPr>
          <a:xfrm>
            <a:off x="7329803" y="1887752"/>
            <a:ext cx="6649347" cy="443198"/>
          </a:xfrm>
          <a:prstGeom prst="rect">
            <a:avLst/>
          </a:prstGeom>
        </p:spPr>
        <p:txBody>
          <a:bodyPr wrap="square" lIns="0" tIns="0" rIns="0" bIns="0">
            <a:spAutoFit/>
          </a:bodyPr>
          <a:lstStyle>
            <a:lvl1pPr marL="0" indent="0">
              <a:buSzPct val="100000"/>
              <a:buFont typeface="Arial"/>
              <a:buNone/>
              <a:defRPr sz="2800">
                <a:solidFill>
                  <a:schemeClr val="accent5"/>
                </a:solidFill>
                <a:latin typeface="Merriweather Light"/>
                <a:cs typeface="Merriweather Light"/>
              </a:defRPr>
            </a:lvl1pPr>
            <a:lvl2pPr marL="339725" indent="0">
              <a:buSzPct val="100000"/>
              <a:buFont typeface="Arial"/>
              <a:buNone/>
              <a:defRPr sz="2400">
                <a:solidFill>
                  <a:schemeClr val="accent5"/>
                </a:solidFill>
              </a:defRPr>
            </a:lvl2pPr>
            <a:lvl3pPr marL="692150" indent="0">
              <a:buSzPct val="100000"/>
              <a:buFont typeface="Arial"/>
              <a:buNone/>
              <a:defRPr sz="2100">
                <a:solidFill>
                  <a:schemeClr val="accent5"/>
                </a:solidFill>
              </a:defRPr>
            </a:lvl3pPr>
            <a:lvl4pPr marL="1384301" indent="0">
              <a:buSzPct val="100000"/>
              <a:buFont typeface="Arial"/>
              <a:buNone/>
              <a:defRPr sz="180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Edit Master text styles</a:t>
            </a:r>
          </a:p>
        </p:txBody>
      </p:sp>
      <p:sp>
        <p:nvSpPr>
          <p:cNvPr id="4" name="Picture Placeholder 4"/>
          <p:cNvSpPr>
            <a:spLocks noGrp="1"/>
          </p:cNvSpPr>
          <p:nvPr>
            <p:ph type="pic" sz="quarter" idx="10"/>
          </p:nvPr>
        </p:nvSpPr>
        <p:spPr>
          <a:xfrm>
            <a:off x="704476" y="1869074"/>
            <a:ext cx="6019800" cy="5407933"/>
          </a:xfrm>
          <a:prstGeom prst="rect">
            <a:avLst/>
          </a:prstGeom>
          <a:ln w="6350" cmpd="sng">
            <a:solidFill>
              <a:srgbClr val="666666"/>
            </a:solidFill>
          </a:ln>
        </p:spPr>
        <p:txBody>
          <a:bodyPr lIns="91440" tIns="45720" rIns="91440" bIns="45720"/>
          <a:lstStyle>
            <a:lvl1pPr marL="0" indent="0">
              <a:buFontTx/>
              <a:buNone/>
              <a:defRPr sz="2800">
                <a:solidFill>
                  <a:srgbClr val="4C4C4C"/>
                </a:solidFill>
                <a:latin typeface="Merriweather Light"/>
                <a:cs typeface="Merriweather Light"/>
              </a:defRPr>
            </a:lvl1pPr>
          </a:lstStyle>
          <a:p>
            <a:pPr lvl="0"/>
            <a:r>
              <a:rPr lang="en-US" noProof="0"/>
              <a:t>Click icon to add picture</a:t>
            </a:r>
          </a:p>
        </p:txBody>
      </p:sp>
      <p:sp>
        <p:nvSpPr>
          <p:cNvPr id="7"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732568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704476" y="1893515"/>
            <a:ext cx="13273731" cy="5358966"/>
          </a:xfrm>
          <a:prstGeom prst="rect">
            <a:avLst/>
          </a:prstGeom>
        </p:spPr>
        <p:txBody>
          <a:bodyPr lIns="0" tIns="0" rIns="0" bIns="0"/>
          <a:lstStyle>
            <a:lvl1pPr marL="0" indent="0">
              <a:buSzPct val="120000"/>
              <a:buFontTx/>
              <a:buNone/>
              <a:defRPr sz="2800">
                <a:solidFill>
                  <a:schemeClr val="accent5"/>
                </a:solidFill>
                <a:latin typeface="Merriweather Light"/>
                <a:cs typeface="Merriweather Light"/>
              </a:defRPr>
            </a:lvl1pPr>
          </a:lstStyle>
          <a:p>
            <a:pPr lvl="0"/>
            <a:r>
              <a:rPr lang="en-US" noProof="0"/>
              <a:t>Click icon to add table</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Edit Master text styles</a:t>
            </a:r>
          </a:p>
        </p:txBody>
      </p:sp>
    </p:spTree>
    <p:extLst>
      <p:ext uri="{BB962C8B-B14F-4D97-AF65-F5344CB8AC3E}">
        <p14:creationId xmlns:p14="http://schemas.microsoft.com/office/powerpoint/2010/main" val="3841633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PageImage_NoColorBar">
    <p:spTree>
      <p:nvGrpSpPr>
        <p:cNvPr id="1" name=""/>
        <p:cNvGrpSpPr/>
        <p:nvPr/>
      </p:nvGrpSpPr>
      <p:grpSpPr>
        <a:xfrm>
          <a:off x="0" y="0"/>
          <a:ext cx="0" cy="0"/>
          <a:chOff x="0" y="0"/>
          <a:chExt cx="0" cy="0"/>
        </a:xfrm>
      </p:grpSpPr>
      <p:sp>
        <p:nvSpPr>
          <p:cNvPr id="11" name="Picture Placeholder 2"/>
          <p:cNvSpPr>
            <a:spLocks noGrp="1"/>
          </p:cNvSpPr>
          <p:nvPr>
            <p:ph type="pic" sz="quarter" idx="10"/>
          </p:nvPr>
        </p:nvSpPr>
        <p:spPr>
          <a:xfrm>
            <a:off x="0" y="0"/>
            <a:ext cx="14630400" cy="8229600"/>
          </a:xfrm>
          <a:prstGeom prst="rect">
            <a:avLst/>
          </a:prstGeom>
          <a:solidFill>
            <a:schemeClr val="bg1"/>
          </a:solidFill>
          <a:ln w="6350" cmpd="sng">
            <a:solidFill>
              <a:srgbClr val="666666"/>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p>
        </p:txBody>
      </p:sp>
    </p:spTree>
    <p:extLst>
      <p:ext uri="{BB962C8B-B14F-4D97-AF65-F5344CB8AC3E}">
        <p14:creationId xmlns:p14="http://schemas.microsoft.com/office/powerpoint/2010/main" val="1015207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Page Image w Color Ba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4630400" cy="8229602"/>
          </a:xfrm>
          <a:prstGeom prst="rect">
            <a:avLst/>
          </a:prstGeom>
          <a:ln w="6350" cmpd="sng">
            <a:solidFill>
              <a:schemeClr val="tx1"/>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p>
        </p:txBody>
      </p:sp>
    </p:spTree>
    <p:extLst>
      <p:ext uri="{BB962C8B-B14F-4D97-AF65-F5344CB8AC3E}">
        <p14:creationId xmlns:p14="http://schemas.microsoft.com/office/powerpoint/2010/main" val="3730614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043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2" name="Rectangle 1"/>
          <p:cNvSpPr/>
          <p:nvPr/>
        </p:nvSpPr>
        <p:spPr>
          <a:xfrm>
            <a:off x="0" y="0"/>
            <a:ext cx="14630400" cy="8382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3" name="Picture 6" descr="tableau_rgb.eps"/>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46400" y="3206750"/>
            <a:ext cx="8737600" cy="1816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2496416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3303439"/>
            <a:ext cx="10972800" cy="908518"/>
          </a:xfrm>
        </p:spPr>
        <p:txBody>
          <a:bodyPr anchor="b"/>
          <a:lstStyle>
            <a:lvl1pPr algn="ctr">
              <a:defRPr sz="7200"/>
            </a:lvl1pPr>
          </a:lstStyle>
          <a:p>
            <a:r>
              <a:rPr lang="en-US"/>
              <a:t>Click to edit Master title style</a:t>
            </a:r>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18" indent="0" algn="ctr">
              <a:buNone/>
              <a:defRPr sz="2400"/>
            </a:lvl2pPr>
            <a:lvl3pPr marL="1097236" indent="0" algn="ctr">
              <a:buNone/>
              <a:defRPr sz="2160"/>
            </a:lvl3pPr>
            <a:lvl4pPr marL="1645854" indent="0" algn="ctr">
              <a:buNone/>
              <a:defRPr sz="1920"/>
            </a:lvl4pPr>
            <a:lvl5pPr marL="2194472" indent="0" algn="ctr">
              <a:buNone/>
              <a:defRPr sz="1920"/>
            </a:lvl5pPr>
            <a:lvl6pPr marL="2743091" indent="0" algn="ctr">
              <a:buNone/>
              <a:defRPr sz="1920"/>
            </a:lvl6pPr>
            <a:lvl7pPr marL="3291708" indent="0" algn="ctr">
              <a:buNone/>
              <a:defRPr sz="1920"/>
            </a:lvl7pPr>
            <a:lvl8pPr marL="3840326" indent="0" algn="ctr">
              <a:buNone/>
              <a:defRPr sz="1920"/>
            </a:lvl8pPr>
            <a:lvl9pPr marL="4388945" indent="0" algn="ctr">
              <a:buNone/>
              <a:defRPr sz="1920"/>
            </a:lvl9pPr>
          </a:lstStyle>
          <a:p>
            <a:r>
              <a:rPr lang="en-US"/>
              <a:t>Click to edit Master subtitle style</a:t>
            </a:r>
          </a:p>
        </p:txBody>
      </p:sp>
      <p:sp>
        <p:nvSpPr>
          <p:cNvPr id="4" name="Date Placeholder 3"/>
          <p:cNvSpPr>
            <a:spLocks noGrp="1"/>
          </p:cNvSpPr>
          <p:nvPr>
            <p:ph type="dt" sz="half" idx="10"/>
          </p:nvPr>
        </p:nvSpPr>
        <p:spPr/>
        <p:txBody>
          <a:bodyPr/>
          <a:lstStyle/>
          <a:p>
            <a:fld id="{24917A5A-6B5A-4B1C-9C3F-935E5B3152A9}" type="datetimeFigureOut">
              <a:rPr lang="en-US" smtClean="0"/>
              <a:t>9/13/2021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5010B8-8E82-4410-B725-7DB1198C9C36}" type="slidenum">
              <a:rPr lang="en-US" smtClean="0"/>
              <a:t>‹#›</a:t>
            </a:fld>
            <a:endParaRPr lang="en-US"/>
          </a:p>
        </p:txBody>
      </p:sp>
    </p:spTree>
    <p:extLst>
      <p:ext uri="{BB962C8B-B14F-4D97-AF65-F5344CB8AC3E}">
        <p14:creationId xmlns:p14="http://schemas.microsoft.com/office/powerpoint/2010/main" val="3372014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5" name="Picture 4" descr="Bottom_Viz_August-02.png"/>
          <p:cNvPicPr>
            <a:picLocks noChangeAspect="1"/>
          </p:cNvPicPr>
          <p:nvPr/>
        </p:nvPicPr>
        <p:blipFill rotWithShape="1">
          <a:blip r:embed="rId20" cstate="email">
            <a:extLst>
              <a:ext uri="{28A0092B-C50C-407E-A947-70E740481C1C}">
                <a14:useLocalDpi xmlns:a14="http://schemas.microsoft.com/office/drawing/2010/main" val="0"/>
              </a:ext>
            </a:extLst>
          </a:blip>
          <a:srcRect/>
          <a:stretch/>
        </p:blipFill>
        <p:spPr>
          <a:xfrm flipH="1">
            <a:off x="0" y="6932613"/>
            <a:ext cx="14630400" cy="1296987"/>
          </a:xfrm>
          <a:prstGeom prst="rect">
            <a:avLst/>
          </a:prstGeom>
        </p:spPr>
      </p:pic>
      <p:pic>
        <p:nvPicPr>
          <p:cNvPr id="1027" name="Picture 7" descr="tableau_white.eps"/>
          <p:cNvPicPr>
            <a:picLocks noChangeAspect="1"/>
          </p:cNvPicPr>
          <p:nvPr/>
        </p:nvPicPr>
        <p:blipFill>
          <a:blip r:embed="rId21" cstate="email">
            <a:extLst>
              <a:ext uri="{28A0092B-C50C-407E-A947-70E740481C1C}">
                <a14:useLocalDpi xmlns:a14="http://schemas.microsoft.com/office/drawing/2010/main" val="0"/>
              </a:ext>
            </a:extLst>
          </a:blip>
          <a:srcRect/>
          <a:stretch>
            <a:fillRect/>
          </a:stretch>
        </p:blipFill>
        <p:spPr bwMode="auto">
          <a:xfrm>
            <a:off x="12669838" y="7724775"/>
            <a:ext cx="1727200" cy="360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8" name="Title Placeholder 1"/>
          <p:cNvSpPr>
            <a:spLocks noGrp="1"/>
          </p:cNvSpPr>
          <p:nvPr>
            <p:ph type="title"/>
          </p:nvPr>
        </p:nvSpPr>
        <p:spPr bwMode="auto">
          <a:xfrm>
            <a:off x="712788" y="601314"/>
            <a:ext cx="13244512" cy="5770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spAutoFit/>
          </a:bodyPr>
          <a:lstStyle/>
          <a:p>
            <a:pPr lvl="0"/>
            <a:r>
              <a:rPr lang="en-US"/>
              <a:t>Master Title Style</a:t>
            </a:r>
          </a:p>
        </p:txBody>
      </p:sp>
    </p:spTree>
  </p:cSld>
  <p:clrMap bg1="lt1" tx1="dk1" bg2="lt2" tx2="dk2" accent1="accent1" accent2="accent2" accent3="accent3" accent4="accent4" accent5="accent5" accent6="accent6" hlink="hlink" folHlink="folHlink"/>
  <p:sldLayoutIdLst>
    <p:sldLayoutId id="2147484147" r:id="rId1"/>
    <p:sldLayoutId id="2147484135" r:id="rId2"/>
    <p:sldLayoutId id="2147484148" r:id="rId3"/>
    <p:sldLayoutId id="2147484150" r:id="rId4"/>
    <p:sldLayoutId id="2147484152" r:id="rId5"/>
    <p:sldLayoutId id="2147484136" r:id="rId6"/>
    <p:sldLayoutId id="2147484137" r:id="rId7"/>
    <p:sldLayoutId id="2147484138" r:id="rId8"/>
    <p:sldLayoutId id="2147484139" r:id="rId9"/>
    <p:sldLayoutId id="2147484140" r:id="rId10"/>
    <p:sldLayoutId id="2147484141" r:id="rId11"/>
    <p:sldLayoutId id="2147484142" r:id="rId12"/>
    <p:sldLayoutId id="2147484143" r:id="rId13"/>
    <p:sldLayoutId id="2147484144" r:id="rId14"/>
    <p:sldLayoutId id="2147484145" r:id="rId15"/>
    <p:sldLayoutId id="2147484146" r:id="rId16"/>
    <p:sldLayoutId id="2147484149" r:id="rId17"/>
    <p:sldLayoutId id="2147484153" r:id="rId18"/>
  </p:sldLayoutIdLst>
  <p:txStyles>
    <p:title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p:titleStyle>
    <p:bodyStyle>
      <a:lvl1pPr marL="488950" indent="-488950" algn="l" defTabSz="1304925" rtl="0" eaLnBrk="1" fontAlgn="base" hangingPunct="1">
        <a:spcBef>
          <a:spcPct val="20000"/>
        </a:spcBef>
        <a:spcAft>
          <a:spcPct val="0"/>
        </a:spcAft>
        <a:buFont typeface="Arial" charset="0"/>
        <a:buChar char="•"/>
        <a:defRPr sz="4600" kern="1200">
          <a:solidFill>
            <a:schemeClr val="tx1"/>
          </a:solidFill>
          <a:latin typeface="+mn-lt"/>
          <a:ea typeface="ＭＳ Ｐゴシック" charset="0"/>
          <a:cs typeface="ＭＳ Ｐゴシック" charset="0"/>
        </a:defRPr>
      </a:lvl1pPr>
      <a:lvl2pPr marL="1060450" indent="-407988" algn="l" defTabSz="1304925" rtl="0" eaLnBrk="1" fontAlgn="base" hangingPunct="1">
        <a:spcBef>
          <a:spcPct val="20000"/>
        </a:spcBef>
        <a:spcAft>
          <a:spcPct val="0"/>
        </a:spcAft>
        <a:buFont typeface="Arial" charset="0"/>
        <a:buChar char="–"/>
        <a:defRPr sz="4000" kern="1200">
          <a:solidFill>
            <a:schemeClr val="tx1"/>
          </a:solidFill>
          <a:latin typeface="+mn-lt"/>
          <a:ea typeface="ＭＳ Ｐゴシック" charset="0"/>
          <a:cs typeface="+mn-cs"/>
        </a:defRPr>
      </a:lvl2pPr>
      <a:lvl3pPr marL="1631950" indent="-325438" algn="l" defTabSz="1304925" rtl="0" eaLnBrk="1" fontAlgn="base" hangingPunct="1">
        <a:spcBef>
          <a:spcPct val="20000"/>
        </a:spcBef>
        <a:spcAft>
          <a:spcPct val="0"/>
        </a:spcAft>
        <a:buFont typeface="Arial" charset="0"/>
        <a:buChar char="•"/>
        <a:defRPr sz="3400" kern="1200">
          <a:solidFill>
            <a:schemeClr val="tx1"/>
          </a:solidFill>
          <a:latin typeface="+mn-lt"/>
          <a:ea typeface="ＭＳ Ｐゴシック" charset="0"/>
          <a:cs typeface="+mn-cs"/>
        </a:defRPr>
      </a:lvl3pPr>
      <a:lvl4pPr marL="228441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4pPr>
      <a:lvl5pPr marL="293846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p:bodyStyle>
    <p:otherStyle>
      <a:defPPr>
        <a:defRPr lang="en-US"/>
      </a:defPPr>
      <a:lvl1pPr marL="0" algn="l" defTabSz="1306221" rtl="0" eaLnBrk="1" latinLnBrk="0" hangingPunct="1">
        <a:defRPr sz="2600" kern="1200">
          <a:solidFill>
            <a:schemeClr val="tx1"/>
          </a:solidFill>
          <a:latin typeface="+mn-lt"/>
          <a:ea typeface="+mn-ea"/>
          <a:cs typeface="+mn-cs"/>
        </a:defRPr>
      </a:lvl1pPr>
      <a:lvl2pPr marL="653110" algn="l" defTabSz="1306221" rtl="0" eaLnBrk="1" latinLnBrk="0" hangingPunct="1">
        <a:defRPr sz="2600" kern="1200">
          <a:solidFill>
            <a:schemeClr val="tx1"/>
          </a:solidFill>
          <a:latin typeface="+mn-lt"/>
          <a:ea typeface="+mn-ea"/>
          <a:cs typeface="+mn-cs"/>
        </a:defRPr>
      </a:lvl2pPr>
      <a:lvl3pPr marL="1306221" algn="l" defTabSz="1306221" rtl="0" eaLnBrk="1" latinLnBrk="0" hangingPunct="1">
        <a:defRPr sz="2600" kern="1200">
          <a:solidFill>
            <a:schemeClr val="tx1"/>
          </a:solidFill>
          <a:latin typeface="+mn-lt"/>
          <a:ea typeface="+mn-ea"/>
          <a:cs typeface="+mn-cs"/>
        </a:defRPr>
      </a:lvl3pPr>
      <a:lvl4pPr marL="1959331" algn="l" defTabSz="1306221" rtl="0" eaLnBrk="1" latinLnBrk="0" hangingPunct="1">
        <a:defRPr sz="2600" kern="1200">
          <a:solidFill>
            <a:schemeClr val="tx1"/>
          </a:solidFill>
          <a:latin typeface="+mn-lt"/>
          <a:ea typeface="+mn-ea"/>
          <a:cs typeface="+mn-cs"/>
        </a:defRPr>
      </a:lvl4pPr>
      <a:lvl5pPr marL="2612442" algn="l" defTabSz="1306221" rtl="0" eaLnBrk="1" latinLnBrk="0" hangingPunct="1">
        <a:defRPr sz="2600" kern="1200">
          <a:solidFill>
            <a:schemeClr val="tx1"/>
          </a:solidFill>
          <a:latin typeface="+mn-lt"/>
          <a:ea typeface="+mn-ea"/>
          <a:cs typeface="+mn-cs"/>
        </a:defRPr>
      </a:lvl5pPr>
      <a:lvl6pPr marL="3265550" algn="l" defTabSz="1306221" rtl="0" eaLnBrk="1" latinLnBrk="0" hangingPunct="1">
        <a:defRPr sz="2600" kern="1200">
          <a:solidFill>
            <a:schemeClr val="tx1"/>
          </a:solidFill>
          <a:latin typeface="+mn-lt"/>
          <a:ea typeface="+mn-ea"/>
          <a:cs typeface="+mn-cs"/>
        </a:defRPr>
      </a:lvl6pPr>
      <a:lvl7pPr marL="3918661" algn="l" defTabSz="1306221" rtl="0" eaLnBrk="1" latinLnBrk="0" hangingPunct="1">
        <a:defRPr sz="2600" kern="1200">
          <a:solidFill>
            <a:schemeClr val="tx1"/>
          </a:solidFill>
          <a:latin typeface="+mn-lt"/>
          <a:ea typeface="+mn-ea"/>
          <a:cs typeface="+mn-cs"/>
        </a:defRPr>
      </a:lvl7pPr>
      <a:lvl8pPr marL="4571771" algn="l" defTabSz="1306221" rtl="0" eaLnBrk="1" latinLnBrk="0" hangingPunct="1">
        <a:defRPr sz="2600" kern="1200">
          <a:solidFill>
            <a:schemeClr val="tx1"/>
          </a:solidFill>
          <a:latin typeface="+mn-lt"/>
          <a:ea typeface="+mn-ea"/>
          <a:cs typeface="+mn-cs"/>
        </a:defRPr>
      </a:lvl8pPr>
      <a:lvl9pPr marL="5224882" algn="l" defTabSz="1306221"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5.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tags" Target="../tags/tag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8.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11.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tags" Target="../tags/tag1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video" Target="../media/media1.mp4"/><Relationship Id="rId2" Type="http://schemas.microsoft.com/office/2007/relationships/media" Target="../media/media1.mp4"/><Relationship Id="rId1" Type="http://schemas.openxmlformats.org/officeDocument/2006/relationships/tags" Target="../tags/tag14.xml"/><Relationship Id="rId6" Type="http://schemas.openxmlformats.org/officeDocument/2006/relationships/image" Target="../media/image15.png"/><Relationship Id="rId5" Type="http://schemas.openxmlformats.org/officeDocument/2006/relationships/notesSlide" Target="../notesSlides/notesSlide12.xml"/><Relationship Id="rId4"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20.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video" Target="../media/media2.mp4"/><Relationship Id="rId2" Type="http://schemas.microsoft.com/office/2007/relationships/media" Target="../media/media2.mp4"/><Relationship Id="rId1" Type="http://schemas.openxmlformats.org/officeDocument/2006/relationships/tags" Target="../tags/tag21.xml"/><Relationship Id="rId6" Type="http://schemas.openxmlformats.org/officeDocument/2006/relationships/image" Target="../media/image21.png"/><Relationship Id="rId5" Type="http://schemas.openxmlformats.org/officeDocument/2006/relationships/notesSlide" Target="../notesSlides/notesSlide15.xml"/><Relationship Id="rId4"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705985" y="1891756"/>
            <a:ext cx="13245156" cy="2075633"/>
          </a:xfrm>
          <a:prstGeom prst="rect">
            <a:avLst/>
          </a:prstGeom>
        </p:spPr>
        <p:txBody>
          <a:bodyPr/>
          <a:lstStyle/>
          <a:p>
            <a:pPr defTabSz="1306221" fontAlgn="auto">
              <a:spcAft>
                <a:spcPts val="0"/>
              </a:spcAft>
              <a:defRPr/>
            </a:pPr>
            <a:r>
              <a:rPr lang="en-US" sz="4800" dirty="0"/>
              <a:t>Connecting to</a:t>
            </a:r>
            <a:r>
              <a:rPr lang="en-US" dirty="0"/>
              <a:t> Data in Tableau</a:t>
            </a:r>
          </a:p>
          <a:p>
            <a:pPr defTabSz="1306221" fontAlgn="auto">
              <a:spcAft>
                <a:spcPts val="0"/>
              </a:spcAft>
              <a:defRPr/>
            </a:pPr>
            <a:endParaRPr lang="en-US" sz="2400" dirty="0">
              <a:latin typeface="Merriweather Light"/>
              <a:ea typeface="+mn-ea"/>
              <a:cs typeface="Merriweather Light"/>
            </a:endParaRPr>
          </a:p>
          <a:p>
            <a:pPr defTabSz="1306221" fontAlgn="auto">
              <a:spcAft>
                <a:spcPts val="0"/>
              </a:spcAft>
              <a:defRPr/>
            </a:pPr>
            <a:r>
              <a:rPr lang="en-US" sz="2400" dirty="0"/>
              <a:t>CSC105 – Fall 2021</a:t>
            </a:r>
          </a:p>
          <a:p>
            <a:pPr defTabSz="1306221" fontAlgn="auto">
              <a:spcAft>
                <a:spcPts val="0"/>
              </a:spcAft>
              <a:defRPr/>
            </a:pPr>
            <a:endParaRPr lang="en-US" sz="2400" dirty="0"/>
          </a:p>
          <a:p>
            <a:pPr defTabSz="1306221" fontAlgn="auto">
              <a:spcAft>
                <a:spcPts val="0"/>
              </a:spcAft>
              <a:defRPr/>
            </a:pPr>
            <a:r>
              <a:rPr lang="en-US" sz="2400" dirty="0"/>
              <a:t>Prof. </a:t>
            </a:r>
            <a:r>
              <a:rPr lang="en-US" sz="2400"/>
              <a:t>Earl</a:t>
            </a:r>
            <a:endParaRPr lang="en-US" sz="2400"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67848"/>
          </a:xfrm>
        </p:spPr>
        <p:txBody>
          <a:bodyPr/>
          <a:lstStyle/>
          <a:p>
            <a:r>
              <a:rPr lang="en-US" dirty="0"/>
              <a:t>Connect to Data </a:t>
            </a:r>
          </a:p>
        </p:txBody>
      </p:sp>
    </p:spTree>
    <p:custDataLst>
      <p:tags r:id="rId1"/>
    </p:custDataLst>
    <p:extLst>
      <p:ext uri="{BB962C8B-B14F-4D97-AF65-F5344CB8AC3E}">
        <p14:creationId xmlns:p14="http://schemas.microsoft.com/office/powerpoint/2010/main" val="1093678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3"/>
          </p:nvPr>
        </p:nvSpPr>
        <p:spPr>
          <a:xfrm>
            <a:off x="642930" y="1598993"/>
            <a:ext cx="3596900" cy="947952"/>
          </a:xfrm>
        </p:spPr>
        <p:txBody>
          <a:bodyPr/>
          <a:lstStyle/>
          <a:p>
            <a:r>
              <a:rPr lang="en-US" dirty="0"/>
              <a:t> </a:t>
            </a:r>
          </a:p>
          <a:p>
            <a:endParaRPr lang="en-US" dirty="0"/>
          </a:p>
        </p:txBody>
      </p:sp>
      <p:sp>
        <p:nvSpPr>
          <p:cNvPr id="3" name="Text Placeholder 2"/>
          <p:cNvSpPr>
            <a:spLocks noGrp="1"/>
          </p:cNvSpPr>
          <p:nvPr>
            <p:ph type="body" sz="quarter" idx="12"/>
          </p:nvPr>
        </p:nvSpPr>
        <p:spPr>
          <a:xfrm>
            <a:off x="553646" y="434107"/>
            <a:ext cx="13269093" cy="553998"/>
          </a:xfrm>
          <a:prstGeom prst="rect">
            <a:avLst/>
          </a:prstGeom>
        </p:spPr>
        <p:txBody>
          <a:bodyPr/>
          <a:lstStyle/>
          <a:p>
            <a:pPr defTabSz="1306221" fontAlgn="auto">
              <a:spcAft>
                <a:spcPts val="0"/>
              </a:spcAft>
              <a:defRPr/>
            </a:pPr>
            <a:r>
              <a:rPr lang="en-US" dirty="0"/>
              <a:t>Connect to Data Screen</a:t>
            </a:r>
          </a:p>
        </p:txBody>
      </p:sp>
      <p:sp>
        <p:nvSpPr>
          <p:cNvPr id="8" name="TextBox 7">
            <a:extLst>
              <a:ext uri="{FF2B5EF4-FFF2-40B4-BE49-F238E27FC236}">
                <a16:creationId xmlns:a16="http://schemas.microsoft.com/office/drawing/2014/main" id="{C3FB7790-A96E-4C3F-ACC4-B7564951221B}"/>
              </a:ext>
            </a:extLst>
          </p:cNvPr>
          <p:cNvSpPr txBox="1"/>
          <p:nvPr/>
        </p:nvSpPr>
        <p:spPr>
          <a:xfrm>
            <a:off x="372978" y="2261937"/>
            <a:ext cx="7685172" cy="2677656"/>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mn-lt"/>
              </a:rPr>
              <a:t>Tableau can connect to many file types </a:t>
            </a:r>
          </a:p>
          <a:p>
            <a:pPr marL="1109663" lvl="1" indent="-457200">
              <a:buFont typeface="Arial" panose="020B0604020202020204" pitchFamily="34" charset="0"/>
              <a:buChar char="•"/>
            </a:pPr>
            <a:r>
              <a:rPr lang="en-US" sz="2800" dirty="0">
                <a:latin typeface="+mn-lt"/>
              </a:rPr>
              <a:t>Excel</a:t>
            </a:r>
          </a:p>
          <a:p>
            <a:pPr marL="1109663" lvl="1" indent="-457200">
              <a:buFont typeface="Arial" panose="020B0604020202020204" pitchFamily="34" charset="0"/>
              <a:buChar char="•"/>
            </a:pPr>
            <a:r>
              <a:rPr lang="en-US" sz="2800" dirty="0">
                <a:latin typeface="+mn-lt"/>
              </a:rPr>
              <a:t>Delimited text files (*.txt, *.csv, *.tab, *.</a:t>
            </a:r>
            <a:r>
              <a:rPr lang="en-US" sz="2800" dirty="0" err="1">
                <a:latin typeface="+mn-lt"/>
              </a:rPr>
              <a:t>tsv</a:t>
            </a:r>
            <a:r>
              <a:rPr lang="en-US" sz="2800" dirty="0">
                <a:latin typeface="+mn-lt"/>
              </a:rPr>
              <a:t>)</a:t>
            </a:r>
          </a:p>
          <a:p>
            <a:pPr marL="1109663" lvl="1" indent="-457200">
              <a:buFont typeface="Arial" panose="020B0604020202020204" pitchFamily="34" charset="0"/>
              <a:buChar char="•"/>
            </a:pPr>
            <a:r>
              <a:rPr lang="en-US" sz="2800" dirty="0">
                <a:latin typeface="+mn-lt"/>
              </a:rPr>
              <a:t>PDF</a:t>
            </a:r>
          </a:p>
          <a:p>
            <a:pPr marL="1109663" lvl="1" indent="-457200">
              <a:buFont typeface="Arial" panose="020B0604020202020204" pitchFamily="34" charset="0"/>
              <a:buChar char="•"/>
            </a:pPr>
            <a:r>
              <a:rPr lang="en-US" sz="2800" dirty="0">
                <a:latin typeface="+mn-lt"/>
              </a:rPr>
              <a:t>Many more</a:t>
            </a:r>
          </a:p>
          <a:p>
            <a:pPr marL="1109663" lvl="1" indent="-457200">
              <a:buFont typeface="Arial" panose="020B0604020202020204" pitchFamily="34" charset="0"/>
              <a:buChar char="•"/>
            </a:pPr>
            <a:endParaRPr lang="en-US" sz="2800" dirty="0">
              <a:latin typeface="+mn-lt"/>
            </a:endParaRPr>
          </a:p>
        </p:txBody>
      </p:sp>
      <p:pic>
        <p:nvPicPr>
          <p:cNvPr id="9" name="Picture 8">
            <a:extLst>
              <a:ext uri="{FF2B5EF4-FFF2-40B4-BE49-F238E27FC236}">
                <a16:creationId xmlns:a16="http://schemas.microsoft.com/office/drawing/2014/main" id="{DB752298-FF44-4837-B511-C10DC01DA492}"/>
              </a:ext>
            </a:extLst>
          </p:cNvPr>
          <p:cNvPicPr>
            <a:picLocks noChangeAspect="1"/>
          </p:cNvPicPr>
          <p:nvPr/>
        </p:nvPicPr>
        <p:blipFill rotWithShape="1">
          <a:blip r:embed="rId4"/>
          <a:srcRect b="35299"/>
          <a:stretch/>
        </p:blipFill>
        <p:spPr>
          <a:xfrm>
            <a:off x="8981021" y="452140"/>
            <a:ext cx="3352502" cy="6417383"/>
          </a:xfrm>
          <a:prstGeom prst="rect">
            <a:avLst/>
          </a:prstGeom>
        </p:spPr>
      </p:pic>
    </p:spTree>
    <p:custDataLst>
      <p:tags r:id="rId1"/>
    </p:custDataLst>
    <p:extLst>
      <p:ext uri="{BB962C8B-B14F-4D97-AF65-F5344CB8AC3E}">
        <p14:creationId xmlns:p14="http://schemas.microsoft.com/office/powerpoint/2010/main" val="1346404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3"/>
          </p:nvPr>
        </p:nvSpPr>
        <p:spPr>
          <a:xfrm>
            <a:off x="642930" y="1598993"/>
            <a:ext cx="3596900" cy="947952"/>
          </a:xfrm>
        </p:spPr>
        <p:txBody>
          <a:bodyPr/>
          <a:lstStyle/>
          <a:p>
            <a:r>
              <a:rPr lang="en-US" dirty="0"/>
              <a:t> </a:t>
            </a:r>
          </a:p>
          <a:p>
            <a:endParaRPr lang="en-US" dirty="0"/>
          </a:p>
        </p:txBody>
      </p:sp>
      <p:sp>
        <p:nvSpPr>
          <p:cNvPr id="3" name="Text Placeholder 2"/>
          <p:cNvSpPr>
            <a:spLocks noGrp="1"/>
          </p:cNvSpPr>
          <p:nvPr>
            <p:ph type="body" sz="quarter" idx="12"/>
          </p:nvPr>
        </p:nvSpPr>
        <p:spPr>
          <a:xfrm>
            <a:off x="553646" y="141499"/>
            <a:ext cx="13269093" cy="567848"/>
          </a:xfrm>
          <a:prstGeom prst="rect">
            <a:avLst/>
          </a:prstGeom>
        </p:spPr>
        <p:txBody>
          <a:bodyPr/>
          <a:lstStyle/>
          <a:p>
            <a:pPr defTabSz="1306221" fontAlgn="auto">
              <a:spcAft>
                <a:spcPts val="0"/>
              </a:spcAft>
              <a:defRPr/>
            </a:pPr>
            <a:r>
              <a:rPr lang="en-US" dirty="0"/>
              <a:t>Connect to Global Superstore file</a:t>
            </a:r>
          </a:p>
        </p:txBody>
      </p:sp>
      <p:sp>
        <p:nvSpPr>
          <p:cNvPr id="8" name="TextBox 7">
            <a:extLst>
              <a:ext uri="{FF2B5EF4-FFF2-40B4-BE49-F238E27FC236}">
                <a16:creationId xmlns:a16="http://schemas.microsoft.com/office/drawing/2014/main" id="{C3FB7790-A96E-4C3F-ACC4-B7564951221B}"/>
              </a:ext>
            </a:extLst>
          </p:cNvPr>
          <p:cNvSpPr txBox="1"/>
          <p:nvPr/>
        </p:nvSpPr>
        <p:spPr>
          <a:xfrm>
            <a:off x="553646" y="1989502"/>
            <a:ext cx="4230461"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mn-lt"/>
              </a:rPr>
              <a:t>Click on Excel</a:t>
            </a:r>
          </a:p>
          <a:p>
            <a:pPr marL="457200" indent="-457200">
              <a:buFont typeface="Arial" panose="020B0604020202020204" pitchFamily="34" charset="0"/>
              <a:buChar char="•"/>
            </a:pPr>
            <a:r>
              <a:rPr lang="en-US" sz="2800" dirty="0">
                <a:latin typeface="+mn-lt"/>
              </a:rPr>
              <a:t>Navigate to saved file</a:t>
            </a:r>
          </a:p>
          <a:p>
            <a:pPr marL="457200" indent="-457200">
              <a:buFont typeface="Arial" panose="020B0604020202020204" pitchFamily="34" charset="0"/>
              <a:buChar char="•"/>
            </a:pPr>
            <a:r>
              <a:rPr lang="en-US" sz="2800" dirty="0">
                <a:latin typeface="+mn-lt"/>
              </a:rPr>
              <a:t>Click open</a:t>
            </a:r>
          </a:p>
          <a:p>
            <a:pPr marL="457200" indent="-457200">
              <a:buFont typeface="Arial" panose="020B0604020202020204" pitchFamily="34" charset="0"/>
              <a:buChar char="•"/>
            </a:pPr>
            <a:endParaRPr lang="en-US" sz="2800" dirty="0">
              <a:latin typeface="+mn-lt"/>
            </a:endParaRPr>
          </a:p>
          <a:p>
            <a:pPr lvl="1" indent="0"/>
            <a:endParaRPr lang="en-US" sz="2800" dirty="0">
              <a:latin typeface="+mn-lt"/>
            </a:endParaRPr>
          </a:p>
          <a:p>
            <a:pPr marL="1109663" lvl="1" indent="-457200">
              <a:buFont typeface="Arial" panose="020B0604020202020204" pitchFamily="34" charset="0"/>
              <a:buChar char="•"/>
            </a:pPr>
            <a:endParaRPr lang="en-US" sz="2800" dirty="0">
              <a:latin typeface="+mn-lt"/>
            </a:endParaRPr>
          </a:p>
          <a:p>
            <a:pPr marL="1109663" lvl="1" indent="-457200">
              <a:buFont typeface="Arial" panose="020B0604020202020204" pitchFamily="34" charset="0"/>
              <a:buChar char="•"/>
            </a:pPr>
            <a:endParaRPr lang="en-US" sz="2800" dirty="0">
              <a:latin typeface="+mn-lt"/>
            </a:endParaRPr>
          </a:p>
        </p:txBody>
      </p:sp>
      <p:pic>
        <p:nvPicPr>
          <p:cNvPr id="9" name="Picture 8">
            <a:extLst>
              <a:ext uri="{FF2B5EF4-FFF2-40B4-BE49-F238E27FC236}">
                <a16:creationId xmlns:a16="http://schemas.microsoft.com/office/drawing/2014/main" id="{DB752298-FF44-4837-B511-C10DC01DA492}"/>
              </a:ext>
            </a:extLst>
          </p:cNvPr>
          <p:cNvPicPr>
            <a:picLocks noChangeAspect="1"/>
          </p:cNvPicPr>
          <p:nvPr/>
        </p:nvPicPr>
        <p:blipFill rotWithShape="1">
          <a:blip r:embed="rId4"/>
          <a:srcRect b="46137"/>
          <a:stretch/>
        </p:blipFill>
        <p:spPr>
          <a:xfrm>
            <a:off x="5158976" y="2088425"/>
            <a:ext cx="2770674" cy="4415261"/>
          </a:xfrm>
          <a:prstGeom prst="rect">
            <a:avLst/>
          </a:prstGeom>
        </p:spPr>
      </p:pic>
      <p:sp>
        <p:nvSpPr>
          <p:cNvPr id="6" name="Arrow: Right 5">
            <a:extLst>
              <a:ext uri="{FF2B5EF4-FFF2-40B4-BE49-F238E27FC236}">
                <a16:creationId xmlns:a16="http://schemas.microsoft.com/office/drawing/2014/main" id="{3468BDBB-49ED-4E0E-A420-4D29C7688B82}"/>
              </a:ext>
            </a:extLst>
          </p:cNvPr>
          <p:cNvSpPr/>
          <p:nvPr/>
        </p:nvSpPr>
        <p:spPr>
          <a:xfrm rot="19568824">
            <a:off x="3961178" y="4127628"/>
            <a:ext cx="1612232" cy="385010"/>
          </a:xfrm>
          <a:prstGeom prst="rightArrow">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ell phone&#10;&#10;Description automatically generated">
            <a:extLst>
              <a:ext uri="{FF2B5EF4-FFF2-40B4-BE49-F238E27FC236}">
                <a16:creationId xmlns:a16="http://schemas.microsoft.com/office/drawing/2014/main" id="{BDEFEB8A-0BC9-442E-9D5F-238D5AF959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51687" y="2961720"/>
            <a:ext cx="5743347" cy="2524680"/>
          </a:xfrm>
          <a:prstGeom prst="rect">
            <a:avLst/>
          </a:prstGeom>
        </p:spPr>
      </p:pic>
      <p:sp>
        <p:nvSpPr>
          <p:cNvPr id="10" name="Arrow: Right 9">
            <a:extLst>
              <a:ext uri="{FF2B5EF4-FFF2-40B4-BE49-F238E27FC236}">
                <a16:creationId xmlns:a16="http://schemas.microsoft.com/office/drawing/2014/main" id="{42DB6C80-FD94-4CF9-ADF2-CE839ADEC85B}"/>
              </a:ext>
            </a:extLst>
          </p:cNvPr>
          <p:cNvSpPr/>
          <p:nvPr/>
        </p:nvSpPr>
        <p:spPr>
          <a:xfrm rot="19568824">
            <a:off x="10118138" y="5514468"/>
            <a:ext cx="1612232" cy="385010"/>
          </a:xfrm>
          <a:prstGeom prst="rightArrow">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53947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3"/>
          </p:nvPr>
        </p:nvSpPr>
        <p:spPr>
          <a:xfrm>
            <a:off x="642930" y="1598993"/>
            <a:ext cx="3596900" cy="947952"/>
          </a:xfrm>
        </p:spPr>
        <p:txBody>
          <a:bodyPr/>
          <a:lstStyle/>
          <a:p>
            <a:r>
              <a:rPr lang="en-US" dirty="0"/>
              <a:t> </a:t>
            </a:r>
          </a:p>
          <a:p>
            <a:endParaRPr lang="en-US" dirty="0"/>
          </a:p>
        </p:txBody>
      </p:sp>
      <p:sp>
        <p:nvSpPr>
          <p:cNvPr id="3" name="Text Placeholder 2"/>
          <p:cNvSpPr>
            <a:spLocks noGrp="1"/>
          </p:cNvSpPr>
          <p:nvPr>
            <p:ph type="body" sz="quarter" idx="12"/>
          </p:nvPr>
        </p:nvSpPr>
        <p:spPr>
          <a:xfrm>
            <a:off x="553646" y="141499"/>
            <a:ext cx="13269093" cy="567848"/>
          </a:xfrm>
          <a:prstGeom prst="rect">
            <a:avLst/>
          </a:prstGeom>
        </p:spPr>
        <p:txBody>
          <a:bodyPr/>
          <a:lstStyle/>
          <a:p>
            <a:pPr defTabSz="1306221" fontAlgn="auto">
              <a:spcAft>
                <a:spcPts val="0"/>
              </a:spcAft>
              <a:defRPr/>
            </a:pPr>
            <a:r>
              <a:rPr lang="en-US" dirty="0"/>
              <a:t>The Data Source Window</a:t>
            </a:r>
          </a:p>
        </p:txBody>
      </p:sp>
      <p:sp>
        <p:nvSpPr>
          <p:cNvPr id="8" name="TextBox 7">
            <a:extLst>
              <a:ext uri="{FF2B5EF4-FFF2-40B4-BE49-F238E27FC236}">
                <a16:creationId xmlns:a16="http://schemas.microsoft.com/office/drawing/2014/main" id="{C3FB7790-A96E-4C3F-ACC4-B7564951221B}"/>
              </a:ext>
            </a:extLst>
          </p:cNvPr>
          <p:cNvSpPr txBox="1"/>
          <p:nvPr/>
        </p:nvSpPr>
        <p:spPr>
          <a:xfrm>
            <a:off x="285784" y="1296862"/>
            <a:ext cx="4230461" cy="3539430"/>
          </a:xfrm>
          <a:prstGeom prst="rect">
            <a:avLst/>
          </a:prstGeom>
          <a:noFill/>
        </p:spPr>
        <p:txBody>
          <a:bodyPr wrap="square" rtlCol="0">
            <a:spAutoFit/>
          </a:bodyPr>
          <a:lstStyle/>
          <a:p>
            <a:pPr marL="457200" indent="-457200">
              <a:buFont typeface="Arial" panose="020B0604020202020204" pitchFamily="34" charset="0"/>
              <a:buChar char="•"/>
            </a:pPr>
            <a:endParaRPr lang="en-US" sz="2800" dirty="0">
              <a:latin typeface="+mn-lt"/>
            </a:endParaRPr>
          </a:p>
          <a:p>
            <a:pPr marL="457200" indent="-457200">
              <a:buFont typeface="Arial" panose="020B0604020202020204" pitchFamily="34" charset="0"/>
              <a:buChar char="•"/>
            </a:pPr>
            <a:endParaRPr lang="en-US" sz="2800" dirty="0">
              <a:latin typeface="+mn-lt"/>
            </a:endParaRPr>
          </a:p>
          <a:p>
            <a:pPr marL="457200" indent="-457200">
              <a:buFont typeface="Arial" panose="020B0604020202020204" pitchFamily="34" charset="0"/>
              <a:buChar char="•"/>
            </a:pPr>
            <a:r>
              <a:rPr lang="en-US" sz="2800" dirty="0">
                <a:latin typeface="+mn-lt"/>
              </a:rPr>
              <a:t>Drag Orders to “Drag sheets here” space</a:t>
            </a:r>
          </a:p>
          <a:p>
            <a:pPr marL="457200" indent="-457200">
              <a:buFont typeface="Arial" panose="020B0604020202020204" pitchFamily="34" charset="0"/>
              <a:buChar char="•"/>
            </a:pPr>
            <a:endParaRPr lang="en-US" sz="2800" dirty="0">
              <a:latin typeface="+mn-lt"/>
            </a:endParaRPr>
          </a:p>
          <a:p>
            <a:pPr lvl="1" indent="0"/>
            <a:endParaRPr lang="en-US" sz="2800" dirty="0">
              <a:latin typeface="+mn-lt"/>
            </a:endParaRPr>
          </a:p>
          <a:p>
            <a:pPr marL="1109663" lvl="1" indent="-457200">
              <a:buFont typeface="Arial" panose="020B0604020202020204" pitchFamily="34" charset="0"/>
              <a:buChar char="•"/>
            </a:pPr>
            <a:endParaRPr lang="en-US" sz="2800" dirty="0">
              <a:latin typeface="+mn-lt"/>
            </a:endParaRPr>
          </a:p>
          <a:p>
            <a:pPr marL="1109663" lvl="1" indent="-457200">
              <a:buFont typeface="Arial" panose="020B0604020202020204" pitchFamily="34" charset="0"/>
              <a:buChar char="•"/>
            </a:pPr>
            <a:endParaRPr lang="en-US" sz="2800" dirty="0">
              <a:latin typeface="+mn-lt"/>
            </a:endParaRPr>
          </a:p>
        </p:txBody>
      </p:sp>
      <p:pic>
        <p:nvPicPr>
          <p:cNvPr id="7" name="Picture 6" descr="A screenshot of a social media post&#10;&#10;Description automatically generated">
            <a:extLst>
              <a:ext uri="{FF2B5EF4-FFF2-40B4-BE49-F238E27FC236}">
                <a16:creationId xmlns:a16="http://schemas.microsoft.com/office/drawing/2014/main" id="{8EE0026D-BA03-4C08-AEEF-5CB533A52F82}"/>
              </a:ext>
            </a:extLst>
          </p:cNvPr>
          <p:cNvPicPr>
            <a:picLocks noChangeAspect="1"/>
          </p:cNvPicPr>
          <p:nvPr/>
        </p:nvPicPr>
        <p:blipFill rotWithShape="1">
          <a:blip r:embed="rId4" cstate="email">
            <a:extLst>
              <a:ext uri="{28A0092B-C50C-407E-A947-70E740481C1C}">
                <a14:useLocalDpi xmlns:a14="http://schemas.microsoft.com/office/drawing/2010/main" val="0"/>
              </a:ext>
            </a:extLst>
          </a:blip>
          <a:srcRect l="-2"/>
          <a:stretch/>
        </p:blipFill>
        <p:spPr>
          <a:xfrm>
            <a:off x="4595836" y="1296862"/>
            <a:ext cx="9675057" cy="5307138"/>
          </a:xfrm>
          <a:prstGeom prst="rect">
            <a:avLst/>
          </a:prstGeom>
          <a:effectLst>
            <a:outerShdw blurRad="63500" sx="102000" sy="102000" algn="ctr" rotWithShape="0">
              <a:prstClr val="black">
                <a:alpha val="40000"/>
              </a:prstClr>
            </a:outerShdw>
          </a:effectLst>
        </p:spPr>
      </p:pic>
      <p:sp>
        <p:nvSpPr>
          <p:cNvPr id="11" name="Arrow: Right 10">
            <a:extLst>
              <a:ext uri="{FF2B5EF4-FFF2-40B4-BE49-F238E27FC236}">
                <a16:creationId xmlns:a16="http://schemas.microsoft.com/office/drawing/2014/main" id="{56613518-4D93-45FC-BCC1-04C8691EA735}"/>
              </a:ext>
            </a:extLst>
          </p:cNvPr>
          <p:cNvSpPr/>
          <p:nvPr/>
        </p:nvSpPr>
        <p:spPr>
          <a:xfrm rot="19568824">
            <a:off x="4072329" y="4289282"/>
            <a:ext cx="712004" cy="246585"/>
          </a:xfrm>
          <a:prstGeom prst="rightArrow">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9900"/>
              </a:solidFill>
            </a:endParaRPr>
          </a:p>
        </p:txBody>
      </p:sp>
    </p:spTree>
    <p:custDataLst>
      <p:tags r:id="rId1"/>
    </p:custDataLst>
    <p:extLst>
      <p:ext uri="{BB962C8B-B14F-4D97-AF65-F5344CB8AC3E}">
        <p14:creationId xmlns:p14="http://schemas.microsoft.com/office/powerpoint/2010/main" val="937935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2893403" y="1672497"/>
            <a:ext cx="10241308" cy="472830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77041" y="2083016"/>
            <a:ext cx="1730336" cy="1077218"/>
          </a:xfrm>
          <a:prstGeom prst="rect">
            <a:avLst/>
          </a:prstGeom>
          <a:noFill/>
          <a:ln>
            <a:solidFill>
              <a:schemeClr val="tx1"/>
            </a:solidFill>
          </a:ln>
        </p:spPr>
        <p:txBody>
          <a:bodyPr wrap="square" rtlCol="0">
            <a:spAutoFit/>
          </a:bodyPr>
          <a:lstStyle/>
          <a:p>
            <a:pPr defTabSz="653084"/>
            <a:r>
              <a:rPr lang="en-US" sz="1600" b="1" dirty="0">
                <a:solidFill>
                  <a:srgbClr val="666666"/>
                </a:solidFill>
                <a:latin typeface="BentonSans" panose="02000504020000020004" pitchFamily="2" charset="0"/>
              </a:rPr>
              <a:t>File Name (right-click to rename the connection, if desired)</a:t>
            </a:r>
            <a:endParaRPr lang="en-US" sz="1600" dirty="0">
              <a:solidFill>
                <a:srgbClr val="666666"/>
              </a:solidFill>
              <a:latin typeface="BentonSans" panose="02000504020000020004" pitchFamily="2" charset="0"/>
            </a:endParaRPr>
          </a:p>
        </p:txBody>
      </p:sp>
      <p:cxnSp>
        <p:nvCxnSpPr>
          <p:cNvPr id="14" name="Straight Connector 13"/>
          <p:cNvCxnSpPr>
            <a:cxnSpLocks/>
            <a:stCxn id="6" idx="3"/>
          </p:cNvCxnSpPr>
          <p:nvPr/>
        </p:nvCxnSpPr>
        <p:spPr>
          <a:xfrm>
            <a:off x="2307377" y="2621625"/>
            <a:ext cx="680920" cy="12311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9103360" y="2266559"/>
            <a:ext cx="1653198" cy="1077218"/>
          </a:xfrm>
          <a:prstGeom prst="rect">
            <a:avLst/>
          </a:prstGeom>
          <a:noFill/>
          <a:ln>
            <a:solidFill>
              <a:schemeClr val="accent1"/>
            </a:solidFill>
          </a:ln>
        </p:spPr>
        <p:txBody>
          <a:bodyPr wrap="square" rtlCol="0">
            <a:spAutoFit/>
          </a:bodyPr>
          <a:lstStyle/>
          <a:p>
            <a:pPr defTabSz="653084"/>
            <a:r>
              <a:rPr lang="en-US" sz="1600" b="1" dirty="0">
                <a:solidFill>
                  <a:srgbClr val="666666"/>
                </a:solidFill>
                <a:latin typeface="BentonSans" panose="02000504020000020004" pitchFamily="2" charset="0"/>
              </a:rPr>
              <a:t>Sheet that was dragged to the data connection canvas</a:t>
            </a:r>
            <a:r>
              <a:rPr lang="en-US" sz="960" b="1" dirty="0">
                <a:solidFill>
                  <a:srgbClr val="666666"/>
                </a:solidFill>
                <a:latin typeface="BentonSans" panose="02000504020000020004" pitchFamily="2" charset="0"/>
              </a:rPr>
              <a:t>.</a:t>
            </a:r>
            <a:endParaRPr lang="en-US" sz="960" dirty="0">
              <a:solidFill>
                <a:srgbClr val="666666"/>
              </a:solidFill>
              <a:latin typeface="BentonSans" panose="02000504020000020004" pitchFamily="2" charset="0"/>
            </a:endParaRPr>
          </a:p>
        </p:txBody>
      </p:sp>
      <p:cxnSp>
        <p:nvCxnSpPr>
          <p:cNvPr id="33" name="Straight Connector 32"/>
          <p:cNvCxnSpPr>
            <a:cxnSpLocks/>
          </p:cNvCxnSpPr>
          <p:nvPr/>
        </p:nvCxnSpPr>
        <p:spPr>
          <a:xfrm flipH="1" flipV="1">
            <a:off x="8174517" y="2928279"/>
            <a:ext cx="928844"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11272249" y="2518356"/>
            <a:ext cx="1567058" cy="1323439"/>
          </a:xfrm>
          <a:prstGeom prst="rect">
            <a:avLst/>
          </a:prstGeom>
          <a:noFill/>
          <a:ln>
            <a:solidFill>
              <a:schemeClr val="accent1"/>
            </a:solidFill>
          </a:ln>
        </p:spPr>
        <p:txBody>
          <a:bodyPr wrap="square" rtlCol="0">
            <a:spAutoFit/>
          </a:bodyPr>
          <a:lstStyle/>
          <a:p>
            <a:pPr defTabSz="653084"/>
            <a:r>
              <a:rPr lang="en-US" sz="1600" b="1" dirty="0">
                <a:solidFill>
                  <a:srgbClr val="666666"/>
                </a:solidFill>
                <a:latin typeface="BentonSans" panose="02000504020000020004" pitchFamily="2" charset="0"/>
              </a:rPr>
              <a:t>Preview pane shows row level data of the sheet in the canvas.</a:t>
            </a:r>
            <a:endParaRPr lang="en-US" sz="1600" dirty="0">
              <a:solidFill>
                <a:srgbClr val="666666"/>
              </a:solidFill>
              <a:latin typeface="BentonSans" panose="02000504020000020004" pitchFamily="2" charset="0"/>
            </a:endParaRPr>
          </a:p>
        </p:txBody>
      </p:sp>
      <p:cxnSp>
        <p:nvCxnSpPr>
          <p:cNvPr id="64" name="Straight Connector 63"/>
          <p:cNvCxnSpPr/>
          <p:nvPr/>
        </p:nvCxnSpPr>
        <p:spPr>
          <a:xfrm>
            <a:off x="8820724" y="5527894"/>
            <a:ext cx="0" cy="177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F2A78C2-B8B8-4B72-8C35-C8C9D85066B2}"/>
              </a:ext>
            </a:extLst>
          </p:cNvPr>
          <p:cNvSpPr txBox="1"/>
          <p:nvPr/>
        </p:nvSpPr>
        <p:spPr>
          <a:xfrm>
            <a:off x="481543" y="3816973"/>
            <a:ext cx="2137466" cy="1323439"/>
          </a:xfrm>
          <a:prstGeom prst="rect">
            <a:avLst/>
          </a:prstGeom>
          <a:noFill/>
          <a:ln>
            <a:solidFill>
              <a:schemeClr val="tx1"/>
            </a:solidFill>
          </a:ln>
        </p:spPr>
        <p:txBody>
          <a:bodyPr wrap="square" rtlCol="0">
            <a:spAutoFit/>
          </a:bodyPr>
          <a:lstStyle/>
          <a:p>
            <a:pPr defTabSz="653084"/>
            <a:r>
              <a:rPr lang="en-US" sz="1600" b="1" dirty="0">
                <a:solidFill>
                  <a:srgbClr val="666666"/>
                </a:solidFill>
                <a:latin typeface="BentonSans" panose="02000504020000020004" pitchFamily="2" charset="0"/>
              </a:rPr>
              <a:t>Sheets in the Excel File (treated as database tables; connect to a single table or join multiple tables)</a:t>
            </a:r>
            <a:endParaRPr lang="en-US" sz="1600" dirty="0">
              <a:solidFill>
                <a:srgbClr val="666666"/>
              </a:solidFill>
              <a:latin typeface="BentonSans" panose="02000504020000020004" pitchFamily="2" charset="0"/>
            </a:endParaRPr>
          </a:p>
        </p:txBody>
      </p:sp>
      <p:cxnSp>
        <p:nvCxnSpPr>
          <p:cNvPr id="27" name="Straight Connector 26">
            <a:extLst>
              <a:ext uri="{FF2B5EF4-FFF2-40B4-BE49-F238E27FC236}">
                <a16:creationId xmlns:a16="http://schemas.microsoft.com/office/drawing/2014/main" id="{205BEBD5-4AEC-429B-90F8-631BB3D14AAF}"/>
              </a:ext>
            </a:extLst>
          </p:cNvPr>
          <p:cNvCxnSpPr>
            <a:cxnSpLocks/>
          </p:cNvCxnSpPr>
          <p:nvPr/>
        </p:nvCxnSpPr>
        <p:spPr>
          <a:xfrm>
            <a:off x="2619010" y="4726800"/>
            <a:ext cx="369288"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4E392D3-C31C-4D6D-9059-D5E507F9CA86}"/>
              </a:ext>
            </a:extLst>
          </p:cNvPr>
          <p:cNvCxnSpPr>
            <a:cxnSpLocks/>
          </p:cNvCxnSpPr>
          <p:nvPr/>
        </p:nvCxnSpPr>
        <p:spPr>
          <a:xfrm flipV="1">
            <a:off x="12050365" y="3887174"/>
            <a:ext cx="0" cy="45525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9704151-4ACB-42AF-B424-F0DCDE662331}"/>
              </a:ext>
            </a:extLst>
          </p:cNvPr>
          <p:cNvSpPr/>
          <p:nvPr/>
        </p:nvSpPr>
        <p:spPr>
          <a:xfrm>
            <a:off x="577042" y="538588"/>
            <a:ext cx="6094297" cy="660181"/>
          </a:xfrm>
          <a:prstGeom prst="rect">
            <a:avLst/>
          </a:prstGeom>
        </p:spPr>
        <p:txBody>
          <a:bodyPr wrap="none">
            <a:spAutoFit/>
          </a:bodyPr>
          <a:lstStyle/>
          <a:p>
            <a:pPr defTabSz="1304873">
              <a:lnSpc>
                <a:spcPct val="80000"/>
              </a:lnSpc>
              <a:spcBef>
                <a:spcPct val="20000"/>
              </a:spcBef>
            </a:pPr>
            <a:r>
              <a:rPr lang="en-US" sz="4500" dirty="0">
                <a:solidFill>
                  <a:srgbClr val="4C4C4C"/>
                </a:solidFill>
                <a:latin typeface="BentonSans Book"/>
              </a:rPr>
              <a:t>The Data Source Window</a:t>
            </a:r>
          </a:p>
        </p:txBody>
      </p:sp>
    </p:spTree>
    <p:custDataLst>
      <p:tags r:id="rId1"/>
    </p:custDataLst>
    <p:extLst>
      <p:ext uri="{BB962C8B-B14F-4D97-AF65-F5344CB8AC3E}">
        <p14:creationId xmlns:p14="http://schemas.microsoft.com/office/powerpoint/2010/main" val="843509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67848"/>
          </a:xfrm>
          <a:prstGeom prst="rect">
            <a:avLst/>
          </a:prstGeom>
        </p:spPr>
        <p:txBody>
          <a:bodyPr wrap="square" lIns="0" tIns="0" rIns="0" bIns="0" anchor="t">
            <a:spAutoFit/>
          </a:bodyPr>
          <a:lstStyle/>
          <a:p>
            <a:r>
              <a:rPr lang="en-US" dirty="0">
                <a:ea typeface="ＭＳ Ｐゴシック"/>
              </a:rPr>
              <a:t>Editing Field Name and Data Type</a:t>
            </a:r>
            <a:endParaRPr lang="en-US" dirty="0"/>
          </a:p>
        </p:txBody>
      </p:sp>
      <p:pic>
        <p:nvPicPr>
          <p:cNvPr id="7" name="Content Placeholder 6" descr="A screenshot of a cell phone&#10;&#10;Description automatically generated">
            <a:extLst>
              <a:ext uri="{FF2B5EF4-FFF2-40B4-BE49-F238E27FC236}">
                <a16:creationId xmlns:a16="http://schemas.microsoft.com/office/drawing/2014/main" id="{EE05DE2B-A6D4-4DEA-99E1-27EB829A6C53}"/>
              </a:ext>
            </a:extLst>
          </p:cNvPr>
          <p:cNvPicPr>
            <a:picLocks noGrp="1" noChangeAspect="1"/>
          </p:cNvPicPr>
          <p:nvPr>
            <p:ph idx="14"/>
          </p:nvPr>
        </p:nvPicPr>
        <p:blipFill>
          <a:blip r:embed="rId4">
            <a:extLst>
              <a:ext uri="{28A0092B-C50C-407E-A947-70E740481C1C}">
                <a14:useLocalDpi xmlns:a14="http://schemas.microsoft.com/office/drawing/2010/main" val="0"/>
              </a:ext>
            </a:extLst>
          </a:blip>
          <a:stretch>
            <a:fillRect/>
          </a:stretch>
        </p:blipFill>
        <p:spPr>
          <a:xfrm>
            <a:off x="9099739" y="1650972"/>
            <a:ext cx="4113518" cy="4927655"/>
          </a:xfrm>
          <a:effectLst>
            <a:outerShdw blurRad="63500" sx="102000" sy="102000" algn="ctr" rotWithShape="0">
              <a:prstClr val="black">
                <a:alpha val="40000"/>
              </a:prstClr>
            </a:outerShdw>
          </a:effectLst>
        </p:spPr>
      </p:pic>
      <p:pic>
        <p:nvPicPr>
          <p:cNvPr id="9" name="Picture 8" descr="A screenshot of a cell phone&#10;&#10;Description automatically generated">
            <a:extLst>
              <a:ext uri="{FF2B5EF4-FFF2-40B4-BE49-F238E27FC236}">
                <a16:creationId xmlns:a16="http://schemas.microsoft.com/office/drawing/2014/main" id="{8616EA4D-A064-44E1-8E79-35EB34BC10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1073" y="1650972"/>
            <a:ext cx="6267325" cy="4460268"/>
          </a:xfrm>
          <a:prstGeom prst="rect">
            <a:avLst/>
          </a:prstGeom>
          <a:effectLst>
            <a:outerShdw blurRad="63500" sx="102000" sy="102000" algn="ctr" rotWithShape="0">
              <a:prstClr val="black">
                <a:alpha val="40000"/>
              </a:prstClr>
            </a:outerShdw>
          </a:effectLst>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a:t>Live versus Extract</a:t>
            </a:r>
          </a:p>
        </p:txBody>
      </p:sp>
    </p:spTree>
    <p:custDataLst>
      <p:tags r:id="rId1"/>
    </p:custDataLst>
    <p:extLst>
      <p:ext uri="{BB962C8B-B14F-4D97-AF65-F5344CB8AC3E}">
        <p14:creationId xmlns:p14="http://schemas.microsoft.com/office/powerpoint/2010/main" val="1744395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04476" y="1893515"/>
            <a:ext cx="13273820" cy="3801041"/>
          </a:xfrm>
        </p:spPr>
        <p:txBody>
          <a:bodyPr wrap="square" lIns="0" tIns="0" rIns="0" bIns="0" numCol="1" spcCol="365760" anchor="t">
            <a:spAutoFit/>
          </a:bodyPr>
          <a:lstStyle/>
          <a:p>
            <a:pPr indent="0">
              <a:buNone/>
            </a:pPr>
            <a:r>
              <a:rPr lang="en-US" dirty="0">
                <a:ea typeface="ＭＳ Ｐゴシック"/>
              </a:rPr>
              <a:t>Before analyzing data consider connecting live or extracting data.</a:t>
            </a:r>
          </a:p>
          <a:p>
            <a:pPr indent="0">
              <a:buNone/>
            </a:pPr>
            <a:endParaRPr lang="en-US" dirty="0">
              <a:ea typeface="ＭＳ Ｐゴシック"/>
            </a:endParaRPr>
          </a:p>
          <a:p>
            <a:pPr>
              <a:lnSpc>
                <a:spcPct val="150000"/>
              </a:lnSpc>
            </a:pPr>
            <a:r>
              <a:rPr lang="en-US" dirty="0"/>
              <a:t>Connecting live leaves the data in the database or source file. </a:t>
            </a:r>
          </a:p>
          <a:p>
            <a:pPr lvl="1">
              <a:lnSpc>
                <a:spcPct val="150000"/>
              </a:lnSpc>
            </a:pPr>
            <a:r>
              <a:rPr lang="en-US" dirty="0">
                <a:ea typeface="ＭＳ Ｐゴシック"/>
              </a:rPr>
              <a:t>This is best when leveraging a high performance database’s capabilities, or to get up-to-the-second changes in data visualized in Tableau. </a:t>
            </a:r>
            <a:endParaRPr lang="en-US" dirty="0"/>
          </a:p>
          <a:p>
            <a:pPr lvl="1"/>
            <a:endParaRPr lang="en-US" dirty="0">
              <a:ea typeface="ＭＳ Ｐゴシック"/>
            </a:endParaRPr>
          </a:p>
          <a:p>
            <a:pPr indent="0"/>
            <a:r>
              <a:rPr lang="en-US" dirty="0">
                <a:ea typeface="ＭＳ Ｐゴシック"/>
              </a:rPr>
              <a:t>  Sometimes connecting live can result in a slow experience, depending on the database. </a:t>
            </a:r>
            <a:endParaRPr lang="en-US" dirty="0"/>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a:t>Live versus Extract</a:t>
            </a:r>
          </a:p>
        </p:txBody>
      </p:sp>
    </p:spTree>
    <p:custDataLst>
      <p:tags r:id="rId1"/>
    </p:custDataLst>
    <p:extLst>
      <p:ext uri="{BB962C8B-B14F-4D97-AF65-F5344CB8AC3E}">
        <p14:creationId xmlns:p14="http://schemas.microsoft.com/office/powerpoint/2010/main" val="2954577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4"/>
          </p:nvPr>
        </p:nvSpPr>
        <p:spPr>
          <a:xfrm>
            <a:off x="717355" y="1352602"/>
            <a:ext cx="13273820" cy="3354765"/>
          </a:xfrm>
        </p:spPr>
        <p:txBody>
          <a:bodyPr wrap="square" lIns="0" tIns="0" rIns="0" bIns="0" numCol="1" spcCol="365760" anchor="t">
            <a:spAutoFit/>
          </a:bodyPr>
          <a:lstStyle/>
          <a:p>
            <a:pPr indent="0">
              <a:spcAft>
                <a:spcPts val="0"/>
              </a:spcAft>
              <a:buNone/>
            </a:pPr>
            <a:r>
              <a:rPr lang="en-US" sz="2700">
                <a:ea typeface="ＭＳ Ｐゴシック"/>
              </a:rPr>
              <a:t>Alternatively, you can extract the data into Tableau's high performance in-memory data engine.</a:t>
            </a:r>
            <a:endParaRPr lang="en-US"/>
          </a:p>
          <a:p>
            <a:pPr indent="0">
              <a:spcAft>
                <a:spcPts val="0"/>
              </a:spcAft>
              <a:buNone/>
            </a:pPr>
            <a:endParaRPr lang="en-US" sz="2700">
              <a:ea typeface="ＭＳ Ｐゴシック"/>
            </a:endParaRPr>
          </a:p>
          <a:p>
            <a:pPr>
              <a:spcAft>
                <a:spcPts val="0"/>
              </a:spcAft>
            </a:pPr>
            <a:r>
              <a:rPr lang="en-US" sz="2700">
                <a:ea typeface="ＭＳ Ｐゴシック"/>
              </a:rPr>
              <a:t>Helps when connecting to a slow database or to take query load off critical systems.</a:t>
            </a:r>
            <a:endParaRPr lang="en-US" sz="2700"/>
          </a:p>
          <a:p>
            <a:pPr>
              <a:spcAft>
                <a:spcPts val="0"/>
              </a:spcAft>
            </a:pPr>
            <a:endParaRPr lang="en-US" sz="2700"/>
          </a:p>
          <a:p>
            <a:pPr>
              <a:spcAft>
                <a:spcPts val="0"/>
              </a:spcAft>
            </a:pPr>
            <a:r>
              <a:rPr lang="en-US" sz="2700">
                <a:ea typeface="ＭＳ Ｐゴシック"/>
              </a:rPr>
              <a:t>Can import only some of the data and bring in specific elements (to access those options, click Edit)</a:t>
            </a:r>
          </a:p>
          <a:p>
            <a:pPr indent="0">
              <a:spcAft>
                <a:spcPts val="0"/>
              </a:spcAft>
              <a:buNone/>
            </a:pPr>
            <a:endParaRPr lang="en-US">
              <a:ea typeface="ＭＳ Ｐゴシック"/>
            </a:endParaRPr>
          </a:p>
          <a:p>
            <a:pPr indent="0">
              <a:spcAft>
                <a:spcPts val="0"/>
              </a:spcAft>
              <a:buNone/>
            </a:pPr>
            <a:r>
              <a:rPr lang="en-US">
                <a:ea typeface="ＭＳ Ｐゴシック"/>
              </a:rPr>
              <a:t>For now, we’ll </a:t>
            </a:r>
            <a:r>
              <a:rPr lang="en-US" b="1">
                <a:ea typeface="ＭＳ Ｐゴシック"/>
              </a:rPr>
              <a:t>connect live</a:t>
            </a:r>
            <a:r>
              <a:rPr lang="en-US">
                <a:ea typeface="ＭＳ Ｐゴシック"/>
              </a:rPr>
              <a:t>. </a:t>
            </a:r>
            <a:endParaRPr lang="en-US"/>
          </a:p>
        </p:txBody>
      </p:sp>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a:t>Live versus Extract</a:t>
            </a:r>
          </a:p>
        </p:txBody>
      </p:sp>
      <p:pic>
        <p:nvPicPr>
          <p:cNvPr id="4" name="Picture 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800241" y="5697113"/>
            <a:ext cx="8077737" cy="1455179"/>
          </a:xfrm>
          <a:prstGeom prst="rect">
            <a:avLst/>
          </a:prstGeom>
          <a:ln w="38100" cap="sq">
            <a:solidFill>
              <a:srgbClr val="FFFF00"/>
            </a:solidFill>
            <a:prstDash val="solid"/>
            <a:miter lim="800000"/>
          </a:ln>
          <a:effectLst>
            <a:outerShdw blurRad="50800" dist="38100" dir="2700000" algn="tl" rotWithShape="0">
              <a:srgbClr val="000000">
                <a:alpha val="43000"/>
              </a:srgbClr>
            </a:outerShdw>
          </a:effectLst>
        </p:spPr>
      </p:pic>
      <p:sp>
        <p:nvSpPr>
          <p:cNvPr id="5" name="Down Arrow 4"/>
          <p:cNvSpPr/>
          <p:nvPr/>
        </p:nvSpPr>
        <p:spPr>
          <a:xfrm>
            <a:off x="9433560" y="4610100"/>
            <a:ext cx="685800" cy="1047750"/>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825012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a:t>Quick Viz Example</a:t>
            </a:r>
          </a:p>
        </p:txBody>
      </p:sp>
    </p:spTree>
    <p:custDataLst>
      <p:tags r:id="rId1"/>
    </p:custDataLst>
    <p:extLst>
      <p:ext uri="{BB962C8B-B14F-4D97-AF65-F5344CB8AC3E}">
        <p14:creationId xmlns:p14="http://schemas.microsoft.com/office/powerpoint/2010/main" val="1936114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80653" y="357399"/>
            <a:ext cx="13269093" cy="1260345"/>
          </a:xfrm>
          <a:prstGeom prst="rect">
            <a:avLst/>
          </a:prstGeom>
        </p:spPr>
        <p:txBody>
          <a:bodyPr/>
          <a:lstStyle/>
          <a:p>
            <a:r>
              <a:rPr lang="en-US" dirty="0"/>
              <a:t>Worksheet canvas</a:t>
            </a:r>
          </a:p>
          <a:p>
            <a:endParaRPr lang="en-US" dirty="0"/>
          </a:p>
        </p:txBody>
      </p:sp>
      <p:pic>
        <p:nvPicPr>
          <p:cNvPr id="7" name="Picture 6" descr="A screenshot of a computer&#10;&#10;Description automatically generated">
            <a:extLst>
              <a:ext uri="{FF2B5EF4-FFF2-40B4-BE49-F238E27FC236}">
                <a16:creationId xmlns:a16="http://schemas.microsoft.com/office/drawing/2014/main" id="{47DC829B-5D8A-4183-A59E-E224DA35FA8E}"/>
              </a:ext>
            </a:extLst>
          </p:cNvPr>
          <p:cNvPicPr>
            <a:picLocks noChangeAspect="1"/>
          </p:cNvPicPr>
          <p:nvPr/>
        </p:nvPicPr>
        <p:blipFill rotWithShape="1">
          <a:blip r:embed="rId4" cstate="email">
            <a:extLst>
              <a:ext uri="{28A0092B-C50C-407E-A947-70E740481C1C}">
                <a14:useLocalDpi xmlns:a14="http://schemas.microsoft.com/office/drawing/2010/main" val="0"/>
              </a:ext>
            </a:extLst>
          </a:blip>
          <a:srcRect b="2396"/>
          <a:stretch/>
        </p:blipFill>
        <p:spPr>
          <a:xfrm>
            <a:off x="1369060" y="1109757"/>
            <a:ext cx="11338560" cy="5936933"/>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891307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680653" y="269051"/>
            <a:ext cx="13269093" cy="553998"/>
          </a:xfrm>
          <a:prstGeom prst="rect">
            <a:avLst/>
          </a:prstGeom>
        </p:spPr>
        <p:txBody>
          <a:bodyPr/>
          <a:lstStyle/>
          <a:p>
            <a:pPr defTabSz="1306221" fontAlgn="auto">
              <a:spcAft>
                <a:spcPts val="0"/>
              </a:spcAft>
              <a:defRPr/>
            </a:pPr>
            <a:r>
              <a:rPr lang="en-US" dirty="0">
                <a:ea typeface="+mn-ea"/>
                <a:cs typeface="+mn-cs"/>
              </a:rPr>
              <a:t>Quick Viz Example</a:t>
            </a:r>
          </a:p>
        </p:txBody>
      </p:sp>
      <p:pic>
        <p:nvPicPr>
          <p:cNvPr id="4" name="2.1.3 Quick Viz Example">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2781866" y="794780"/>
            <a:ext cx="9968753" cy="6230771"/>
          </a:xfrm>
          <a:prstGeom prst="rect">
            <a:avLst/>
          </a:prstGeom>
        </p:spPr>
      </p:pic>
    </p:spTree>
    <p:custDataLst>
      <p:tags r:id="rId1"/>
    </p:custDataLst>
    <p:extLst>
      <p:ext uri="{BB962C8B-B14F-4D97-AF65-F5344CB8AC3E}">
        <p14:creationId xmlns:p14="http://schemas.microsoft.com/office/powerpoint/2010/main" val="368864661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705985" y="1891756"/>
            <a:ext cx="13245156" cy="553998"/>
          </a:xfrm>
        </p:spPr>
        <p:txBody>
          <a:bodyPr/>
          <a:lstStyle/>
          <a:p>
            <a:r>
              <a:rPr lang="en-US" dirty="0"/>
              <a:t>Connecting to Multiple Tables</a:t>
            </a:r>
          </a:p>
        </p:txBody>
      </p:sp>
    </p:spTree>
    <p:custDataLst>
      <p:tags r:id="rId1"/>
    </p:custDataLst>
    <p:extLst>
      <p:ext uri="{BB962C8B-B14F-4D97-AF65-F5344CB8AC3E}">
        <p14:creationId xmlns:p14="http://schemas.microsoft.com/office/powerpoint/2010/main" val="104526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p:txBody>
          <a:bodyPr/>
          <a:lstStyle/>
          <a:p>
            <a:r>
              <a:rPr lang="en-US" dirty="0"/>
              <a:t>Joins</a:t>
            </a:r>
          </a:p>
        </p:txBody>
      </p:sp>
      <p:sp>
        <p:nvSpPr>
          <p:cNvPr id="4" name="Content Placeholder 3"/>
          <p:cNvSpPr>
            <a:spLocks noGrp="1"/>
          </p:cNvSpPr>
          <p:nvPr>
            <p:ph idx="14"/>
          </p:nvPr>
        </p:nvSpPr>
        <p:spPr>
          <a:xfrm>
            <a:off x="704477" y="1698955"/>
            <a:ext cx="13274794" cy="4570482"/>
          </a:xfrm>
        </p:spPr>
        <p:txBody>
          <a:bodyPr/>
          <a:lstStyle/>
          <a:p>
            <a:r>
              <a:rPr lang="en-US" dirty="0">
                <a:latin typeface="+mn-lt"/>
              </a:rPr>
              <a:t>Joins relate two or more tables from one database into a single result set</a:t>
            </a:r>
          </a:p>
          <a:p>
            <a:pPr marL="914364" lvl="1" indent="-342887">
              <a:buFont typeface="Arial" panose="020B0604020202020204" pitchFamily="34" charset="0"/>
              <a:buChar char="•"/>
            </a:pPr>
            <a:r>
              <a:rPr lang="en-US" dirty="0"/>
              <a:t>Tables require a common field to define the relationship between the rows </a:t>
            </a:r>
          </a:p>
          <a:p>
            <a:pPr marL="914364" lvl="1" indent="-342887">
              <a:buFont typeface="Arial" panose="020B0604020202020204" pitchFamily="34" charset="0"/>
              <a:buChar char="•"/>
            </a:pPr>
            <a:r>
              <a:rPr lang="en-US" dirty="0"/>
              <a:t>Usually a key field or indexed field</a:t>
            </a:r>
            <a:endParaRPr lang="en-US" sz="3200" dirty="0"/>
          </a:p>
          <a:p>
            <a:pPr>
              <a:spcBef>
                <a:spcPts val="2600"/>
              </a:spcBef>
            </a:pPr>
            <a:r>
              <a:rPr lang="en-US" dirty="0">
                <a:latin typeface="+mn-lt"/>
              </a:rPr>
              <a:t>In the tables below, </a:t>
            </a:r>
            <a:r>
              <a:rPr lang="en-US" b="1" dirty="0">
                <a:latin typeface="+mn-lt"/>
              </a:rPr>
              <a:t>Product</a:t>
            </a:r>
            <a:r>
              <a:rPr lang="en-US" dirty="0">
                <a:latin typeface="+mn-lt"/>
              </a:rPr>
              <a:t> is the common field:</a:t>
            </a:r>
          </a:p>
          <a:p>
            <a:pPr>
              <a:spcBef>
                <a:spcPts val="14800"/>
              </a:spcBef>
            </a:pPr>
            <a:r>
              <a:rPr lang="en-US" dirty="0">
                <a:latin typeface="+mn-lt"/>
              </a:rPr>
              <a:t>Changing the join logic changes the results.</a:t>
            </a:r>
          </a:p>
        </p:txBody>
      </p:sp>
      <p:pic>
        <p:nvPicPr>
          <p:cNvPr id="7" name="Picture 6"/>
          <p:cNvPicPr>
            <a:picLocks noChangeAspect="1"/>
          </p:cNvPicPr>
          <p:nvPr/>
        </p:nvPicPr>
        <p:blipFill>
          <a:blip r:embed="rId3"/>
          <a:stretch>
            <a:fillRect/>
          </a:stretch>
        </p:blipFill>
        <p:spPr>
          <a:xfrm>
            <a:off x="582653" y="4023821"/>
            <a:ext cx="6385034" cy="1596258"/>
          </a:xfrm>
          <a:prstGeom prst="rect">
            <a:avLst/>
          </a:prstGeom>
        </p:spPr>
      </p:pic>
    </p:spTree>
    <p:custDataLst>
      <p:tags r:id="rId1"/>
    </p:custDataLst>
    <p:extLst>
      <p:ext uri="{BB962C8B-B14F-4D97-AF65-F5344CB8AC3E}">
        <p14:creationId xmlns:p14="http://schemas.microsoft.com/office/powerpoint/2010/main" val="135732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2"/>
          </p:nvPr>
        </p:nvSpPr>
        <p:spPr/>
        <p:txBody>
          <a:bodyPr/>
          <a:lstStyle/>
          <a:p>
            <a:r>
              <a:rPr lang="en-US"/>
              <a:t>Inner Join</a:t>
            </a:r>
          </a:p>
        </p:txBody>
      </p:sp>
      <p:sp>
        <p:nvSpPr>
          <p:cNvPr id="6" name="Content Placeholder 5"/>
          <p:cNvSpPr>
            <a:spLocks noGrp="1"/>
          </p:cNvSpPr>
          <p:nvPr>
            <p:ph idx="14"/>
          </p:nvPr>
        </p:nvSpPr>
        <p:spPr>
          <a:xfrm>
            <a:off x="704477" y="1893517"/>
            <a:ext cx="13274794" cy="5191165"/>
          </a:xfrm>
        </p:spPr>
        <p:txBody>
          <a:bodyPr/>
          <a:lstStyle/>
          <a:p>
            <a:r>
              <a:rPr lang="en-US"/>
              <a:t>Returns only transactions that occur in both tables</a:t>
            </a:r>
          </a:p>
          <a:p>
            <a:pPr marL="914364" lvl="1" indent="-342887">
              <a:buFont typeface="Arial" panose="020B0604020202020204" pitchFamily="34" charset="0"/>
              <a:buChar char="•"/>
            </a:pPr>
            <a:r>
              <a:rPr lang="en-US"/>
              <a:t>Inner join is the default join in Tableau</a:t>
            </a:r>
          </a:p>
          <a:p>
            <a:pPr>
              <a:spcBef>
                <a:spcPts val="2600"/>
              </a:spcBef>
            </a:pPr>
            <a:r>
              <a:rPr lang="en-US"/>
              <a:t>In the example (Sales Table and Product </a:t>
            </a:r>
            <a:br>
              <a:rPr lang="en-US"/>
            </a:br>
            <a:r>
              <a:rPr lang="en-US"/>
              <a:t>Table), only matches for Product numbers </a:t>
            </a:r>
            <a:br>
              <a:rPr lang="en-US"/>
            </a:br>
            <a:r>
              <a:rPr lang="en-US"/>
              <a:t>that appear in </a:t>
            </a:r>
            <a:r>
              <a:rPr lang="en-US" b="1"/>
              <a:t>both</a:t>
            </a:r>
            <a:r>
              <a:rPr lang="en-US"/>
              <a:t> tables are returned</a:t>
            </a:r>
          </a:p>
          <a:p>
            <a:pPr>
              <a:spcBef>
                <a:spcPts val="2600"/>
              </a:spcBef>
            </a:pPr>
            <a:r>
              <a:rPr lang="en-US" b="1"/>
              <a:t>Not returned:</a:t>
            </a:r>
          </a:p>
          <a:p>
            <a:pPr marL="914364" lvl="1" indent="-342887">
              <a:buFont typeface="Arial" panose="020B0604020202020204" pitchFamily="34" charset="0"/>
              <a:buChar char="•"/>
            </a:pPr>
            <a:r>
              <a:rPr lang="en-US"/>
              <a:t>Unsold products (no corresponding row in Sales table)</a:t>
            </a:r>
          </a:p>
          <a:p>
            <a:pPr marL="914364" lvl="1" indent="-342887">
              <a:buFont typeface="Arial" panose="020B0604020202020204" pitchFamily="34" charset="0"/>
              <a:buChar char="•"/>
            </a:pPr>
            <a:r>
              <a:rPr lang="en-US"/>
              <a:t>Sales transactions with no matching records in Product table (for example, Product 3 to Customer C doesn’t exist in the Product table)</a:t>
            </a:r>
          </a:p>
          <a:p>
            <a:endParaRPr lang="en-US"/>
          </a:p>
        </p:txBody>
      </p:sp>
      <p:grpSp>
        <p:nvGrpSpPr>
          <p:cNvPr id="4" name="Group 3"/>
          <p:cNvGrpSpPr/>
          <p:nvPr/>
        </p:nvGrpSpPr>
        <p:grpSpPr>
          <a:xfrm>
            <a:off x="9631545" y="3045310"/>
            <a:ext cx="3459422" cy="2082276"/>
            <a:chOff x="3883516" y="3269813"/>
            <a:chExt cx="2413289" cy="1412677"/>
          </a:xfrm>
        </p:grpSpPr>
        <p:pic>
          <p:nvPicPr>
            <p:cNvPr id="3074" name="Picture 2"/>
            <p:cNvPicPr>
              <a:picLocks noChangeAspect="1" noChangeArrowheads="1"/>
            </p:cNvPicPr>
            <p:nvPr/>
          </p:nvPicPr>
          <p:blipFill>
            <a:blip r:embed="rId3"/>
            <a:stretch>
              <a:fillRect/>
            </a:stretch>
          </p:blipFill>
          <p:spPr bwMode="auto">
            <a:xfrm>
              <a:off x="3883516" y="3577590"/>
              <a:ext cx="2413289" cy="110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4512945" y="3269813"/>
              <a:ext cx="707457" cy="271446"/>
            </a:xfrm>
            <a:prstGeom prst="rect">
              <a:avLst/>
            </a:prstGeom>
            <a:noFill/>
          </p:spPr>
          <p:txBody>
            <a:bodyPr wrap="square" rtlCol="0">
              <a:spAutoFit/>
            </a:bodyPr>
            <a:lstStyle/>
            <a:p>
              <a:pPr defTabSz="653084"/>
              <a:endParaRPr lang="en-US" sz="2000" b="1">
                <a:solidFill>
                  <a:srgbClr val="666666"/>
                </a:solidFill>
                <a:latin typeface="Arial" panose="020B0604020202020204" pitchFamily="34" charset="0"/>
                <a:cs typeface="Arial" panose="020B0604020202020204" pitchFamily="34" charset="0"/>
              </a:endParaRPr>
            </a:p>
          </p:txBody>
        </p:sp>
      </p:grpSp>
    </p:spTree>
    <p:custDataLst>
      <p:tags r:id="rId1"/>
    </p:custDataLst>
    <p:extLst>
      <p:ext uri="{BB962C8B-B14F-4D97-AF65-F5344CB8AC3E}">
        <p14:creationId xmlns:p14="http://schemas.microsoft.com/office/powerpoint/2010/main" val="2451585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type="body" sz="quarter" idx="12"/>
          </p:nvPr>
        </p:nvSpPr>
        <p:spPr/>
        <p:txBody>
          <a:bodyPr/>
          <a:lstStyle/>
          <a:p>
            <a:r>
              <a:rPr lang="en-US"/>
              <a:t>Left and Right Joins</a:t>
            </a:r>
          </a:p>
        </p:txBody>
      </p:sp>
      <p:sp>
        <p:nvSpPr>
          <p:cNvPr id="4" name="Content Placeholder 3"/>
          <p:cNvSpPr>
            <a:spLocks noGrp="1"/>
          </p:cNvSpPr>
          <p:nvPr>
            <p:ph idx="14"/>
          </p:nvPr>
        </p:nvSpPr>
        <p:spPr>
          <a:xfrm>
            <a:off x="704477" y="1893515"/>
            <a:ext cx="13274794" cy="4088299"/>
          </a:xfrm>
        </p:spPr>
        <p:txBody>
          <a:bodyPr/>
          <a:lstStyle/>
          <a:p>
            <a:r>
              <a:rPr lang="en-US"/>
              <a:t>Left join returns all rows from the left table and only matching rows from the right table</a:t>
            </a:r>
          </a:p>
          <a:p>
            <a:pPr marL="914364" indent="-342887">
              <a:buFont typeface="Arial" panose="020B0604020202020204" pitchFamily="34" charset="0"/>
              <a:buChar char="•"/>
            </a:pPr>
            <a:r>
              <a:rPr lang="en-US" sz="2400"/>
              <a:t>In the example, the left join relationship more </a:t>
            </a:r>
            <a:br>
              <a:rPr lang="en-US" sz="2400"/>
            </a:br>
            <a:r>
              <a:rPr lang="en-US" sz="2400"/>
              <a:t>accurately reflects the actual sales transactions </a:t>
            </a:r>
            <a:br>
              <a:rPr lang="en-US" sz="2400"/>
            </a:br>
            <a:r>
              <a:rPr lang="en-US" sz="2400"/>
              <a:t>that have occurred  </a:t>
            </a:r>
          </a:p>
          <a:p>
            <a:pPr marL="914364" lvl="1" indent="-342887">
              <a:buFont typeface="Arial" panose="020B0604020202020204" pitchFamily="34" charset="0"/>
              <a:buChar char="•"/>
            </a:pPr>
            <a:r>
              <a:rPr lang="en-US"/>
              <a:t>The sale of Product 3 to Customer C is included </a:t>
            </a:r>
            <a:br>
              <a:rPr lang="en-US"/>
            </a:br>
            <a:r>
              <a:rPr lang="en-US"/>
              <a:t>in the result because the record was in the table </a:t>
            </a:r>
            <a:br>
              <a:rPr lang="en-US"/>
            </a:br>
            <a:r>
              <a:rPr lang="en-US"/>
              <a:t>on the left</a:t>
            </a:r>
          </a:p>
          <a:p>
            <a:pPr>
              <a:spcBef>
                <a:spcPts val="2600"/>
              </a:spcBef>
            </a:pPr>
            <a:r>
              <a:rPr lang="en-US"/>
              <a:t>Right join changes the direction of the join</a:t>
            </a:r>
          </a:p>
          <a:p>
            <a:pPr marL="914364" lvl="1" indent="-342887">
              <a:buFont typeface="Arial" panose="020B0604020202020204" pitchFamily="34" charset="0"/>
              <a:buChar char="•"/>
            </a:pPr>
            <a:r>
              <a:rPr lang="en-US"/>
              <a:t>In the example, a right join could help identify products that have not sold</a:t>
            </a:r>
          </a:p>
        </p:txBody>
      </p:sp>
      <p:grpSp>
        <p:nvGrpSpPr>
          <p:cNvPr id="9" name="Group 8"/>
          <p:cNvGrpSpPr/>
          <p:nvPr/>
        </p:nvGrpSpPr>
        <p:grpSpPr>
          <a:xfrm>
            <a:off x="9680825" y="2876337"/>
            <a:ext cx="3372859" cy="2347022"/>
            <a:chOff x="3575594" y="2514600"/>
            <a:chExt cx="1866130" cy="1460183"/>
          </a:xfrm>
        </p:grpSpPr>
        <p:pic>
          <p:nvPicPr>
            <p:cNvPr id="2050" name="Picture 2"/>
            <p:cNvPicPr>
              <a:picLocks noChangeAspect="1" noChangeArrowheads="1"/>
            </p:cNvPicPr>
            <p:nvPr/>
          </p:nvPicPr>
          <p:blipFill>
            <a:blip r:embed="rId3"/>
            <a:stretch>
              <a:fillRect/>
            </a:stretch>
          </p:blipFill>
          <p:spPr bwMode="auto">
            <a:xfrm>
              <a:off x="3575594" y="2810171"/>
              <a:ext cx="1866130" cy="1164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3893820" y="2514600"/>
              <a:ext cx="982980" cy="248926"/>
            </a:xfrm>
            <a:prstGeom prst="rect">
              <a:avLst/>
            </a:prstGeom>
            <a:noFill/>
          </p:spPr>
          <p:txBody>
            <a:bodyPr wrap="square" rtlCol="0">
              <a:spAutoFit/>
            </a:bodyPr>
            <a:lstStyle/>
            <a:p>
              <a:pPr defTabSz="653084"/>
              <a:endParaRPr lang="en-US" sz="2000" b="1">
                <a:solidFill>
                  <a:srgbClr val="666666"/>
                </a:solidFill>
                <a:latin typeface="Arial" panose="020B0604020202020204" pitchFamily="34" charset="0"/>
                <a:cs typeface="Arial" panose="020B0604020202020204" pitchFamily="34" charset="0"/>
              </a:endParaRPr>
            </a:p>
          </p:txBody>
        </p:sp>
      </p:grpSp>
    </p:spTree>
    <p:custDataLst>
      <p:tags r:id="rId1"/>
    </p:custDataLst>
    <p:extLst>
      <p:ext uri="{BB962C8B-B14F-4D97-AF65-F5344CB8AC3E}">
        <p14:creationId xmlns:p14="http://schemas.microsoft.com/office/powerpoint/2010/main" val="4128451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2"/>
          </p:nvPr>
        </p:nvSpPr>
        <p:spPr/>
        <p:txBody>
          <a:bodyPr/>
          <a:lstStyle/>
          <a:p>
            <a:r>
              <a:rPr lang="en-US"/>
              <a:t>Full Outer Join</a:t>
            </a:r>
          </a:p>
        </p:txBody>
      </p:sp>
      <p:sp>
        <p:nvSpPr>
          <p:cNvPr id="4" name="Content Placeholder 3"/>
          <p:cNvSpPr>
            <a:spLocks noGrp="1"/>
          </p:cNvSpPr>
          <p:nvPr>
            <p:ph idx="14"/>
          </p:nvPr>
        </p:nvSpPr>
        <p:spPr>
          <a:xfrm>
            <a:off x="704477" y="1893515"/>
            <a:ext cx="13274794" cy="2431435"/>
          </a:xfrm>
        </p:spPr>
        <p:txBody>
          <a:bodyPr/>
          <a:lstStyle/>
          <a:p>
            <a:r>
              <a:rPr lang="en-US"/>
              <a:t>Full outer join returns all records from both tables</a:t>
            </a:r>
          </a:p>
          <a:p>
            <a:pPr marL="914364" lvl="1" indent="-344474">
              <a:buFont typeface="Arial" panose="020B0604020202020204" pitchFamily="34" charset="0"/>
              <a:buChar char="•"/>
            </a:pPr>
            <a:r>
              <a:rPr lang="en-US"/>
              <a:t>Leaves nulls where no matches exist</a:t>
            </a:r>
          </a:p>
          <a:p>
            <a:pPr marL="914364" lvl="1" indent="-342887">
              <a:buFont typeface="Arial" panose="020B0604020202020204" pitchFamily="34" charset="0"/>
              <a:buChar char="•"/>
            </a:pPr>
            <a:r>
              <a:rPr lang="en-US"/>
              <a:t>In the example, a full outer join could help </a:t>
            </a:r>
            <a:br>
              <a:rPr lang="en-US"/>
            </a:br>
            <a:r>
              <a:rPr lang="en-US"/>
              <a:t>discover where details are missing about </a:t>
            </a:r>
            <a:br>
              <a:rPr lang="en-US"/>
            </a:br>
            <a:r>
              <a:rPr lang="en-US"/>
              <a:t>a transaction, or where products are not </a:t>
            </a:r>
            <a:br>
              <a:rPr lang="en-US"/>
            </a:br>
            <a:r>
              <a:rPr lang="en-US"/>
              <a:t>being sold</a:t>
            </a:r>
          </a:p>
        </p:txBody>
      </p:sp>
      <p:grpSp>
        <p:nvGrpSpPr>
          <p:cNvPr id="9" name="Group 8"/>
          <p:cNvGrpSpPr/>
          <p:nvPr/>
        </p:nvGrpSpPr>
        <p:grpSpPr>
          <a:xfrm>
            <a:off x="9232989" y="2721911"/>
            <a:ext cx="3459698" cy="2976832"/>
            <a:chOff x="6558075" y="2715166"/>
            <a:chExt cx="2154330" cy="1919955"/>
          </a:xfrm>
        </p:grpSpPr>
        <p:sp>
          <p:nvSpPr>
            <p:cNvPr id="8" name="TextBox 7"/>
            <p:cNvSpPr txBox="1"/>
            <p:nvPr/>
          </p:nvSpPr>
          <p:spPr>
            <a:xfrm>
              <a:off x="6988492" y="2715166"/>
              <a:ext cx="1196340" cy="258057"/>
            </a:xfrm>
            <a:prstGeom prst="rect">
              <a:avLst/>
            </a:prstGeom>
            <a:noFill/>
          </p:spPr>
          <p:txBody>
            <a:bodyPr wrap="square" rtlCol="0">
              <a:spAutoFit/>
            </a:bodyPr>
            <a:lstStyle/>
            <a:p>
              <a:pPr defTabSz="653084"/>
              <a:endParaRPr lang="en-US" sz="2000" b="1">
                <a:solidFill>
                  <a:srgbClr val="666666"/>
                </a:solidFill>
                <a:latin typeface="Arial" panose="020B0604020202020204" pitchFamily="34" charset="0"/>
                <a:cs typeface="Arial" panose="020B0604020202020204" pitchFamily="34" charset="0"/>
              </a:endParaRPr>
            </a:p>
          </p:txBody>
        </p:sp>
        <p:pic>
          <p:nvPicPr>
            <p:cNvPr id="4098" name="Picture 2"/>
            <p:cNvPicPr>
              <a:picLocks noChangeAspect="1" noChangeArrowheads="1"/>
            </p:cNvPicPr>
            <p:nvPr/>
          </p:nvPicPr>
          <p:blipFill>
            <a:blip r:embed="rId3"/>
            <a:stretch>
              <a:fillRect/>
            </a:stretch>
          </p:blipFill>
          <p:spPr bwMode="auto">
            <a:xfrm>
              <a:off x="6558075" y="3022943"/>
              <a:ext cx="2154330" cy="16121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custDataLst>
      <p:tags r:id="rId1"/>
    </p:custDataLst>
    <p:extLst>
      <p:ext uri="{BB962C8B-B14F-4D97-AF65-F5344CB8AC3E}">
        <p14:creationId xmlns:p14="http://schemas.microsoft.com/office/powerpoint/2010/main" val="3473076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710057" y="598699"/>
            <a:ext cx="13269093" cy="553998"/>
          </a:xfrm>
          <a:prstGeom prst="rect">
            <a:avLst/>
          </a:prstGeom>
        </p:spPr>
        <p:txBody>
          <a:bodyPr/>
          <a:lstStyle/>
          <a:p>
            <a:r>
              <a:rPr lang="en-US" dirty="0"/>
              <a:t>Connecting to Multiple Tables</a:t>
            </a:r>
          </a:p>
        </p:txBody>
      </p:sp>
      <p:pic>
        <p:nvPicPr>
          <p:cNvPr id="7" name="Picture 6" descr="A screenshot of a social media post&#10;&#10;Description automatically generated">
            <a:extLst>
              <a:ext uri="{FF2B5EF4-FFF2-40B4-BE49-F238E27FC236}">
                <a16:creationId xmlns:a16="http://schemas.microsoft.com/office/drawing/2014/main" id="{90E00C26-4CD9-456E-A891-E5F536D0882E}"/>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752989" y="1584961"/>
            <a:ext cx="11157931" cy="5074920"/>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67162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420497" y="263419"/>
            <a:ext cx="13269093" cy="553998"/>
          </a:xfrm>
          <a:prstGeom prst="rect">
            <a:avLst/>
          </a:prstGeom>
        </p:spPr>
        <p:txBody>
          <a:bodyPr/>
          <a:lstStyle/>
          <a:p>
            <a:pPr defTabSz="1306221" fontAlgn="auto">
              <a:spcAft>
                <a:spcPts val="0"/>
              </a:spcAft>
              <a:defRPr/>
            </a:pPr>
            <a:r>
              <a:rPr lang="en-US" dirty="0">
                <a:ea typeface="+mn-ea"/>
                <a:cs typeface="+mn-cs"/>
              </a:rPr>
              <a:t>Connecting to Multiple Tables</a:t>
            </a:r>
          </a:p>
        </p:txBody>
      </p:sp>
      <p:pic>
        <p:nvPicPr>
          <p:cNvPr id="2" name="2.1.4 Connecting to Multiple Tables">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2491201" y="939337"/>
            <a:ext cx="9706803" cy="6067044"/>
          </a:xfrm>
          <a:prstGeom prst="rect">
            <a:avLst/>
          </a:prstGeom>
        </p:spPr>
      </p:pic>
    </p:spTree>
    <p:custDataLst>
      <p:tags r:id="rId1"/>
    </p:custDataLst>
    <p:extLst>
      <p:ext uri="{BB962C8B-B14F-4D97-AF65-F5344CB8AC3E}">
        <p14:creationId xmlns:p14="http://schemas.microsoft.com/office/powerpoint/2010/main" val="187286669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2"/>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PT_Corporate_Template_BentonSans_16.9_c">
  <a:themeElements>
    <a:clrScheme name="Custom 8">
      <a:dk1>
        <a:srgbClr val="666666"/>
      </a:dk1>
      <a:lt1>
        <a:sysClr val="window" lastClr="FFFFFF"/>
      </a:lt1>
      <a:dk2>
        <a:srgbClr val="5B6591"/>
      </a:dk2>
      <a:lt2>
        <a:srgbClr val="FFFFFF"/>
      </a:lt2>
      <a:accent1>
        <a:srgbClr val="1F447D"/>
      </a:accent1>
      <a:accent2>
        <a:srgbClr val="E8762C"/>
      </a:accent2>
      <a:accent3>
        <a:srgbClr val="7099A6"/>
      </a:accent3>
      <a:accent4>
        <a:srgbClr val="59879B"/>
      </a:accent4>
      <a:accent5>
        <a:srgbClr val="4C4C4C"/>
      </a:accent5>
      <a:accent6>
        <a:srgbClr val="C72035"/>
      </a:accent6>
      <a:hlink>
        <a:srgbClr val="EB912C"/>
      </a:hlink>
      <a:folHlink>
        <a:srgbClr val="969696"/>
      </a:folHlink>
    </a:clrScheme>
    <a:fontScheme name="Tableau Corporate Fonts">
      <a:majorFont>
        <a:latin typeface="BentonSans Book"/>
        <a:ea typeface=""/>
        <a:cs typeface=""/>
      </a:majorFont>
      <a:minorFont>
        <a:latin typeface="Merriweather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60000"/>
            <a:lumOff val="4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cmpd="sng">
          <a:solidFill>
            <a:schemeClr val="bg1">
              <a:lumMod val="75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PPT_Corporate_Template_BentonSans_16.9_c</Template>
  <TotalTime>0</TotalTime>
  <Words>1439</Words>
  <Application>Microsoft Office PowerPoint</Application>
  <PresentationFormat>Custom</PresentationFormat>
  <Paragraphs>128</Paragraphs>
  <Slides>21</Slides>
  <Notes>16</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ＭＳ Ｐゴシック</vt:lpstr>
      <vt:lpstr>Arial</vt:lpstr>
      <vt:lpstr>BentonSans</vt:lpstr>
      <vt:lpstr>BentonSans Book</vt:lpstr>
      <vt:lpstr>Gill Sans MT</vt:lpstr>
      <vt:lpstr>Merriweather Light</vt:lpstr>
      <vt:lpstr>PPT_Corporate_Template_BentonSans_16.9_c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2021-09-13T16:44:09Z</dcterms:created>
  <dcterms:modified xsi:type="dcterms:W3CDTF">2021-09-13T16:44:19Z</dcterms:modified>
  <cp:category/>
</cp:coreProperties>
</file>