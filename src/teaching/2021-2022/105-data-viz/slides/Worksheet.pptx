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75" r:id="rId1"/>
  </p:sldMasterIdLst>
  <p:notesMasterIdLst>
    <p:notesMasterId r:id="rId27"/>
  </p:notesMasterIdLst>
  <p:handoutMasterIdLst>
    <p:handoutMasterId r:id="rId28"/>
  </p:handoutMasterIdLst>
  <p:sldIdLst>
    <p:sldId id="256" r:id="rId2"/>
    <p:sldId id="302" r:id="rId3"/>
    <p:sldId id="348" r:id="rId4"/>
    <p:sldId id="534" r:id="rId5"/>
    <p:sldId id="545" r:id="rId6"/>
    <p:sldId id="535" r:id="rId7"/>
    <p:sldId id="546" r:id="rId8"/>
    <p:sldId id="527" r:id="rId9"/>
    <p:sldId id="511" r:id="rId10"/>
    <p:sldId id="536" r:id="rId11"/>
    <p:sldId id="547" r:id="rId12"/>
    <p:sldId id="538" r:id="rId13"/>
    <p:sldId id="537" r:id="rId14"/>
    <p:sldId id="539" r:id="rId15"/>
    <p:sldId id="550" r:id="rId16"/>
    <p:sldId id="540" r:id="rId17"/>
    <p:sldId id="548" r:id="rId18"/>
    <p:sldId id="549" r:id="rId19"/>
    <p:sldId id="541" r:id="rId20"/>
    <p:sldId id="542" r:id="rId21"/>
    <p:sldId id="551" r:id="rId22"/>
    <p:sldId id="543" r:id="rId23"/>
    <p:sldId id="544" r:id="rId24"/>
    <p:sldId id="552" r:id="rId25"/>
    <p:sldId id="426" r:id="rId26"/>
  </p:sldIdLst>
  <p:sldSz cx="14630400" cy="8229600"/>
  <p:notesSz cx="6858000" cy="9144000"/>
  <p:defaultTex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181">
          <p15:clr>
            <a:srgbClr val="A4A3A4"/>
          </p15:clr>
        </p15:guide>
        <p15:guide id="2" orient="horz" pos="369">
          <p15:clr>
            <a:srgbClr val="A4A3A4"/>
          </p15:clr>
        </p15:guide>
        <p15:guide id="3" pos="4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B2E4D7"/>
    <a:srgbClr val="E0E0E0"/>
    <a:srgbClr val="59879B"/>
    <a:srgbClr val="1F447D"/>
    <a:srgbClr val="6666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42" autoAdjust="0"/>
  </p:normalViewPr>
  <p:slideViewPr>
    <p:cSldViewPr snapToGrid="0" showGuides="1">
      <p:cViewPr varScale="1">
        <p:scale>
          <a:sx n="82" d="100"/>
          <a:sy n="82" d="100"/>
        </p:scale>
        <p:origin x="972" y="96"/>
      </p:cViewPr>
      <p:guideLst>
        <p:guide orient="horz" pos="1181"/>
        <p:guide orient="horz" pos="369"/>
        <p:guide pos="432"/>
      </p:guideLst>
    </p:cSldViewPr>
  </p:slideViewPr>
  <p:notesTextViewPr>
    <p:cViewPr>
      <p:scale>
        <a:sx n="100" d="100"/>
        <a:sy n="100" d="100"/>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85591767-110F-A243-83F9-36645DAA76CB}" type="datetime1">
              <a:rPr lang="en-US"/>
              <a:pPr>
                <a:defRPr/>
              </a:pPr>
              <a:t>12/1/2021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183AF4F7-31B0-B643-9B95-E1F087EE11A4}" type="slidenum">
              <a:rPr lang="en-US"/>
              <a:pPr>
                <a:defRPr/>
              </a:pPr>
              <a:t>‹#›</a:t>
            </a:fld>
            <a:endParaRPr lang="en-US" dirty="0"/>
          </a:p>
        </p:txBody>
      </p:sp>
    </p:spTree>
    <p:extLst>
      <p:ext uri="{BB962C8B-B14F-4D97-AF65-F5344CB8AC3E}">
        <p14:creationId xmlns:p14="http://schemas.microsoft.com/office/powerpoint/2010/main" val="35355410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7850FBDF-363D-BA4E-BF53-7E974FE76827}" type="datetime1">
              <a:rPr lang="en-US"/>
              <a:pPr>
                <a:defRPr/>
              </a:pPr>
              <a:t>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BE318CCB-9EB4-A04E-B82B-4EF927884A69}" type="slidenum">
              <a:rPr lang="en-US"/>
              <a:pPr>
                <a:defRPr/>
              </a:pPr>
              <a:t>‹#›</a:t>
            </a:fld>
            <a:endParaRPr lang="en-US" dirty="0"/>
          </a:p>
        </p:txBody>
      </p:sp>
    </p:spTree>
    <p:extLst>
      <p:ext uri="{BB962C8B-B14F-4D97-AF65-F5344CB8AC3E}">
        <p14:creationId xmlns:p14="http://schemas.microsoft.com/office/powerpoint/2010/main" val="1518684071"/>
      </p:ext>
    </p:extLst>
  </p:cSld>
  <p:clrMap bg1="lt1" tx1="dk1" bg2="lt2" tx2="dk2" accent1="accent1" accent2="accent2" accent3="accent3" accent4="accent4" accent5="accent5" accent6="accent6" hlink="hlink" folHlink="folHlink"/>
  <p:hf sldNum="0" hdr="0" ftr="0" dt="0"/>
  <p:notesStyle>
    <a:lvl1pPr algn="l" defTabSz="1304925" rtl="0" fontAlgn="base">
      <a:spcBef>
        <a:spcPct val="30000"/>
      </a:spcBef>
      <a:spcAft>
        <a:spcPct val="0"/>
      </a:spcAft>
      <a:defRPr kern="1200">
        <a:solidFill>
          <a:schemeClr val="tx1"/>
        </a:solidFill>
        <a:latin typeface="BentonSans Book"/>
        <a:ea typeface="ＭＳ Ｐゴシック" charset="0"/>
        <a:cs typeface="ＭＳ Ｐゴシック" charset="0"/>
      </a:defRPr>
    </a:lvl1pPr>
    <a:lvl2pPr marL="652463" algn="l" defTabSz="1304925" rtl="0" fontAlgn="base">
      <a:spcBef>
        <a:spcPct val="30000"/>
      </a:spcBef>
      <a:spcAft>
        <a:spcPct val="0"/>
      </a:spcAft>
      <a:defRPr kern="1200">
        <a:solidFill>
          <a:schemeClr val="tx1"/>
        </a:solidFill>
        <a:latin typeface="BentonSans Book"/>
        <a:ea typeface="ＭＳ Ｐゴシック" charset="0"/>
        <a:cs typeface="+mn-cs"/>
      </a:defRPr>
    </a:lvl2pPr>
    <a:lvl3pPr marL="1304925" algn="l" defTabSz="1304925" rtl="0" fontAlgn="base">
      <a:spcBef>
        <a:spcPct val="30000"/>
      </a:spcBef>
      <a:spcAft>
        <a:spcPct val="0"/>
      </a:spcAft>
      <a:defRPr kern="1200">
        <a:solidFill>
          <a:schemeClr val="tx1"/>
        </a:solidFill>
        <a:latin typeface="BentonSans Book"/>
        <a:ea typeface="ＭＳ Ｐゴシック" charset="0"/>
        <a:cs typeface="+mn-cs"/>
      </a:defRPr>
    </a:lvl3pPr>
    <a:lvl4pPr marL="1958975" algn="l" defTabSz="1304925" rtl="0" fontAlgn="base">
      <a:spcBef>
        <a:spcPct val="30000"/>
      </a:spcBef>
      <a:spcAft>
        <a:spcPct val="0"/>
      </a:spcAft>
      <a:defRPr kern="1200">
        <a:solidFill>
          <a:schemeClr val="tx1"/>
        </a:solidFill>
        <a:latin typeface="BentonSans Book"/>
        <a:ea typeface="ＭＳ Ｐゴシック" charset="0"/>
        <a:cs typeface="+mn-cs"/>
      </a:defRPr>
    </a:lvl4pPr>
    <a:lvl5pPr marL="2611438" algn="l" defTabSz="1304925" rtl="0" fontAlgn="base">
      <a:spcBef>
        <a:spcPct val="30000"/>
      </a:spcBef>
      <a:spcAft>
        <a:spcPct val="0"/>
      </a:spcAft>
      <a:defRPr kern="1200">
        <a:solidFill>
          <a:schemeClr val="tx1"/>
        </a:solidFill>
        <a:latin typeface="BentonSans Book"/>
        <a:ea typeface="ＭＳ Ｐゴシック" charset="0"/>
        <a:cs typeface="+mn-cs"/>
      </a:defRPr>
    </a:lvl5pPr>
    <a:lvl6pPr marL="3265550" algn="l" defTabSz="1306221" rtl="0" eaLnBrk="1" latinLnBrk="0" hangingPunct="1">
      <a:defRPr sz="1800" kern="1200">
        <a:solidFill>
          <a:schemeClr val="tx1"/>
        </a:solidFill>
        <a:latin typeface="+mn-lt"/>
        <a:ea typeface="+mn-ea"/>
        <a:cs typeface="+mn-cs"/>
      </a:defRPr>
    </a:lvl6pPr>
    <a:lvl7pPr marL="3918661" algn="l" defTabSz="1306221" rtl="0" eaLnBrk="1" latinLnBrk="0" hangingPunct="1">
      <a:defRPr sz="1800" kern="1200">
        <a:solidFill>
          <a:schemeClr val="tx1"/>
        </a:solidFill>
        <a:latin typeface="+mn-lt"/>
        <a:ea typeface="+mn-ea"/>
        <a:cs typeface="+mn-cs"/>
      </a:defRPr>
    </a:lvl7pPr>
    <a:lvl8pPr marL="4571771" algn="l" defTabSz="1306221" rtl="0" eaLnBrk="1" latinLnBrk="0" hangingPunct="1">
      <a:defRPr sz="1800" kern="1200">
        <a:solidFill>
          <a:schemeClr val="tx1"/>
        </a:solidFill>
        <a:latin typeface="+mn-lt"/>
        <a:ea typeface="+mn-ea"/>
        <a:cs typeface="+mn-cs"/>
      </a:defRPr>
    </a:lvl8pPr>
    <a:lvl9pPr marL="5224882" algn="l" defTabSz="1306221"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0"/>
              </a:spcBef>
              <a:spcAft>
                <a:spcPct val="0"/>
              </a:spcAft>
              <a:buClrTx/>
              <a:buSzTx/>
              <a:buFontTx/>
              <a:buNone/>
              <a:tabLst/>
              <a:defRP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789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993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10341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993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739419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96147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24696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b="-3328"/>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2254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47655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Tree>
    <p:extLst>
      <p:ext uri="{BB962C8B-B14F-4D97-AF65-F5344CB8AC3E}">
        <p14:creationId xmlns:p14="http://schemas.microsoft.com/office/powerpoint/2010/main" val="363517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endParaRPr lang="en-US" dirty="0"/>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Edit Master text styles</a:t>
            </a:r>
          </a:p>
        </p:txBody>
      </p:sp>
    </p:spTree>
    <p:extLst>
      <p:ext uri="{BB962C8B-B14F-4D97-AF65-F5344CB8AC3E}">
        <p14:creationId xmlns:p14="http://schemas.microsoft.com/office/powerpoint/2010/main" val="197264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776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164441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26605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endParaRPr lang="en-US" noProof="0" dirty="0"/>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256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endParaRPr lang="en-US" noProof="0" dirty="0"/>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84163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1015207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73061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43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49641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19" cstate="email">
            <a:extLst>
              <a:ext uri="{28A0092B-C50C-407E-A947-70E740481C1C}">
                <a14:useLocalDpi xmlns:a14="http://schemas.microsoft.com/office/drawing/2010/main" val="0"/>
              </a:ext>
            </a:extLst>
          </a:blip>
          <a:srcRect/>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0"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dirty="0"/>
              <a:t>Master Title Style</a:t>
            </a:r>
          </a:p>
        </p:txBody>
      </p:sp>
    </p:spTree>
  </p:cSld>
  <p:clrMap bg1="lt1" tx1="dk1" bg2="lt2" tx2="dk2" accent1="accent1" accent2="accent2" accent3="accent3" accent4="accent4" accent5="accent5" accent6="accent6" hlink="hlink" folHlink="folHlink"/>
  <p:sldLayoutIdLst>
    <p:sldLayoutId id="2147484147" r:id="rId1"/>
    <p:sldLayoutId id="2147484135" r:id="rId2"/>
    <p:sldLayoutId id="2147484148" r:id="rId3"/>
    <p:sldLayoutId id="2147484150" r:id="rId4"/>
    <p:sldLayoutId id="2147484152"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9" r:id="rId17"/>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05985" y="1891756"/>
            <a:ext cx="13245156" cy="3560334"/>
          </a:xfrm>
          <a:prstGeom prst="rect">
            <a:avLst/>
          </a:prstGeom>
        </p:spPr>
        <p:txBody>
          <a:bodyPr/>
          <a:lstStyle/>
          <a:p>
            <a:pPr defTabSz="1306221" fontAlgn="auto">
              <a:spcAft>
                <a:spcPts val="0"/>
              </a:spcAft>
              <a:defRPr/>
            </a:pPr>
            <a:r>
              <a:rPr lang="en-US" sz="4800" dirty="0"/>
              <a:t>Worksheet Formatting</a:t>
            </a:r>
          </a:p>
          <a:p>
            <a:pPr defTabSz="1306221" fontAlgn="auto">
              <a:spcAft>
                <a:spcPts val="0"/>
              </a:spcAft>
              <a:defRPr/>
            </a:pPr>
            <a:endParaRPr lang="en-US" sz="4800" dirty="0"/>
          </a:p>
          <a:p>
            <a:pPr defTabSz="1306221" fontAlgn="auto">
              <a:spcAft>
                <a:spcPts val="0"/>
              </a:spcAft>
              <a:defRPr/>
            </a:pPr>
            <a:r>
              <a:rPr lang="en-US" sz="4800" dirty="0"/>
              <a:t>CSC105 </a:t>
            </a:r>
          </a:p>
          <a:p>
            <a:pPr defTabSz="1306221" fontAlgn="auto">
              <a:spcAft>
                <a:spcPts val="0"/>
              </a:spcAft>
              <a:defRPr/>
            </a:pPr>
            <a:endParaRPr lang="en-US" sz="4800" dirty="0"/>
          </a:p>
          <a:p>
            <a:pPr defTabSz="1306221" fontAlgn="auto">
              <a:spcAft>
                <a:spcPts val="0"/>
              </a:spcAft>
              <a:defRPr/>
            </a:pPr>
            <a:r>
              <a:rPr lang="en-US" sz="4800" dirty="0"/>
              <a:t>Prof. </a:t>
            </a:r>
            <a:r>
              <a:rPr lang="en-US" sz="4800"/>
              <a:t>Earl</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725488" y="1812925"/>
            <a:ext cx="5819003" cy="3231654"/>
          </a:xfrm>
        </p:spPr>
        <p:txBody>
          <a:bodyPr anchor="t"/>
          <a:lstStyle/>
          <a:p>
            <a:pPr defTabSz="1306221" fontAlgn="auto">
              <a:spcAft>
                <a:spcPts val="0"/>
              </a:spcAft>
              <a:defRPr/>
            </a:pPr>
            <a:r>
              <a:rPr lang="en-US" dirty="0">
                <a:ea typeface="+mn-ea"/>
              </a:rPr>
              <a:t>Labels</a:t>
            </a:r>
          </a:p>
          <a:p>
            <a:pPr defTabSz="1306221" fontAlgn="auto">
              <a:spcAft>
                <a:spcPts val="0"/>
              </a:spcAft>
              <a:defRPr/>
            </a:pPr>
            <a:r>
              <a:rPr lang="en-US" dirty="0">
                <a:ea typeface="+mn-ea"/>
              </a:rPr>
              <a:t>Annotations</a:t>
            </a:r>
          </a:p>
          <a:p>
            <a:pPr defTabSz="1306221" fontAlgn="auto">
              <a:spcAft>
                <a:spcPts val="0"/>
              </a:spcAft>
              <a:defRPr/>
            </a:pPr>
            <a:r>
              <a:rPr lang="en-US" dirty="0">
                <a:ea typeface="+mn-ea"/>
              </a:rPr>
              <a:t>Tooltips</a:t>
            </a:r>
          </a:p>
          <a:p>
            <a:pPr defTabSz="1306221" fontAlgn="auto">
              <a:spcAft>
                <a:spcPts val="0"/>
              </a:spcAft>
              <a:defRPr/>
            </a:pPr>
            <a:r>
              <a:rPr lang="en-US" dirty="0">
                <a:ea typeface="+mn-ea"/>
              </a:rPr>
              <a:t>Formatting Specific parts of the View</a:t>
            </a:r>
          </a:p>
          <a:p>
            <a:pPr defTabSz="1306221" fontAlgn="auto">
              <a:spcAft>
                <a:spcPts val="0"/>
              </a:spcAft>
              <a:defRPr/>
            </a:pPr>
            <a:r>
              <a:rPr lang="en-US" dirty="0">
                <a:ea typeface="+mn-ea"/>
              </a:rPr>
              <a:t>Editing &amp; Formatting Axes</a:t>
            </a:r>
            <a:endParaRPr lang="en-US" dirty="0"/>
          </a:p>
        </p:txBody>
      </p:sp>
      <p:sp>
        <p:nvSpPr>
          <p:cNvPr id="9" name="Text Placeholder 8"/>
          <p:cNvSpPr>
            <a:spLocks noGrp="1"/>
          </p:cNvSpPr>
          <p:nvPr>
            <p:ph type="body" sz="quarter" idx="12"/>
          </p:nvPr>
        </p:nvSpPr>
        <p:spPr>
          <a:xfrm>
            <a:off x="8545513" y="1812925"/>
            <a:ext cx="5414962" cy="3231654"/>
          </a:xfrm>
        </p:spPr>
        <p:txBody>
          <a:bodyPr anchor="t"/>
          <a:lstStyle/>
          <a:p>
            <a:pPr>
              <a:defRPr/>
            </a:pPr>
            <a:r>
              <a:rPr lang="en-US" dirty="0">
                <a:ea typeface="+mn-ea"/>
              </a:rPr>
              <a:t>Slide 3</a:t>
            </a:r>
          </a:p>
          <a:p>
            <a:pPr>
              <a:defRPr/>
            </a:pPr>
            <a:r>
              <a:rPr lang="en-US" dirty="0">
                <a:ea typeface="+mn-ea"/>
              </a:rPr>
              <a:t>Slide 8</a:t>
            </a:r>
          </a:p>
          <a:p>
            <a:pPr>
              <a:defRPr/>
            </a:pPr>
            <a:r>
              <a:rPr lang="en-US" dirty="0">
                <a:ea typeface="+mn-ea"/>
              </a:rPr>
              <a:t>Slide 12</a:t>
            </a:r>
          </a:p>
          <a:p>
            <a:pPr>
              <a:defRPr/>
            </a:pPr>
            <a:r>
              <a:rPr lang="en-US" dirty="0">
                <a:ea typeface="+mn-ea"/>
              </a:rPr>
              <a:t>Slide 19</a:t>
            </a:r>
          </a:p>
          <a:p>
            <a:pPr>
              <a:defRPr/>
            </a:pPr>
            <a:r>
              <a:rPr lang="en-US" dirty="0">
                <a:ea typeface="+mn-ea"/>
              </a:rPr>
              <a:t>Slide 22</a:t>
            </a:r>
          </a:p>
        </p:txBody>
      </p:sp>
      <p:sp>
        <p:nvSpPr>
          <p:cNvPr id="2" name="Text Placeholder 1"/>
          <p:cNvSpPr>
            <a:spLocks noGrp="1"/>
          </p:cNvSpPr>
          <p:nvPr>
            <p:ph type="body" sz="quarter" idx="13"/>
          </p:nvPr>
        </p:nvSpPr>
        <p:spPr>
          <a:xfrm>
            <a:off x="712788" y="600075"/>
            <a:ext cx="13244512" cy="635000"/>
          </a:xfrm>
        </p:spPr>
        <p:txBody>
          <a:bodyPr/>
          <a:lstStyle/>
          <a:p>
            <a:pPr defTabSz="1306221" fontAlgn="auto">
              <a:spcAft>
                <a:spcPts val="0"/>
              </a:spcAft>
              <a:defRPr/>
            </a:pPr>
            <a:r>
              <a:rPr lang="en-US" dirty="0">
                <a:ea typeface="+mn-ea"/>
              </a:rPr>
              <a:t>Table of Contents/Agenda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Labels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4970591"/>
          </a:xfrm>
        </p:spPr>
        <p:txBody>
          <a:bodyPr/>
          <a:lstStyle/>
          <a:p>
            <a:r>
              <a:rPr lang="en-US" dirty="0"/>
              <a:t>Start by making a line chart – </a:t>
            </a:r>
            <a:r>
              <a:rPr lang="en-US" b="1" dirty="0"/>
              <a:t>Sales</a:t>
            </a:r>
            <a:r>
              <a:rPr lang="en-US" dirty="0"/>
              <a:t> by month (</a:t>
            </a:r>
            <a:r>
              <a:rPr lang="en-US" b="1" dirty="0"/>
              <a:t>continuous</a:t>
            </a:r>
            <a:r>
              <a:rPr lang="en-US" dirty="0"/>
              <a:t>) of </a:t>
            </a:r>
            <a:r>
              <a:rPr lang="en-US" b="1" dirty="0"/>
              <a:t>Order Date</a:t>
            </a:r>
            <a:r>
              <a:rPr lang="en-US" dirty="0"/>
              <a:t>, </a:t>
            </a:r>
            <a:r>
              <a:rPr lang="en-US" b="1" dirty="0"/>
              <a:t>Market</a:t>
            </a:r>
            <a:r>
              <a:rPr lang="en-US" dirty="0"/>
              <a:t> onto </a:t>
            </a:r>
            <a:r>
              <a:rPr lang="en-US" b="1" dirty="0"/>
              <a:t>color</a:t>
            </a:r>
            <a:endParaRPr lang="en-US" dirty="0"/>
          </a:p>
          <a:p>
            <a:r>
              <a:rPr lang="en-US" dirty="0"/>
              <a:t>Click the </a:t>
            </a:r>
            <a:r>
              <a:rPr lang="en-US" b="1" dirty="0"/>
              <a:t>Label</a:t>
            </a:r>
            <a:r>
              <a:rPr lang="en-US" dirty="0"/>
              <a:t> shelf to see the options:</a:t>
            </a:r>
          </a:p>
          <a:p>
            <a:r>
              <a:rPr lang="en-US" b="1" dirty="0"/>
              <a:t>Checking</a:t>
            </a:r>
            <a:r>
              <a:rPr lang="en-US" dirty="0"/>
              <a:t> this box will turn labels on in the view, the same as clicking the “T” label button in the toolbar. </a:t>
            </a:r>
          </a:p>
          <a:p>
            <a:r>
              <a:rPr lang="en-US" dirty="0"/>
              <a:t>Drag </a:t>
            </a:r>
            <a:r>
              <a:rPr lang="en-US" b="1" dirty="0"/>
              <a:t>Profit</a:t>
            </a:r>
            <a:r>
              <a:rPr lang="en-US" dirty="0"/>
              <a:t> to the </a:t>
            </a:r>
            <a:r>
              <a:rPr lang="en-US" b="1" dirty="0"/>
              <a:t>label</a:t>
            </a:r>
            <a:r>
              <a:rPr lang="en-US" dirty="0"/>
              <a:t> shelf. This adds it to the label (turn it off with the toolbar).  Click </a:t>
            </a:r>
            <a:r>
              <a:rPr lang="en-US" b="1" dirty="0"/>
              <a:t>Label</a:t>
            </a:r>
            <a:r>
              <a:rPr lang="en-US" dirty="0"/>
              <a:t> shelf, we can click on the </a:t>
            </a:r>
            <a:r>
              <a:rPr lang="en-US" b="1" dirty="0"/>
              <a:t>ellipses</a:t>
            </a:r>
            <a:r>
              <a:rPr lang="en-US" dirty="0"/>
              <a:t> here will bring up the full text editor to customize the label. (Only fields that have been added to the label shelf are available to use here.)  Labels can be turned on for specific actions (such as highlighting) or for specific points (such as minimum/maximum), and other options here. </a:t>
            </a:r>
          </a:p>
        </p:txBody>
      </p:sp>
      <p:sp>
        <p:nvSpPr>
          <p:cNvPr id="3" name="Text Placeholder 2"/>
          <p:cNvSpPr>
            <a:spLocks noGrp="1"/>
          </p:cNvSpPr>
          <p:nvPr>
            <p:ph type="body" sz="quarter" idx="12"/>
          </p:nvPr>
        </p:nvSpPr>
        <p:spPr>
          <a:xfrm>
            <a:off x="710057" y="598699"/>
            <a:ext cx="13269093" cy="590931"/>
          </a:xfrm>
          <a:prstGeom prst="rect">
            <a:avLst/>
          </a:prstGeom>
        </p:spPr>
        <p:txBody>
          <a:bodyPr/>
          <a:lstStyle/>
          <a:p>
            <a:r>
              <a:rPr lang="en-US" sz="4800" dirty="0"/>
              <a:t>Labels</a:t>
            </a:r>
          </a:p>
        </p:txBody>
      </p:sp>
    </p:spTree>
    <p:extLst>
      <p:ext uri="{BB962C8B-B14F-4D97-AF65-F5344CB8AC3E}">
        <p14:creationId xmlns:p14="http://schemas.microsoft.com/office/powerpoint/2010/main" val="119880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90931"/>
          </a:xfrm>
          <a:prstGeom prst="rect">
            <a:avLst/>
          </a:prstGeom>
        </p:spPr>
        <p:txBody>
          <a:bodyPr/>
          <a:lstStyle/>
          <a:p>
            <a:r>
              <a:rPr lang="en-US" sz="4800" dirty="0"/>
              <a:t>Labels</a:t>
            </a:r>
          </a:p>
        </p:txBody>
      </p:sp>
      <p:pic>
        <p:nvPicPr>
          <p:cNvPr id="5" name="Labels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89145" y="1189630"/>
            <a:ext cx="9910916" cy="6194621"/>
          </a:xfrm>
          <a:prstGeom prst="rect">
            <a:avLst/>
          </a:prstGeom>
        </p:spPr>
      </p:pic>
    </p:spTree>
    <p:extLst>
      <p:ext uri="{BB962C8B-B14F-4D97-AF65-F5344CB8AC3E}">
        <p14:creationId xmlns:p14="http://schemas.microsoft.com/office/powerpoint/2010/main" val="29115245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1800493"/>
          </a:xfrm>
        </p:spPr>
        <p:txBody>
          <a:bodyPr/>
          <a:lstStyle/>
          <a:p>
            <a:r>
              <a:rPr lang="en-US" dirty="0"/>
              <a:t>If you want to always (or never) see a specific label, just </a:t>
            </a:r>
            <a:r>
              <a:rPr lang="en-US" b="1" dirty="0"/>
              <a:t>right click</a:t>
            </a:r>
            <a:r>
              <a:rPr lang="en-US" dirty="0"/>
              <a:t> on the point, go to </a:t>
            </a:r>
            <a:r>
              <a:rPr lang="en-US" b="1" dirty="0"/>
              <a:t>Mark Label</a:t>
            </a:r>
            <a:r>
              <a:rPr lang="en-US" dirty="0"/>
              <a:t>, and choose the desired behavior, such as Always Show. </a:t>
            </a:r>
          </a:p>
          <a:p>
            <a:r>
              <a:rPr lang="en-US" dirty="0"/>
              <a:t>But you often don’t have much space in the view for labels. Often, the best way to add additional information is through the use of annotations or Tooltips. </a:t>
            </a:r>
          </a:p>
        </p:txBody>
      </p:sp>
      <p:sp>
        <p:nvSpPr>
          <p:cNvPr id="3" name="Text Placeholder 2"/>
          <p:cNvSpPr>
            <a:spLocks noGrp="1"/>
          </p:cNvSpPr>
          <p:nvPr>
            <p:ph type="body" sz="quarter" idx="12"/>
          </p:nvPr>
        </p:nvSpPr>
        <p:spPr>
          <a:xfrm>
            <a:off x="710057" y="598699"/>
            <a:ext cx="13269093" cy="590931"/>
          </a:xfrm>
          <a:prstGeom prst="rect">
            <a:avLst/>
          </a:prstGeom>
        </p:spPr>
        <p:txBody>
          <a:bodyPr/>
          <a:lstStyle/>
          <a:p>
            <a:r>
              <a:rPr lang="en-US" sz="4800" dirty="0"/>
              <a:t>Labels</a:t>
            </a:r>
          </a:p>
        </p:txBody>
      </p:sp>
    </p:spTree>
    <p:extLst>
      <p:ext uri="{BB962C8B-B14F-4D97-AF65-F5344CB8AC3E}">
        <p14:creationId xmlns:p14="http://schemas.microsoft.com/office/powerpoint/2010/main" val="1637669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90931"/>
          </a:xfrm>
          <a:prstGeom prst="rect">
            <a:avLst/>
          </a:prstGeom>
        </p:spPr>
        <p:txBody>
          <a:bodyPr/>
          <a:lstStyle/>
          <a:p>
            <a:r>
              <a:rPr lang="en-US" sz="4800" dirty="0"/>
              <a:t>Labels</a:t>
            </a:r>
          </a:p>
        </p:txBody>
      </p:sp>
      <p:pic>
        <p:nvPicPr>
          <p:cNvPr id="2" name="Labels_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75792" y="1189630"/>
            <a:ext cx="9937621" cy="6211313"/>
          </a:xfrm>
          <a:prstGeom prst="rect">
            <a:avLst/>
          </a:prstGeom>
        </p:spPr>
      </p:pic>
    </p:spTree>
    <p:extLst>
      <p:ext uri="{BB962C8B-B14F-4D97-AF65-F5344CB8AC3E}">
        <p14:creationId xmlns:p14="http://schemas.microsoft.com/office/powerpoint/2010/main" val="42145808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Annotations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3754874"/>
          </a:xfrm>
        </p:spPr>
        <p:txBody>
          <a:bodyPr/>
          <a:lstStyle/>
          <a:p>
            <a:r>
              <a:rPr lang="en-US" dirty="0"/>
              <a:t>Annotations are text boxes used to call out something specific in the view. </a:t>
            </a:r>
          </a:p>
          <a:p>
            <a:pPr lvl="0"/>
            <a:r>
              <a:rPr lang="en-US" dirty="0"/>
              <a:t>A mark annotation stays with the mark itself, regardless of whatever changes are made on the view. </a:t>
            </a:r>
          </a:p>
          <a:p>
            <a:pPr lvl="0"/>
            <a:r>
              <a:rPr lang="en-US" dirty="0"/>
              <a:t>A point annotation stays in the same relative position on the view, independently of the mark, as does an area annotation.</a:t>
            </a:r>
          </a:p>
          <a:p>
            <a:pPr lvl="0"/>
            <a:r>
              <a:rPr lang="en-US" dirty="0"/>
              <a:t>Let’s start with a Mark annotation – right-click a mark select </a:t>
            </a:r>
            <a:r>
              <a:rPr lang="en-US" b="1" dirty="0"/>
              <a:t>Annotate</a:t>
            </a:r>
            <a:r>
              <a:rPr lang="en-US" dirty="0"/>
              <a:t>…</a:t>
            </a:r>
            <a:r>
              <a:rPr lang="en-US" b="1" dirty="0"/>
              <a:t>Mark</a:t>
            </a:r>
            <a:endParaRPr lang="en-US" dirty="0"/>
          </a:p>
          <a:p>
            <a:pPr lvl="0"/>
            <a:r>
              <a:rPr lang="en-US" dirty="0"/>
              <a:t>These are not simple text boxes; like labels, annotations can have fields added to them as dynamic inputs. </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Annotations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2708434"/>
          </a:xfrm>
        </p:spPr>
        <p:txBody>
          <a:bodyPr/>
          <a:lstStyle/>
          <a:p>
            <a:pPr lvl="0"/>
            <a:r>
              <a:rPr lang="en-US" dirty="0"/>
              <a:t>The appearance of annotations is easy to customize:</a:t>
            </a:r>
          </a:p>
          <a:p>
            <a:pPr lvl="1"/>
            <a:r>
              <a:rPr lang="en-US" b="1" dirty="0"/>
              <a:t>Single click</a:t>
            </a:r>
            <a:r>
              <a:rPr lang="en-US" dirty="0"/>
              <a:t> to move or resize it. </a:t>
            </a:r>
          </a:p>
          <a:p>
            <a:pPr lvl="1"/>
            <a:r>
              <a:rPr lang="en-US" b="1" dirty="0"/>
              <a:t>Double click</a:t>
            </a:r>
            <a:r>
              <a:rPr lang="en-US" dirty="0"/>
              <a:t> to format the text. </a:t>
            </a:r>
          </a:p>
          <a:p>
            <a:pPr lvl="1"/>
            <a:r>
              <a:rPr lang="en-US" b="1" dirty="0"/>
              <a:t>Right click</a:t>
            </a:r>
            <a:r>
              <a:rPr lang="en-US" dirty="0"/>
              <a:t> and select </a:t>
            </a:r>
            <a:r>
              <a:rPr lang="en-US" b="1" dirty="0"/>
              <a:t>Format</a:t>
            </a:r>
            <a:r>
              <a:rPr lang="en-US" dirty="0"/>
              <a:t> to format the annotation box or line.</a:t>
            </a:r>
          </a:p>
          <a:p>
            <a:pPr lvl="0"/>
            <a:r>
              <a:rPr lang="en-US" dirty="0"/>
              <a:t>A point annotation is similar, but it will stay in a particular place in the view rather than be tied to a mark, which can move as you interact with the view.</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Annotations</a:t>
            </a:r>
          </a:p>
        </p:txBody>
      </p:sp>
    </p:spTree>
    <p:extLst>
      <p:ext uri="{BB962C8B-B14F-4D97-AF65-F5344CB8AC3E}">
        <p14:creationId xmlns:p14="http://schemas.microsoft.com/office/powerpoint/2010/main" val="2542969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Annotations</a:t>
            </a:r>
          </a:p>
        </p:txBody>
      </p:sp>
      <p:pic>
        <p:nvPicPr>
          <p:cNvPr id="5" name="Annotation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411268" y="1152697"/>
            <a:ext cx="9866670" cy="6166966"/>
          </a:xfrm>
          <a:prstGeom prst="rect">
            <a:avLst/>
          </a:prstGeom>
        </p:spPr>
      </p:pic>
    </p:spTree>
    <p:extLst>
      <p:ext uri="{BB962C8B-B14F-4D97-AF65-F5344CB8AC3E}">
        <p14:creationId xmlns:p14="http://schemas.microsoft.com/office/powerpoint/2010/main" val="40274781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Tooltips</a:t>
            </a:r>
          </a:p>
        </p:txBody>
      </p:sp>
    </p:spTree>
    <p:extLst>
      <p:ext uri="{BB962C8B-B14F-4D97-AF65-F5344CB8AC3E}">
        <p14:creationId xmlns:p14="http://schemas.microsoft.com/office/powerpoint/2010/main" val="2413644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3400931"/>
          </a:xfrm>
        </p:spPr>
        <p:txBody>
          <a:bodyPr/>
          <a:lstStyle/>
          <a:p>
            <a:r>
              <a:rPr lang="en-US" dirty="0"/>
              <a:t>To show Tooltips, let’s create a new worksheet:</a:t>
            </a:r>
          </a:p>
          <a:p>
            <a:r>
              <a:rPr lang="en-US" dirty="0"/>
              <a:t>Select </a:t>
            </a:r>
            <a:r>
              <a:rPr lang="en-US" b="1" dirty="0"/>
              <a:t>Sales</a:t>
            </a:r>
            <a:r>
              <a:rPr lang="en-US" dirty="0"/>
              <a:t> and </a:t>
            </a:r>
            <a:r>
              <a:rPr lang="en-US" b="1" dirty="0"/>
              <a:t>Profit</a:t>
            </a:r>
            <a:r>
              <a:rPr lang="en-US" dirty="0"/>
              <a:t>, choose </a:t>
            </a:r>
            <a:r>
              <a:rPr lang="en-US" b="1" dirty="0"/>
              <a:t>Scatterplot</a:t>
            </a:r>
            <a:r>
              <a:rPr lang="en-US" dirty="0"/>
              <a:t> from Show Me</a:t>
            </a:r>
          </a:p>
          <a:p>
            <a:r>
              <a:rPr lang="en-US" b="1" dirty="0"/>
              <a:t>Order Priority</a:t>
            </a:r>
            <a:r>
              <a:rPr lang="en-US" dirty="0"/>
              <a:t> to </a:t>
            </a:r>
            <a:r>
              <a:rPr lang="en-US" b="1" dirty="0"/>
              <a:t>Color</a:t>
            </a:r>
            <a:r>
              <a:rPr lang="en-US" dirty="0"/>
              <a:t>, then </a:t>
            </a:r>
            <a:r>
              <a:rPr lang="en-US" b="1" dirty="0"/>
              <a:t>Number of Records</a:t>
            </a:r>
            <a:r>
              <a:rPr lang="en-US" dirty="0"/>
              <a:t> and </a:t>
            </a:r>
            <a:r>
              <a:rPr lang="en-US" b="1" dirty="0"/>
              <a:t>Market</a:t>
            </a:r>
            <a:r>
              <a:rPr lang="en-US" dirty="0"/>
              <a:t> to </a:t>
            </a:r>
            <a:r>
              <a:rPr lang="en-US" b="1" dirty="0"/>
              <a:t>Detail</a:t>
            </a:r>
            <a:r>
              <a:rPr lang="en-US" dirty="0"/>
              <a:t>.</a:t>
            </a:r>
          </a:p>
          <a:p>
            <a:r>
              <a:rPr lang="en-US" dirty="0"/>
              <a:t>Change the </a:t>
            </a:r>
            <a:r>
              <a:rPr lang="en-US" b="1" dirty="0"/>
              <a:t>Mark</a:t>
            </a:r>
            <a:r>
              <a:rPr lang="en-US" dirty="0"/>
              <a:t> to </a:t>
            </a:r>
            <a:r>
              <a:rPr lang="en-US" b="1" dirty="0"/>
              <a:t>Circle</a:t>
            </a:r>
            <a:r>
              <a:rPr lang="en-US" dirty="0"/>
              <a:t>, and </a:t>
            </a:r>
            <a:r>
              <a:rPr lang="en-US" b="1" dirty="0"/>
              <a:t>increase</a:t>
            </a:r>
            <a:r>
              <a:rPr lang="en-US" dirty="0"/>
              <a:t> the size.</a:t>
            </a:r>
          </a:p>
          <a:p>
            <a:r>
              <a:rPr lang="en-US" b="1" dirty="0"/>
              <a:t>Hover</a:t>
            </a:r>
            <a:r>
              <a:rPr lang="en-US" dirty="0"/>
              <a:t> – the standard Tooltip here has a lot of information.  But with just a little work we can make it more user-friendly and engaging:</a:t>
            </a:r>
          </a:p>
          <a:p>
            <a:r>
              <a:rPr lang="en-US" dirty="0"/>
              <a:t>Click </a:t>
            </a:r>
            <a:r>
              <a:rPr lang="en-US" b="1" dirty="0"/>
              <a:t>Tooltip</a:t>
            </a:r>
            <a:r>
              <a:rPr lang="en-US" dirty="0"/>
              <a:t> on the Marks card.</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spTree>
    <p:extLst>
      <p:ext uri="{BB962C8B-B14F-4D97-AF65-F5344CB8AC3E}">
        <p14:creationId xmlns:p14="http://schemas.microsoft.com/office/powerpoint/2010/main" val="864890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4231928"/>
          </a:xfrm>
        </p:spPr>
        <p:txBody>
          <a:bodyPr/>
          <a:lstStyle/>
          <a:p>
            <a:r>
              <a:rPr lang="en-US" dirty="0"/>
              <a:t>Change it to read something like (be sure to change the size and color of some words):</a:t>
            </a:r>
          </a:p>
          <a:p>
            <a:pPr indent="0">
              <a:buNone/>
            </a:pPr>
            <a:endParaRPr lang="en-US" dirty="0"/>
          </a:p>
          <a:p>
            <a:pPr lvl="2" indent="0">
              <a:buNone/>
            </a:pPr>
            <a:r>
              <a:rPr lang="en-US" sz="2400" dirty="0"/>
              <a:t>&lt;Market&gt;</a:t>
            </a:r>
            <a:r>
              <a:rPr lang="en-US" sz="2400" b="1" dirty="0"/>
              <a:t> </a:t>
            </a:r>
            <a:r>
              <a:rPr lang="en-US" sz="2400" dirty="0"/>
              <a:t>Market's </a:t>
            </a:r>
            <a:r>
              <a:rPr lang="en-US" sz="2400" b="1" dirty="0"/>
              <a:t>&lt;Order Priority&gt; priority</a:t>
            </a:r>
            <a:r>
              <a:rPr lang="en-US" sz="2400" dirty="0"/>
              <a:t> orders </a:t>
            </a:r>
          </a:p>
          <a:p>
            <a:pPr lvl="2" indent="0">
              <a:buNone/>
            </a:pPr>
            <a:r>
              <a:rPr lang="en-US" sz="2400" dirty="0"/>
              <a:t>total &lt;SUM(Sales)&gt; in sales</a:t>
            </a:r>
          </a:p>
          <a:p>
            <a:pPr lvl="2" indent="0">
              <a:buNone/>
            </a:pPr>
            <a:r>
              <a:rPr lang="en-US" sz="2400" dirty="0"/>
              <a:t>with &lt;SUM(Profit)&gt; overall profit. </a:t>
            </a:r>
          </a:p>
          <a:p>
            <a:pPr indent="0">
              <a:buNone/>
            </a:pPr>
            <a:r>
              <a:rPr lang="en-US" sz="2400" dirty="0"/>
              <a:t>      This circle represents &lt;SUM(Number of Records)&gt; records</a:t>
            </a:r>
          </a:p>
          <a:p>
            <a:pPr indent="0">
              <a:buNone/>
            </a:pPr>
            <a:endParaRPr lang="en-US" dirty="0"/>
          </a:p>
          <a:p>
            <a:endParaRPr lang="en-US" dirty="0"/>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spTree>
    <p:extLst>
      <p:ext uri="{BB962C8B-B14F-4D97-AF65-F5344CB8AC3E}">
        <p14:creationId xmlns:p14="http://schemas.microsoft.com/office/powerpoint/2010/main" val="155176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pic>
        <p:nvPicPr>
          <p:cNvPr id="5" name="Tooltips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08029" y="1152697"/>
            <a:ext cx="10073148" cy="6296021"/>
          </a:xfrm>
          <a:prstGeom prst="rect">
            <a:avLst/>
          </a:prstGeom>
        </p:spPr>
      </p:pic>
    </p:spTree>
    <p:extLst>
      <p:ext uri="{BB962C8B-B14F-4D97-AF65-F5344CB8AC3E}">
        <p14:creationId xmlns:p14="http://schemas.microsoft.com/office/powerpoint/2010/main" val="361693418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10057" y="1152697"/>
            <a:ext cx="13273820" cy="1800493"/>
          </a:xfrm>
        </p:spPr>
        <p:txBody>
          <a:bodyPr/>
          <a:lstStyle/>
          <a:p>
            <a:pPr lvl="0"/>
            <a:r>
              <a:rPr lang="en-US" dirty="0"/>
              <a:t>Remember that if you want to include a field in the tooltip that is not in your viz, just drag it to the Tooltip shelf</a:t>
            </a:r>
          </a:p>
          <a:p>
            <a:pPr lvl="0"/>
            <a:r>
              <a:rPr lang="en-US" dirty="0"/>
              <a:t>You can click Insert within the Tooltip window to bring up the list of fields available to the tooltip</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pic>
        <p:nvPicPr>
          <p:cNvPr id="4" name="Tooltips_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85652" y="2536880"/>
            <a:ext cx="8332839" cy="5208276"/>
          </a:xfrm>
          <a:prstGeom prst="rect">
            <a:avLst/>
          </a:prstGeom>
        </p:spPr>
      </p:pic>
    </p:spTree>
    <p:extLst>
      <p:ext uri="{BB962C8B-B14F-4D97-AF65-F5344CB8AC3E}">
        <p14:creationId xmlns:p14="http://schemas.microsoft.com/office/powerpoint/2010/main" val="35959220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5330" y="1934361"/>
            <a:ext cx="13273820" cy="1885471"/>
          </a:xfrm>
        </p:spPr>
        <p:txBody>
          <a:bodyPr/>
          <a:lstStyle/>
          <a:p>
            <a:pPr lvl="0"/>
            <a:r>
              <a:rPr lang="en-US" dirty="0"/>
              <a:t>In addition, if you prefer not to see the command buttons (keep only, group, view underlying data, </a:t>
            </a:r>
            <a:r>
              <a:rPr lang="en-US" dirty="0" err="1"/>
              <a:t>etc</a:t>
            </a:r>
            <a:r>
              <a:rPr lang="en-US" dirty="0"/>
              <a:t>), you can turn them off with a checkbox in the Tooltip window. </a:t>
            </a:r>
          </a:p>
          <a:p>
            <a:r>
              <a:rPr lang="en-US" dirty="0"/>
              <a:t>With every viz you make, don’t forget to pay attention to the Tooltips!  They are often an important part of the user experience.</a:t>
            </a:r>
          </a:p>
          <a:p>
            <a:pPr lvl="0" indent="0">
              <a:buNone/>
            </a:pPr>
            <a:endParaRPr lang="en-US" dirty="0"/>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spTree>
    <p:extLst>
      <p:ext uri="{BB962C8B-B14F-4D97-AF65-F5344CB8AC3E}">
        <p14:creationId xmlns:p14="http://schemas.microsoft.com/office/powerpoint/2010/main" val="4266527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Tooltips</a:t>
            </a:r>
          </a:p>
        </p:txBody>
      </p:sp>
      <p:pic>
        <p:nvPicPr>
          <p:cNvPr id="4" name="Tooltips_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241614" y="1152697"/>
            <a:ext cx="10205977" cy="6379043"/>
          </a:xfrm>
          <a:prstGeom prst="rect">
            <a:avLst/>
          </a:prstGeom>
        </p:spPr>
      </p:pic>
    </p:spTree>
    <p:extLst>
      <p:ext uri="{BB962C8B-B14F-4D97-AF65-F5344CB8AC3E}">
        <p14:creationId xmlns:p14="http://schemas.microsoft.com/office/powerpoint/2010/main" val="216592326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Formatting Specific Parts of the View</a:t>
            </a:r>
          </a:p>
        </p:txBody>
      </p:sp>
    </p:spTree>
    <p:extLst>
      <p:ext uri="{BB962C8B-B14F-4D97-AF65-F5344CB8AC3E}">
        <p14:creationId xmlns:p14="http://schemas.microsoft.com/office/powerpoint/2010/main" val="4294806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3631763"/>
          </a:xfrm>
        </p:spPr>
        <p:txBody>
          <a:bodyPr/>
          <a:lstStyle/>
          <a:p>
            <a:r>
              <a:rPr lang="en-US" dirty="0"/>
              <a:t>Many parts of the view can be independently formatted. To see if a field, number, legend, or other part of the view can be formatted, right click or bring up the menu to see if the format option is available. </a:t>
            </a:r>
          </a:p>
          <a:p>
            <a:pPr lvl="0"/>
            <a:r>
              <a:rPr lang="en-US" dirty="0"/>
              <a:t>For example, first </a:t>
            </a:r>
            <a:r>
              <a:rPr lang="en-US" b="1" dirty="0"/>
              <a:t>create and show a Filter</a:t>
            </a:r>
            <a:r>
              <a:rPr lang="en-US" dirty="0"/>
              <a:t> for </a:t>
            </a:r>
            <a:r>
              <a:rPr lang="en-US" b="1" dirty="0"/>
              <a:t>Order Priority</a:t>
            </a:r>
            <a:endParaRPr lang="en-US" dirty="0"/>
          </a:p>
          <a:p>
            <a:pPr lvl="0"/>
            <a:r>
              <a:rPr lang="en-US" dirty="0"/>
              <a:t>Let’s format it. Click the </a:t>
            </a:r>
            <a:r>
              <a:rPr lang="en-US" b="1" dirty="0"/>
              <a:t>drop down in the Filter</a:t>
            </a:r>
            <a:r>
              <a:rPr lang="en-US" dirty="0"/>
              <a:t> and click </a:t>
            </a:r>
            <a:r>
              <a:rPr lang="en-US" b="1" dirty="0"/>
              <a:t>Format Filters</a:t>
            </a:r>
            <a:endParaRPr lang="en-US" dirty="0"/>
          </a:p>
          <a:p>
            <a:pPr lvl="1"/>
            <a:r>
              <a:rPr lang="en-US" dirty="0"/>
              <a:t>The Format pane opens, offering us various options.  Change the </a:t>
            </a:r>
            <a:r>
              <a:rPr lang="en-US" b="1" dirty="0"/>
              <a:t>Font of the Body</a:t>
            </a:r>
            <a:r>
              <a:rPr lang="en-US" dirty="0"/>
              <a:t> as an example. Just click the X to close the Format pane.</a:t>
            </a:r>
          </a:p>
          <a:p>
            <a:pPr lvl="0" indent="0">
              <a:buNone/>
            </a:pPr>
            <a:endParaRPr lang="en-US" dirty="0"/>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Formatting Specific Parts of the View</a:t>
            </a:r>
          </a:p>
        </p:txBody>
      </p:sp>
    </p:spTree>
    <p:extLst>
      <p:ext uri="{BB962C8B-B14F-4D97-AF65-F5344CB8AC3E}">
        <p14:creationId xmlns:p14="http://schemas.microsoft.com/office/powerpoint/2010/main" val="486089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Formatting Specific Parts of the View</a:t>
            </a:r>
          </a:p>
        </p:txBody>
      </p:sp>
      <p:pic>
        <p:nvPicPr>
          <p:cNvPr id="2" name="Formatting Specific Parts of the View">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164080" y="1389521"/>
            <a:ext cx="9479280" cy="5924835"/>
          </a:xfrm>
          <a:prstGeom prst="rect">
            <a:avLst/>
          </a:prstGeom>
        </p:spPr>
      </p:pic>
    </p:spTree>
    <p:extLst>
      <p:ext uri="{BB962C8B-B14F-4D97-AF65-F5344CB8AC3E}">
        <p14:creationId xmlns:p14="http://schemas.microsoft.com/office/powerpoint/2010/main" val="36892483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Editing &amp; Formatting Axes</a:t>
            </a:r>
          </a:p>
        </p:txBody>
      </p:sp>
    </p:spTree>
    <p:extLst>
      <p:ext uri="{BB962C8B-B14F-4D97-AF65-F5344CB8AC3E}">
        <p14:creationId xmlns:p14="http://schemas.microsoft.com/office/powerpoint/2010/main" val="3856969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4262705"/>
          </a:xfrm>
        </p:spPr>
        <p:txBody>
          <a:bodyPr/>
          <a:lstStyle/>
          <a:p>
            <a:r>
              <a:rPr lang="en-US" dirty="0"/>
              <a:t>To adjust anything having to do with the layout of the axis, </a:t>
            </a:r>
            <a:r>
              <a:rPr lang="en-US" b="1" dirty="0"/>
              <a:t>right click</a:t>
            </a:r>
            <a:r>
              <a:rPr lang="en-US" dirty="0"/>
              <a:t> and select </a:t>
            </a:r>
            <a:r>
              <a:rPr lang="en-US" b="1" dirty="0"/>
              <a:t>Edit Axis</a:t>
            </a:r>
            <a:r>
              <a:rPr lang="en-US" dirty="0"/>
              <a:t>. </a:t>
            </a:r>
          </a:p>
          <a:p>
            <a:pPr lvl="0"/>
            <a:r>
              <a:rPr lang="en-US" dirty="0"/>
              <a:t>This dialog controls the range, tick marks, and the title. </a:t>
            </a:r>
          </a:p>
          <a:p>
            <a:pPr lvl="0"/>
            <a:r>
              <a:rPr lang="en-US" dirty="0"/>
              <a:t>We can edit the range, to a </a:t>
            </a:r>
            <a:r>
              <a:rPr lang="en-US" b="1" dirty="0"/>
              <a:t>fixed range</a:t>
            </a:r>
            <a:r>
              <a:rPr lang="en-US" dirty="0"/>
              <a:t> that we prefer. You can change the tick marks, axis title, etc. also</a:t>
            </a:r>
          </a:p>
          <a:p>
            <a:pPr lvl="0"/>
            <a:r>
              <a:rPr lang="en-US" dirty="0"/>
              <a:t>Additionally, this pin icon has appeared – this indicates the axis is no longer automatic. </a:t>
            </a:r>
          </a:p>
          <a:p>
            <a:pPr lvl="1"/>
            <a:r>
              <a:rPr lang="en-US" sz="2800" b="1" dirty="0"/>
              <a:t>Double click</a:t>
            </a:r>
            <a:r>
              <a:rPr lang="en-US" sz="2800" dirty="0"/>
              <a:t> the pin and change it back to </a:t>
            </a:r>
            <a:r>
              <a:rPr lang="en-US" sz="2800" b="1" dirty="0"/>
              <a:t>Automatic</a:t>
            </a:r>
            <a:r>
              <a:rPr lang="en-US" sz="2800" dirty="0"/>
              <a:t> axis. </a:t>
            </a:r>
          </a:p>
          <a:p>
            <a:pPr lvl="0"/>
            <a:r>
              <a:rPr lang="en-US" dirty="0"/>
              <a:t>To hide an axis entirely, </a:t>
            </a:r>
            <a:r>
              <a:rPr lang="en-US" b="1" dirty="0"/>
              <a:t>right click</a:t>
            </a:r>
            <a:r>
              <a:rPr lang="en-US" dirty="0"/>
              <a:t> on the axis and </a:t>
            </a:r>
            <a:r>
              <a:rPr lang="en-US" b="1" dirty="0"/>
              <a:t>uncheck Show Header</a:t>
            </a:r>
            <a:r>
              <a:rPr lang="en-US" dirty="0"/>
              <a:t>. </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Editing &amp; Formatting Axes</a:t>
            </a:r>
          </a:p>
        </p:txBody>
      </p:sp>
    </p:spTree>
    <p:extLst>
      <p:ext uri="{BB962C8B-B14F-4D97-AF65-F5344CB8AC3E}">
        <p14:creationId xmlns:p14="http://schemas.microsoft.com/office/powerpoint/2010/main" val="43826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Editing &amp; Formatting Axes</a:t>
            </a:r>
          </a:p>
        </p:txBody>
      </p:sp>
      <p:pic>
        <p:nvPicPr>
          <p:cNvPr id="4" name="Editing and Formatting Axe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169857" y="1152697"/>
            <a:ext cx="10349491" cy="6468744"/>
          </a:xfrm>
          <a:prstGeom prst="rect">
            <a:avLst/>
          </a:prstGeom>
        </p:spPr>
      </p:pic>
    </p:spTree>
    <p:extLst>
      <p:ext uri="{BB962C8B-B14F-4D97-AF65-F5344CB8AC3E}">
        <p14:creationId xmlns:p14="http://schemas.microsoft.com/office/powerpoint/2010/main" val="335148052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PPT_Corporate_Template_BentonSans_16.9_c</Template>
  <TotalTime>0</TotalTime>
  <Words>909</Words>
  <Application>Microsoft Office PowerPoint</Application>
  <PresentationFormat>Custom</PresentationFormat>
  <Paragraphs>80</Paragraphs>
  <Slides>25</Slides>
  <Notes>8</Notes>
  <HiddenSlides>0</HiddenSlides>
  <MMClips>8</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ＭＳ Ｐゴシック</vt:lpstr>
      <vt:lpstr>Arial</vt:lpstr>
      <vt:lpstr>BentonSans Book</vt:lpstr>
      <vt:lpstr>Gill Sans MT</vt:lpstr>
      <vt:lpstr>Merriweather Light</vt:lpstr>
      <vt:lpstr>PPT_Corporate_Template_BentonSans_16.9_c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2021-12-01T17:23:06Z</dcterms:created>
  <dcterms:modified xsi:type="dcterms:W3CDTF">2021-12-01T17:23:13Z</dcterms:modified>
  <cp:category/>
</cp:coreProperties>
</file>