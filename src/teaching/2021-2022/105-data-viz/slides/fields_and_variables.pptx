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notesSlides/notesSlide24.xml" ContentType="application/vnd.openxmlformats-officedocument.presentationml.notesSlide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tags/tag28.xml" ContentType="application/vnd.openxmlformats-officedocument.presentationml.tags+xml"/>
  <Override PartName="/ppt/notesSlides/notesSlide26.xml" ContentType="application/vnd.openxmlformats-officedocument.presentationml.notesSlide+xml"/>
  <Override PartName="/ppt/tags/tag29.xml" ContentType="application/vnd.openxmlformats-officedocument.presentationml.tags+xml"/>
  <Override PartName="/ppt/notesSlides/notesSlide27.xml" ContentType="application/vnd.openxmlformats-officedocument.presentationml.notesSlide+xml"/>
  <Override PartName="/ppt/tags/tag30.xml" ContentType="application/vnd.openxmlformats-officedocument.presentationml.tags+xml"/>
  <Override PartName="/ppt/notesSlides/notesSlide28.xml" ContentType="application/vnd.openxmlformats-officedocument.presentationml.notesSlide+xml"/>
  <Override PartName="/ppt/tags/tag31.xml" ContentType="application/vnd.openxmlformats-officedocument.presentationml.tags+xml"/>
  <Override PartName="/ppt/notesSlides/notesSlide29.xml" ContentType="application/vnd.openxmlformats-officedocument.presentationml.notesSlide+xml"/>
  <Override PartName="/ppt/tags/tag32.xml" ContentType="application/vnd.openxmlformats-officedocument.presentationml.tags+xml"/>
  <Override PartName="/ppt/notesSlides/notesSlide30.xml" ContentType="application/vnd.openxmlformats-officedocument.presentationml.notesSlide+xml"/>
  <Override PartName="/ppt/tags/tag33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75" r:id="rId1"/>
    <p:sldMasterId id="2147483660" r:id="rId2"/>
  </p:sldMasterIdLst>
  <p:notesMasterIdLst>
    <p:notesMasterId r:id="rId35"/>
  </p:notesMasterIdLst>
  <p:handoutMasterIdLst>
    <p:handoutMasterId r:id="rId36"/>
  </p:handoutMasterIdLst>
  <p:sldIdLst>
    <p:sldId id="256" r:id="rId3"/>
    <p:sldId id="348" r:id="rId4"/>
    <p:sldId id="563" r:id="rId5"/>
    <p:sldId id="511" r:id="rId6"/>
    <p:sldId id="551" r:id="rId7"/>
    <p:sldId id="572" r:id="rId8"/>
    <p:sldId id="584" r:id="rId9"/>
    <p:sldId id="585" r:id="rId10"/>
    <p:sldId id="577" r:id="rId11"/>
    <p:sldId id="566" r:id="rId12"/>
    <p:sldId id="567" r:id="rId13"/>
    <p:sldId id="578" r:id="rId14"/>
    <p:sldId id="534" r:id="rId15"/>
    <p:sldId id="579" r:id="rId16"/>
    <p:sldId id="565" r:id="rId17"/>
    <p:sldId id="568" r:id="rId18"/>
    <p:sldId id="538" r:id="rId19"/>
    <p:sldId id="569" r:id="rId20"/>
    <p:sldId id="559" r:id="rId21"/>
    <p:sldId id="580" r:id="rId22"/>
    <p:sldId id="554" r:id="rId23"/>
    <p:sldId id="573" r:id="rId24"/>
    <p:sldId id="574" r:id="rId25"/>
    <p:sldId id="575" r:id="rId26"/>
    <p:sldId id="576" r:id="rId27"/>
    <p:sldId id="562" r:id="rId28"/>
    <p:sldId id="582" r:id="rId29"/>
    <p:sldId id="540" r:id="rId30"/>
    <p:sldId id="570" r:id="rId31"/>
    <p:sldId id="583" r:id="rId32"/>
    <p:sldId id="561" r:id="rId33"/>
    <p:sldId id="426" r:id="rId34"/>
  </p:sldIdLst>
  <p:sldSz cx="14630400" cy="8229600"/>
  <p:notesSz cx="6858000" cy="1238250"/>
  <p:custDataLst>
    <p:tags r:id="rId37"/>
  </p:custDataLst>
  <p:defaultTextStyle>
    <a:defPPr>
      <a:defRPr lang="en-US"/>
    </a:defPPr>
    <a:lvl1pPr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1pPr>
    <a:lvl2pPr marL="652463" indent="-195263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2pPr>
    <a:lvl3pPr marL="1304925" indent="-39052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3pPr>
    <a:lvl4pPr marL="1958975" indent="-587375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4pPr>
    <a:lvl5pPr marL="2611438" indent="-782638" algn="l" defTabSz="1304925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600" kern="1200">
        <a:solidFill>
          <a:schemeClr val="tx1"/>
        </a:solidFill>
        <a:latin typeface="Gill Sans MT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orient="horz" pos="369">
          <p15:clr>
            <a:srgbClr val="A4A3A4"/>
          </p15:clr>
        </p15:guide>
        <p15:guide id="3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39564"/>
    <a:srgbClr val="2CA7D0"/>
    <a:srgbClr val="FF9900"/>
    <a:srgbClr val="666666"/>
    <a:srgbClr val="FFFFFF"/>
    <a:srgbClr val="B2E4D7"/>
    <a:srgbClr val="E0E0E0"/>
    <a:srgbClr val="59879B"/>
    <a:srgbClr val="1F4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06" autoAdjust="0"/>
  </p:normalViewPr>
  <p:slideViewPr>
    <p:cSldViewPr snapToGrid="0">
      <p:cViewPr varScale="1">
        <p:scale>
          <a:sx n="89" d="100"/>
          <a:sy n="89" d="100"/>
        </p:scale>
        <p:origin x="636" y="102"/>
      </p:cViewPr>
      <p:guideLst>
        <p:guide orient="horz" pos="1181"/>
        <p:guide orient="horz" pos="369"/>
        <p:guide pos="4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0821" y="0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85591767-110F-A243-83F9-36645DAA76CB}" type="datetime1">
              <a:rPr lang="en-US"/>
              <a:pPr>
                <a:defRPr/>
              </a:pPr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21342503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0821" y="21342503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183AF4F7-31B0-B643-9B95-E1F087EE11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410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0821" y="0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7850FBDF-363D-BA4E-BF53-7E974FE76827}" type="datetime1">
              <a:rPr lang="en-US"/>
              <a:pPr>
                <a:defRPr/>
              </a:pPr>
              <a:t>9/27/2021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092825" y="1685925"/>
            <a:ext cx="14976475" cy="8424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79083" y="10673201"/>
            <a:ext cx="2232660" cy="101114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21342503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06221" fontAlgn="auto">
              <a:spcBef>
                <a:spcPts val="0"/>
              </a:spcBef>
              <a:spcAft>
                <a:spcPts val="0"/>
              </a:spcAft>
              <a:defRPr sz="1200" dirty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0821" y="21342503"/>
            <a:ext cx="1209358" cy="11234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06221" fontAlgn="auto">
              <a:spcBef>
                <a:spcPts val="0"/>
              </a:spcBef>
              <a:spcAft>
                <a:spcPts val="0"/>
              </a:spcAft>
              <a:defRPr sz="1200" smtClean="0">
                <a:latin typeface="BentonSans Book"/>
                <a:ea typeface="+mn-ea"/>
                <a:cs typeface="+mn-cs"/>
              </a:defRPr>
            </a:lvl1pPr>
          </a:lstStyle>
          <a:p>
            <a:pPr>
              <a:defRPr/>
            </a:pPr>
            <a:fld id="{BE318CCB-9EB4-A04E-B82B-4EF927884A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840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ＭＳ Ｐゴシック" charset="0"/>
      </a:defRPr>
    </a:lvl1pPr>
    <a:lvl2pPr marL="652463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2pPr>
    <a:lvl3pPr marL="130492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3pPr>
    <a:lvl4pPr marL="1958975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4pPr>
    <a:lvl5pPr marL="2611438" algn="l" defTabSz="1304925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BentonSans Book"/>
        <a:ea typeface="ＭＳ Ｐゴシック" charset="0"/>
        <a:cs typeface="+mn-cs"/>
      </a:defRPr>
    </a:lvl5pPr>
    <a:lvl6pPr marL="3265550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338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0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24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6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04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28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1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97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80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34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928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86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2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55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68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868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98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53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9308A5-C357-4366-95D3-A659388B2D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531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587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53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9308A5-C357-4366-95D3-A659388B2D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531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627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53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9308A5-C357-4366-95D3-A659388B2D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531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6547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53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9308A5-C357-4366-95D3-A659388B2D3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5311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899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99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36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44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12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130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98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609600"/>
            <a:ext cx="25939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99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4"/>
            <a:ext cx="5337174" cy="3643818"/>
          </a:xfrm>
          <a:prstGeom prst="rect">
            <a:avLst/>
          </a:prstGeom>
        </p:spPr>
        <p:txBody>
          <a:bodyPr vert="horz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4"/>
            <a:ext cx="5414961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22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6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69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7" name="Picture 6" descr="Bottom_Viz_August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328"/>
          <a:stretch/>
        </p:blipFill>
        <p:spPr>
          <a:xfrm>
            <a:off x="0" y="3225800"/>
            <a:ext cx="14630400" cy="3153156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5" name="Picture 4" descr="SectionDivider-03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8" r="12503"/>
          <a:stretch/>
        </p:blipFill>
        <p:spPr>
          <a:xfrm>
            <a:off x="0" y="2362200"/>
            <a:ext cx="14630400" cy="5482336"/>
          </a:xfrm>
          <a:prstGeom prst="rect">
            <a:avLst/>
          </a:prstGeom>
        </p:spPr>
      </p:pic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430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7" name="Picture 6" descr="SectionDivider-02.png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1"/>
          <a:stretch/>
        </p:blipFill>
        <p:spPr>
          <a:xfrm>
            <a:off x="0" y="2946400"/>
            <a:ext cx="14630400" cy="4749800"/>
          </a:xfrm>
          <a:prstGeom prst="rect">
            <a:avLst/>
          </a:prstGeom>
        </p:spPr>
      </p:pic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705985" y="1891756"/>
            <a:ext cx="13245156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  <a:lvl2pPr marL="653110" indent="0">
              <a:buNone/>
              <a:defRPr/>
            </a:lvl2pPr>
            <a:lvl3pPr marL="1306221" indent="0">
              <a:buNone/>
              <a:defRPr/>
            </a:lvl3pPr>
            <a:lvl4pPr marL="1959331" indent="0">
              <a:buNone/>
              <a:defRPr/>
            </a:lvl4pPr>
            <a:lvl5pPr marL="2612442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65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279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4793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50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6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51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99" y="2438401"/>
            <a:ext cx="9133131" cy="761747"/>
          </a:xfrm>
        </p:spPr>
        <p:txBody>
          <a:bodyPr/>
          <a:lstStyle>
            <a:lvl1pPr>
              <a:defRPr sz="540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561080" y="3733800"/>
            <a:ext cx="80772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653110" indent="0">
              <a:buNone/>
              <a:defRPr sz="1000"/>
            </a:lvl2pPr>
            <a:lvl3pPr marL="1306221" indent="0">
              <a:buNone/>
              <a:defRPr sz="1000"/>
            </a:lvl3pPr>
            <a:lvl4pPr marL="1959331" indent="0">
              <a:buNone/>
              <a:defRPr sz="1000"/>
            </a:lvl4pPr>
            <a:lvl5pPr marL="2612442" indent="0"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2645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357" y="1893515"/>
            <a:ext cx="13274793" cy="1631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52070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746125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romanUcPeriod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969963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1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3pPr>
            <a:lvl4pPr marL="1084262" indent="-342901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800" baseline="0">
                <a:solidFill>
                  <a:schemeClr val="accent5"/>
                </a:solidFill>
              </a:defRPr>
            </a:lvl4pPr>
            <a:lvl5pPr marL="2063749" indent="0">
              <a:buSzPct val="100000"/>
              <a:buFont typeface="+mj-lt"/>
              <a:buNone/>
              <a:defRPr sz="160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776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441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5331" y="1893749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5"/>
          </p:nvPr>
        </p:nvSpPr>
        <p:spPr>
          <a:xfrm>
            <a:off x="7311907" y="1893515"/>
            <a:ext cx="5943600" cy="1631216"/>
          </a:xfrm>
          <a:prstGeom prst="rect">
            <a:avLst/>
          </a:prstGeom>
        </p:spPr>
        <p:txBody>
          <a:bodyPr wrap="square" lIns="0" tIns="0" rIns="0" bIns="0" numCol="1" spcCol="365760">
            <a:spAutoFit/>
          </a:bodyPr>
          <a:lstStyle>
            <a:lvl1pPr marL="6350" indent="27432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tabLst/>
              <a:defRPr sz="28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288925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40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2pPr>
            <a:lvl3pPr marL="512763" indent="2730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2100" baseline="0">
                <a:solidFill>
                  <a:schemeClr val="accent5"/>
                </a:solidFill>
              </a:defRPr>
            </a:lvl3pPr>
            <a:lvl4pPr marL="1027114" indent="-285750">
              <a:spcBef>
                <a:spcPts val="0"/>
              </a:spcBef>
              <a:spcAft>
                <a:spcPts val="600"/>
              </a:spcAft>
              <a:buSzPct val="100000"/>
              <a:buFont typeface="Arial"/>
              <a:buChar char="•"/>
              <a:defRPr sz="1800" baseline="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605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7329803" y="1887752"/>
            <a:ext cx="664934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SzPct val="100000"/>
              <a:buFont typeface="Arial"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339725" indent="0">
              <a:buSzPct val="100000"/>
              <a:buFont typeface="Arial"/>
              <a:buNone/>
              <a:defRPr sz="2400">
                <a:solidFill>
                  <a:schemeClr val="accent5"/>
                </a:solidFill>
              </a:defRPr>
            </a:lvl2pPr>
            <a:lvl3pPr marL="692150" indent="0">
              <a:buSzPct val="100000"/>
              <a:buFont typeface="Arial"/>
              <a:buNone/>
              <a:defRPr sz="2100">
                <a:solidFill>
                  <a:schemeClr val="accent5"/>
                </a:solidFill>
              </a:defRPr>
            </a:lvl3pPr>
            <a:lvl4pPr marL="1384301" indent="0">
              <a:buSzPct val="100000"/>
              <a:buFont typeface="Arial"/>
              <a:buNone/>
              <a:defRPr sz="1800">
                <a:solidFill>
                  <a:schemeClr val="accent5"/>
                </a:solidFill>
              </a:defRPr>
            </a:lvl4pPr>
            <a:lvl5pPr marL="2406650" indent="-342901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04476" y="1869074"/>
            <a:ext cx="6019800" cy="5407933"/>
          </a:xfrm>
          <a:prstGeom prst="rect">
            <a:avLst/>
          </a:prstGeom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568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704476" y="1893515"/>
            <a:ext cx="13273731" cy="53589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SzPct val="120000"/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163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ageImage_NoColo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 w="6350" cmpd="sng">
            <a:solidFill>
              <a:srgbClr val="666666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520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w Color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4630400" cy="8229602"/>
          </a:xfrm>
          <a:prstGeom prst="rect">
            <a:avLst/>
          </a:prstGeom>
          <a:ln w="6350" cmpd="sng">
            <a:solidFill>
              <a:schemeClr val="tx1"/>
            </a:solidFill>
          </a:ln>
        </p:spPr>
        <p:txBody>
          <a:bodyPr lIns="91440" tIns="45720" rIns="91440" bIns="45720"/>
          <a:lstStyle>
            <a:lvl1pPr marL="0" indent="0">
              <a:buFontTx/>
              <a:buNone/>
              <a:defRPr sz="280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3061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43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38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06221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BentonSans Book"/>
            </a:endParaRPr>
          </a:p>
        </p:txBody>
      </p:sp>
      <p:pic>
        <p:nvPicPr>
          <p:cNvPr id="3" name="Picture 6" descr="tableau_rgb.eps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00" y="3206750"/>
            <a:ext cx="8737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9641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/>
          <p:cNvSpPr>
            <a:spLocks noGrp="1"/>
          </p:cNvSpPr>
          <p:nvPr>
            <p:ph type="body" sz="quarter" idx="11"/>
          </p:nvPr>
        </p:nvSpPr>
        <p:spPr>
          <a:xfrm>
            <a:off x="706102" y="1813045"/>
            <a:ext cx="5337174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FontTx/>
              <a:buNone/>
              <a:defRPr sz="2800" b="0" i="0" baseline="0">
                <a:solidFill>
                  <a:schemeClr val="accent5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8545513" y="1813045"/>
            <a:ext cx="5414962" cy="364381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marL="0" marR="0" indent="0" algn="l" defTabSz="1306169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2pPr>
            <a:lvl3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3pPr>
            <a:lvl4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4pPr>
            <a:lvl5pPr marL="0" indent="0">
              <a:lnSpc>
                <a:spcPct val="150000"/>
              </a:lnSpc>
              <a:buFontTx/>
              <a:buNone/>
              <a:defRPr sz="2900" baseline="0">
                <a:solidFill>
                  <a:srgbClr val="4C4C4C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715321" y="600288"/>
            <a:ext cx="1324515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 baseline="0">
                <a:solidFill>
                  <a:schemeClr val="accent5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350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ev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710057" y="598700"/>
            <a:ext cx="13269094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buFontTx/>
              <a:buNone/>
              <a:defRPr sz="4500" b="0" i="0">
                <a:solidFill>
                  <a:srgbClr val="4C4C4C"/>
                </a:solidFill>
                <a:latin typeface="BentonSans Book"/>
                <a:cs typeface="BentonSans Book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4"/>
          </p:nvPr>
        </p:nvSpPr>
        <p:spPr>
          <a:xfrm>
            <a:off x="704477" y="1893515"/>
            <a:ext cx="13274794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6349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tabLst/>
              <a:defRPr sz="2800" b="0" i="0" baseline="0">
                <a:solidFill>
                  <a:srgbClr val="4C4C4C"/>
                </a:solidFill>
                <a:latin typeface="Merriweather Light"/>
                <a:cs typeface="Merriweather Light"/>
              </a:defRPr>
            </a:lvl1pPr>
            <a:lvl2pPr marL="288913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400" baseline="0">
                <a:solidFill>
                  <a:schemeClr val="accent5"/>
                </a:solidFill>
              </a:defRPr>
            </a:lvl2pPr>
            <a:lvl3pPr marL="512742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2100" baseline="0">
                <a:solidFill>
                  <a:schemeClr val="accent5"/>
                </a:solidFill>
              </a:defRPr>
            </a:lvl3pPr>
            <a:lvl4pPr marL="741334" indent="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None/>
              <a:defRPr sz="1800" baseline="0">
                <a:solidFill>
                  <a:schemeClr val="accent5"/>
                </a:solidFill>
              </a:defRPr>
            </a:lvl4pPr>
            <a:lvl5pPr marL="2406553" indent="-342887">
              <a:buSzPct val="100000"/>
              <a:buFont typeface="+mj-lt"/>
              <a:buAutoNum type="arabicPeriod"/>
              <a:defRPr sz="16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331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/>
        </p:nvPicPr>
        <p:blipFill rotWithShape="1">
          <a:blip r:embed="rId1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6932613"/>
            <a:ext cx="14630400" cy="1296987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8" y="7724775"/>
            <a:ext cx="17272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4"/>
            <a:ext cx="132445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35" r:id="rId2"/>
    <p:sldLayoutId id="2147484148" r:id="rId3"/>
    <p:sldLayoutId id="2147484150" r:id="rId4"/>
    <p:sldLayoutId id="2147484152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  <p:sldLayoutId id="2147484142" r:id="rId12"/>
    <p:sldLayoutId id="2147484143" r:id="rId13"/>
    <p:sldLayoutId id="2147484144" r:id="rId14"/>
    <p:sldLayoutId id="2147484145" r:id="rId15"/>
    <p:sldLayoutId id="2147484146" r:id="rId16"/>
    <p:sldLayoutId id="2147484149" r:id="rId17"/>
  </p:sldLayoutIdLst>
  <p:txStyles>
    <p:titleStyle>
      <a:lvl1pPr algn="l" defTabSz="130492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0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5pPr>
      <a:lvl6pPr marL="4572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6pPr>
      <a:lvl7pPr marL="9144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7pPr>
      <a:lvl8pPr marL="13716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8pPr>
      <a:lvl9pPr marL="1828800" algn="l" defTabSz="130492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50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88950" indent="-488950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1060450" indent="-40798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40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631950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28441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938463" indent="-325438" algn="l" defTabSz="13049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9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59210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6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1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0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1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ttom_Viz_August-02.png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0" y="6932614"/>
            <a:ext cx="14630400" cy="1296988"/>
          </a:xfrm>
          <a:prstGeom prst="rect">
            <a:avLst/>
          </a:prstGeom>
        </p:spPr>
      </p:pic>
      <p:pic>
        <p:nvPicPr>
          <p:cNvPr id="1027" name="Picture 7" descr="tableau_white.eps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9839" y="7724776"/>
            <a:ext cx="1727200" cy="36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712788" y="601315"/>
            <a:ext cx="13244512" cy="47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425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87394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750" kern="1200">
          <a:solidFill>
            <a:srgbClr val="4C4C4C"/>
          </a:solidFill>
          <a:latin typeface="BentonSans Book"/>
          <a:ea typeface="ＭＳ Ｐゴシック" charset="0"/>
          <a:cs typeface="BentonSans Book"/>
        </a:defRPr>
      </a:lvl1pPr>
      <a:lvl2pPr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2pPr>
      <a:lvl3pPr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3pPr>
      <a:lvl4pPr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4pPr>
      <a:lvl5pPr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5pPr>
      <a:lvl6pPr marL="380985"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6pPr>
      <a:lvl7pPr marL="761970"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7pPr>
      <a:lvl8pPr marL="1142954"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8pPr>
      <a:lvl9pPr marL="1523939" algn="l" defTabSz="1087394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750">
          <a:solidFill>
            <a:srgbClr val="4C4C4C"/>
          </a:solidFill>
          <a:latin typeface="BentonSans Book" charset="0"/>
          <a:ea typeface="ＭＳ Ｐゴシック" charset="0"/>
        </a:defRPr>
      </a:lvl9pPr>
    </p:titleStyle>
    <p:bodyStyle>
      <a:lvl1pPr marL="407442" indent="-407442" algn="l" defTabSz="1087394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833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83673" indent="-339976" algn="l" defTabSz="1087394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359904" indent="-271187" algn="l" defTabSz="1087394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33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903601" indent="-271187" algn="l" defTabSz="1087394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1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448621" indent="-271187" algn="l" defTabSz="1087394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41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993302" indent="-272118" algn="l" defTabSz="1088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6pPr>
      <a:lvl7pPr marL="3537538" indent="-272118" algn="l" defTabSz="1088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7pPr>
      <a:lvl8pPr marL="4081775" indent="-272118" algn="l" defTabSz="1088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8pPr>
      <a:lvl9pPr marL="4626012" indent="-272118" algn="l" defTabSz="1088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1pPr>
      <a:lvl2pPr marL="544237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2pPr>
      <a:lvl3pPr marL="1088474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632711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176948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1183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65420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809657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353894" algn="l" defTabSz="1088474" rtl="0" eaLnBrk="1" latinLnBrk="0" hangingPunct="1"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18.xml"/><Relationship Id="rId6" Type="http://schemas.openxmlformats.org/officeDocument/2006/relationships/image" Target="../media/image24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20.xml"/><Relationship Id="rId6" Type="http://schemas.openxmlformats.org/officeDocument/2006/relationships/image" Target="../media/image26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3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4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32.xml"/><Relationship Id="rId6" Type="http://schemas.openxmlformats.org/officeDocument/2006/relationships/image" Target="../media/image37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7552C3A-DAA2-4254-B370-B34FCCB5153B}"/>
              </a:ext>
            </a:extLst>
          </p:cNvPr>
          <p:cNvSpPr>
            <a:spLocks noGrp="1"/>
          </p:cNvSpPr>
          <p:nvPr/>
        </p:nvSpPr>
        <p:spPr>
          <a:xfrm>
            <a:off x="694262" y="3286802"/>
            <a:ext cx="13245156" cy="31054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4500" b="0" i="0" kern="1200" baseline="0">
                <a:solidFill>
                  <a:schemeClr val="accent5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653110" indent="0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306221" indent="0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959331" indent="0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612442" indent="0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06221" fontAlgn="auto">
              <a:spcAft>
                <a:spcPts val="0"/>
              </a:spcAft>
              <a:defRPr/>
            </a:pPr>
            <a:r>
              <a:rPr lang="en-US" dirty="0">
                <a:ea typeface="+mn-ea"/>
              </a:rPr>
              <a:t>Fields and Variables in Tableau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dirty="0">
              <a:ea typeface="+mn-ea"/>
            </a:endParaRP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000" dirty="0">
                <a:ea typeface="+mn-ea"/>
              </a:rPr>
              <a:t>Prof. Earl</a:t>
            </a:r>
          </a:p>
          <a:p>
            <a:pPr defTabSz="1306221" fontAlgn="auto">
              <a:spcAft>
                <a:spcPts val="0"/>
              </a:spcAft>
              <a:defRPr/>
            </a:pPr>
            <a:endParaRPr lang="en-US" sz="4000" dirty="0">
              <a:ea typeface="+mn-ea"/>
            </a:endParaRPr>
          </a:p>
          <a:p>
            <a:pPr defTabSz="1306221" fontAlgn="auto">
              <a:spcAft>
                <a:spcPts val="0"/>
              </a:spcAft>
              <a:defRPr/>
            </a:pPr>
            <a:r>
              <a:rPr lang="en-US" sz="4000" dirty="0">
                <a:ea typeface="+mn-ea"/>
              </a:rPr>
              <a:t>CSC105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Dimensions and Measures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C76FD6E-DACD-4D8D-919E-2FDB2AD37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171153"/>
              </p:ext>
            </p:extLst>
          </p:nvPr>
        </p:nvGraphicFramePr>
        <p:xfrm>
          <a:off x="565626" y="1014153"/>
          <a:ext cx="13703990" cy="530942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188765">
                  <a:extLst>
                    <a:ext uri="{9D8B030D-6E8A-4147-A177-3AD203B41FA5}">
                      <a16:colId xmlns:a16="http://schemas.microsoft.com/office/drawing/2014/main" val="4039216288"/>
                    </a:ext>
                  </a:extLst>
                </a:gridCol>
                <a:gridCol w="7515225">
                  <a:extLst>
                    <a:ext uri="{9D8B030D-6E8A-4147-A177-3AD203B41FA5}">
                      <a16:colId xmlns:a16="http://schemas.microsoft.com/office/drawing/2014/main" val="1654726709"/>
                    </a:ext>
                  </a:extLst>
                </a:gridCol>
              </a:tblGrid>
              <a:tr h="643949">
                <a:tc>
                  <a:txBody>
                    <a:bodyPr/>
                    <a:lstStyle/>
                    <a:p>
                      <a:r>
                        <a:rPr lang="en-US" sz="3600" dirty="0"/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598011"/>
                  </a:ext>
                </a:extLst>
              </a:tr>
              <a:tr h="578333">
                <a:tc>
                  <a:txBody>
                    <a:bodyPr/>
                    <a:lstStyle/>
                    <a:p>
                      <a:r>
                        <a:rPr lang="en-US"/>
                        <a:t>Categorical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Quantitative (numerical)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472357"/>
                  </a:ext>
                </a:extLst>
              </a:tr>
              <a:tr h="531108">
                <a:tc>
                  <a:txBody>
                    <a:bodyPr/>
                    <a:lstStyle/>
                    <a:p>
                      <a:r>
                        <a:rPr lang="en-US"/>
                        <a:t>Independent/Explanatory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Dependent/Response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571222"/>
                  </a:ext>
                </a:extLst>
              </a:tr>
              <a:tr h="531108">
                <a:tc>
                  <a:txBody>
                    <a:bodyPr/>
                    <a:lstStyle/>
                    <a:p>
                      <a:r>
                        <a:rPr lang="en-US"/>
                        <a:t>Organize Data into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Are used in calculations, (Sum, Average, Count)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710506"/>
                  </a:ext>
                </a:extLst>
              </a:tr>
              <a:tr h="531108">
                <a:tc>
                  <a:txBody>
                    <a:bodyPr/>
                    <a:lstStyle/>
                    <a:p>
                      <a:r>
                        <a:rPr lang="en-US"/>
                        <a:t>Answers: Who? What? Where? 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Answers: How much? How many? How long?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867677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r>
                        <a:rPr lang="en-US"/>
                        <a:t>Dimensions group or slice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Measures aggregate and recalculate with every Dimension brought into 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38006"/>
                  </a:ext>
                </a:extLst>
              </a:tr>
              <a:tr h="692727">
                <a:tc>
                  <a:txBody>
                    <a:bodyPr/>
                    <a:lstStyle/>
                    <a:p>
                      <a:r>
                        <a:rPr lang="en-US"/>
                        <a:t>Not typically aggregated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Most often are aggregations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13325"/>
                  </a:ext>
                </a:extLst>
              </a:tr>
              <a:tr h="831272">
                <a:tc>
                  <a:txBody>
                    <a:bodyPr/>
                    <a:lstStyle/>
                    <a:p>
                      <a:r>
                        <a:rPr lang="en-US"/>
                        <a:t>Shown as its field name in Tableau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the aggregation and field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018203"/>
                  </a:ext>
                </a:extLst>
              </a:tr>
            </a:tbl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30875C4-C646-4570-BC3A-4CB5B16F63CB}"/>
              </a:ext>
            </a:extLst>
          </p:cNvPr>
          <p:cNvSpPr>
            <a:spLocks noGrp="1"/>
          </p:cNvSpPr>
          <p:nvPr/>
        </p:nvSpPr>
        <p:spPr>
          <a:xfrm>
            <a:off x="554883" y="338232"/>
            <a:ext cx="13269093" cy="5770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ＭＳ Ｐゴシック"/>
              </a:rPr>
              <a:t>Dimensions vs. Measures</a:t>
            </a:r>
            <a:endParaRPr lang="en-US" dirty="0"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325C5E86-AC6E-432E-B894-04237C699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095" y="6639367"/>
            <a:ext cx="3014455" cy="488673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E0CC658F-1DA9-4105-8ACD-67CCE79D4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530" y="6654275"/>
            <a:ext cx="3232702" cy="4737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1874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423615"/>
            <a:ext cx="13273820" cy="5970865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200">
                <a:ea typeface="ＭＳ Ｐゴシック"/>
                <a:cs typeface="Arial"/>
              </a:rPr>
              <a:t>Di</a:t>
            </a:r>
            <a:r>
              <a:rPr lang="en-US" sz="3200">
                <a:ea typeface="ＭＳ Ｐゴシック"/>
              </a:rPr>
              <a:t>mensions set the granularity or the level of detail in the view</a:t>
            </a:r>
            <a:endParaRPr lang="en-US" sz="3200" b="1">
              <a:ea typeface="ＭＳ Ｐゴシック"/>
            </a:endParaRPr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3200">
                <a:ea typeface="ＭＳ Ｐゴシック"/>
              </a:rPr>
              <a:t>Things you group by or drill down by</a:t>
            </a:r>
            <a:endParaRPr lang="en-US" sz="3200"/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3200">
                <a:ea typeface="ＭＳ Ｐゴシック"/>
              </a:rPr>
              <a:t>Usually (but not always) categorical fields </a:t>
            </a:r>
            <a:endParaRPr lang="en-US" sz="2800" b="1"/>
          </a:p>
          <a:p>
            <a:pPr marL="925830" lvl="2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E.G. </a:t>
            </a:r>
            <a:r>
              <a:rPr lang="en-US" sz="2800" b="1">
                <a:ea typeface="ＭＳ Ｐゴシック"/>
              </a:rPr>
              <a:t>City</a:t>
            </a:r>
            <a:r>
              <a:rPr lang="en-US" sz="2800">
                <a:ea typeface="ＭＳ Ｐゴシック"/>
              </a:rPr>
              <a:t> or </a:t>
            </a:r>
            <a:r>
              <a:rPr lang="en-US" sz="2800" b="1">
                <a:ea typeface="ＭＳ Ｐゴシック"/>
              </a:rPr>
              <a:t>Order Priority</a:t>
            </a:r>
            <a:endParaRPr lang="en-US" sz="2800" b="1"/>
          </a:p>
          <a:p>
            <a:pPr indent="0">
              <a:buNone/>
            </a:pPr>
            <a:endParaRPr lang="en-US">
              <a:ea typeface="ＭＳ Ｐゴシック"/>
            </a:endParaRPr>
          </a:p>
          <a:p>
            <a:pPr indent="0">
              <a:buNone/>
            </a:pPr>
            <a:r>
              <a:rPr lang="en-US" sz="3200">
                <a:ea typeface="ＭＳ Ｐゴシック"/>
              </a:rPr>
              <a:t>It doesn't make sense to compute an average </a:t>
            </a:r>
            <a:r>
              <a:rPr lang="en-US" sz="3200" b="1">
                <a:ea typeface="ＭＳ Ｐゴシック"/>
              </a:rPr>
              <a:t>City </a:t>
            </a:r>
            <a:r>
              <a:rPr lang="en-US" sz="3200">
                <a:ea typeface="ＭＳ Ｐゴシック"/>
              </a:rPr>
              <a:t>or average </a:t>
            </a:r>
            <a:r>
              <a:rPr lang="en-US" sz="3200" b="1">
                <a:ea typeface="ＭＳ Ｐゴシック"/>
              </a:rPr>
              <a:t>Order Priority</a:t>
            </a:r>
            <a:r>
              <a:rPr lang="en-US" sz="3200">
                <a:ea typeface="ＭＳ Ｐゴシック"/>
              </a:rPr>
              <a:t> (these are words). It makes sense to slice or group the data using these fields instead.  We want to view our data by some combination of these categories. </a:t>
            </a:r>
            <a:endParaRPr lang="en-US" sz="3200"/>
          </a:p>
          <a:p>
            <a:pPr indent="0">
              <a:buNone/>
            </a:pPr>
            <a:endParaRPr lang="en-US"/>
          </a:p>
          <a:p>
            <a:pPr indent="0">
              <a:buNone/>
            </a:pPr>
            <a:r>
              <a:rPr lang="en-US" sz="3200">
                <a:ea typeface="ＭＳ Ｐゴシック"/>
              </a:rPr>
              <a:t>The dimensions we use will determine how many 'marks' we have – </a:t>
            </a:r>
            <a:r>
              <a:rPr lang="en-US" sz="3200" b="1">
                <a:ea typeface="ＭＳ Ｐゴシック"/>
              </a:rPr>
              <a:t>Order Priority </a:t>
            </a:r>
            <a:r>
              <a:rPr lang="en-US" sz="3200">
                <a:ea typeface="ＭＳ Ｐゴシック"/>
              </a:rPr>
              <a:t>has 3 categories, so it would give us 3 marks.</a:t>
            </a:r>
          </a:p>
          <a:p>
            <a:pPr lvl="0" indent="0">
              <a:buNone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ea typeface="ＭＳ Ｐゴシック"/>
              </a:rPr>
              <a:t>Dimensions in Tableau 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423615"/>
            <a:ext cx="13273820" cy="3385542"/>
          </a:xfrm>
        </p:spPr>
        <p:txBody>
          <a:bodyPr wrap="square" lIns="0" tIns="0" rIns="0" bIns="0" numCol="1" spcCol="365760" anchor="t">
            <a:spAutoFit/>
          </a:bodyPr>
          <a:lstStyle/>
          <a:p>
            <a:pPr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000">
                <a:ea typeface="ＭＳ Ｐゴシック"/>
              </a:rPr>
              <a:t>Measures are aggregations – they’re aggregated up to the granularity set by the dimensions in the view</a:t>
            </a:r>
            <a:endParaRPr lang="en-US" sz="3000" b="1">
              <a:ea typeface="ＭＳ Ｐゴシック"/>
            </a:endParaRPr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3000">
                <a:ea typeface="ＭＳ Ｐゴシック"/>
              </a:rPr>
              <a:t>Measures are usually numerical data like </a:t>
            </a:r>
            <a:r>
              <a:rPr lang="en-US" sz="3000" b="1">
                <a:ea typeface="ＭＳ Ｐゴシック"/>
              </a:rPr>
              <a:t>Shipping Cost</a:t>
            </a:r>
            <a:r>
              <a:rPr lang="en-US" sz="3000">
                <a:ea typeface="ＭＳ Ｐゴシック"/>
              </a:rPr>
              <a:t> or </a:t>
            </a:r>
            <a:r>
              <a:rPr lang="en-US" sz="3000" b="1">
                <a:ea typeface="ＭＳ Ｐゴシック"/>
              </a:rPr>
              <a:t>Sales</a:t>
            </a:r>
            <a:endParaRPr lang="en-US" sz="3000"/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3000">
                <a:ea typeface="ＭＳ Ｐゴシック"/>
              </a:rPr>
              <a:t>Think of them as the data elements that you can calculate </a:t>
            </a:r>
          </a:p>
          <a:p>
            <a:endParaRPr lang="en-US" sz="3000">
              <a:ea typeface="ＭＳ Ｐゴシック"/>
            </a:endParaRPr>
          </a:p>
          <a:p>
            <a:pPr indent="0">
              <a:buNone/>
            </a:pPr>
            <a:r>
              <a:rPr lang="en-US" sz="3000">
                <a:ea typeface="ＭＳ Ｐゴシック"/>
              </a:rPr>
              <a:t>The value of a measure depends on the context of the dimensions. </a:t>
            </a:r>
            <a:endParaRPr lang="en-US" sz="3000"/>
          </a:p>
          <a:p>
            <a:pPr indent="0">
              <a:buNone/>
            </a:pPr>
            <a:endParaRPr lang="en-US" sz="30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ea typeface="ＭＳ Ｐゴシック"/>
              </a:rPr>
              <a:t>Measures in Tableau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80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2BED24-A996-48B6-B004-FA17B26FC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609" y="598699"/>
            <a:ext cx="13269093" cy="57708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latin typeface="Merriweather Light"/>
              </a:rPr>
              <a:t>Dimensions and Measures in Tableau </a:t>
            </a:r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1A7BCFD-0A19-4629-960F-B4A2392FC06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7313" y="2091194"/>
            <a:ext cx="4688518" cy="48540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58E82E08-5A73-45DB-8368-BB434B22AA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5670" y="2091194"/>
            <a:ext cx="5237417" cy="48129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4E8C39-7EB1-43D2-86FF-BBF5E47F31D1}"/>
              </a:ext>
            </a:extLst>
          </p:cNvPr>
          <p:cNvSpPr txBox="1"/>
          <p:nvPr/>
        </p:nvSpPr>
        <p:spPr>
          <a:xfrm flipH="1">
            <a:off x="1417313" y="1140503"/>
            <a:ext cx="46885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Sum of Shipping Cost (Measure)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4E4C4-ED28-46A2-BDE9-990EA4ADF9DE}"/>
              </a:ext>
            </a:extLst>
          </p:cNvPr>
          <p:cNvSpPr txBox="1"/>
          <p:nvPr/>
        </p:nvSpPr>
        <p:spPr>
          <a:xfrm flipH="1">
            <a:off x="7492919" y="1217826"/>
            <a:ext cx="6695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Sum of Shipping Cost with added Dimension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53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2BED24-A996-48B6-B004-FA17B26FC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609" y="598699"/>
            <a:ext cx="13269093" cy="57708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latin typeface="Merriweather Light"/>
              </a:rPr>
              <a:t>When our Dimension is Ordinal </a:t>
            </a:r>
            <a:endParaRPr lang="en-US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58E82E08-5A73-45DB-8368-BB434B22AAE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99459" y="1389523"/>
            <a:ext cx="5931243" cy="54505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DC37F843-A180-4EBE-B721-D52D5D6CE4DF}"/>
              </a:ext>
            </a:extLst>
          </p:cNvPr>
          <p:cNvSpPr/>
          <p:nvPr/>
        </p:nvSpPr>
        <p:spPr>
          <a:xfrm>
            <a:off x="7994822" y="6437870"/>
            <a:ext cx="1804086" cy="35834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C86FF-641F-4D6F-B4E9-40ECD1FAFDBD}"/>
              </a:ext>
            </a:extLst>
          </p:cNvPr>
          <p:cNvSpPr txBox="1"/>
          <p:nvPr/>
        </p:nvSpPr>
        <p:spPr>
          <a:xfrm>
            <a:off x="545882" y="1535924"/>
            <a:ext cx="56459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We want categories order by ranking order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Low and Medium should be re-ordered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47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2BED24-A996-48B6-B004-FA17B26FC5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609" y="598699"/>
            <a:ext cx="13269093" cy="57708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latin typeface="Merriweather Light"/>
              </a:rPr>
              <a:t>When our Dimension is Ordinal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CC86FF-641F-4D6F-B4E9-40ECD1FAFDBD}"/>
              </a:ext>
            </a:extLst>
          </p:cNvPr>
          <p:cNvSpPr txBox="1"/>
          <p:nvPr/>
        </p:nvSpPr>
        <p:spPr>
          <a:xfrm>
            <a:off x="545882" y="1535924"/>
            <a:ext cx="56459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Click on sort symbol on Order Priority pill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Select Sort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Select Manual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+mn-lt"/>
              </a:rPr>
              <a:t>Reorder categories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45D03BD9-B701-421E-8CC0-64AAC31F358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5967" y="1035475"/>
            <a:ext cx="5375189" cy="592213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C3F37C0-3152-4D8D-A6DE-0A5EAE63EE2A}"/>
              </a:ext>
            </a:extLst>
          </p:cNvPr>
          <p:cNvSpPr/>
          <p:nvPr/>
        </p:nvSpPr>
        <p:spPr>
          <a:xfrm rot="12700682">
            <a:off x="12440358" y="1325859"/>
            <a:ext cx="778475" cy="42013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657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Data Types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018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2A63FFF-147C-4913-B168-DC7FBE404236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602756899"/>
              </p:ext>
            </p:extLst>
          </p:nvPr>
        </p:nvGraphicFramePr>
        <p:xfrm>
          <a:off x="2741468" y="2170979"/>
          <a:ext cx="9177487" cy="490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2036">
                  <a:extLst>
                    <a:ext uri="{9D8B030D-6E8A-4147-A177-3AD203B41FA5}">
                      <a16:colId xmlns:a16="http://schemas.microsoft.com/office/drawing/2014/main" val="2480369924"/>
                    </a:ext>
                  </a:extLst>
                </a:gridCol>
                <a:gridCol w="7085451">
                  <a:extLst>
                    <a:ext uri="{9D8B030D-6E8A-4147-A177-3AD203B41FA5}">
                      <a16:colId xmlns:a16="http://schemas.microsoft.com/office/drawing/2014/main" val="1211482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b="1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b="1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Data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99058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Text (string)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11561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Date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5004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Date &amp; time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05284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Numerical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72234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Boolean values (relational 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35449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defTabSz="1304925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800" kern="1200" dirty="0">
                          <a:solidFill>
                            <a:srgbClr val="4C4C4C"/>
                          </a:solidFill>
                          <a:latin typeface="Merriweather Light"/>
                          <a:ea typeface="ＭＳ Ｐゴシック"/>
                        </a:rPr>
                        <a:t>Geographic values (used with maps)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958241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EE3B-929C-4349-BD55-760273CCA7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Data types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48EE4F-9485-49A2-BC6B-21D8A9E28658}"/>
              </a:ext>
            </a:extLst>
          </p:cNvPr>
          <p:cNvGrpSpPr/>
          <p:nvPr/>
        </p:nvGrpSpPr>
        <p:grpSpPr>
          <a:xfrm>
            <a:off x="3381375" y="2772208"/>
            <a:ext cx="857250" cy="4219288"/>
            <a:chOff x="845993" y="2495117"/>
            <a:chExt cx="857250" cy="4219288"/>
          </a:xfrm>
        </p:grpSpPr>
        <p:pic>
          <p:nvPicPr>
            <p:cNvPr id="10" name="Picture 10" descr="A picture containing drawing&#10;&#10;Description generated with very high confidence">
              <a:extLst>
                <a:ext uri="{FF2B5EF4-FFF2-40B4-BE49-F238E27FC236}">
                  <a16:creationId xmlns:a16="http://schemas.microsoft.com/office/drawing/2014/main" id="{57748B4C-04DA-41D7-983E-885B58244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993" y="2495117"/>
              <a:ext cx="857250" cy="523875"/>
            </a:xfrm>
            <a:prstGeom prst="rect">
              <a:avLst/>
            </a:prstGeom>
          </p:spPr>
        </p:pic>
        <p:pic>
          <p:nvPicPr>
            <p:cNvPr id="14" name="Picture 14" descr="A picture containing drawing&#10;&#10;Description generated with very high confidence">
              <a:extLst>
                <a:ext uri="{FF2B5EF4-FFF2-40B4-BE49-F238E27FC236}">
                  <a16:creationId xmlns:a16="http://schemas.microsoft.com/office/drawing/2014/main" id="{227A2340-FE68-46C1-80BE-7A8B5632F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711" y="3227532"/>
              <a:ext cx="695325" cy="571500"/>
            </a:xfrm>
            <a:prstGeom prst="rect">
              <a:avLst/>
            </a:prstGeom>
          </p:spPr>
        </p:pic>
        <p:pic>
          <p:nvPicPr>
            <p:cNvPr id="16" name="Picture 16" descr="A close up of a sign&#10;&#10;Description generated with very high confidence">
              <a:extLst>
                <a:ext uri="{FF2B5EF4-FFF2-40B4-BE49-F238E27FC236}">
                  <a16:creationId xmlns:a16="http://schemas.microsoft.com/office/drawing/2014/main" id="{B8353E55-9226-47D4-8182-0E3191CAA9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3922" r="450" b="11765"/>
            <a:stretch/>
          </p:blipFill>
          <p:spPr>
            <a:xfrm>
              <a:off x="904443" y="3958649"/>
              <a:ext cx="730122" cy="594286"/>
            </a:xfrm>
            <a:prstGeom prst="rect">
              <a:avLst/>
            </a:prstGeom>
          </p:spPr>
        </p:pic>
        <p:pic>
          <p:nvPicPr>
            <p:cNvPr id="20" name="Picture 20" descr="A close up of a sign&#10;&#10;Description generated with very high confidence">
              <a:extLst>
                <a:ext uri="{FF2B5EF4-FFF2-40B4-BE49-F238E27FC236}">
                  <a16:creationId xmlns:a16="http://schemas.microsoft.com/office/drawing/2014/main" id="{0110207C-5358-479E-8353-31A581B0FB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4082" t="14545" r="-2041" b="22370"/>
            <a:stretch/>
          </p:blipFill>
          <p:spPr>
            <a:xfrm>
              <a:off x="928254" y="5492174"/>
              <a:ext cx="671804" cy="480702"/>
            </a:xfrm>
            <a:prstGeom prst="rect">
              <a:avLst/>
            </a:prstGeom>
          </p:spPr>
        </p:pic>
        <p:pic>
          <p:nvPicPr>
            <p:cNvPr id="22" name="Picture 22" descr="A picture containing drawing&#10;&#10;Description generated with very high confidence">
              <a:extLst>
                <a:ext uri="{FF2B5EF4-FFF2-40B4-BE49-F238E27FC236}">
                  <a16:creationId xmlns:a16="http://schemas.microsoft.com/office/drawing/2014/main" id="{B4FE604C-C52D-411D-8F0E-41463EAEB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0065" y="6133380"/>
              <a:ext cx="542925" cy="581025"/>
            </a:xfrm>
            <a:prstGeom prst="rect">
              <a:avLst/>
            </a:prstGeom>
          </p:spPr>
        </p:pic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65E4AB16-7924-4A52-B41B-734470FE4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3630" y="4717039"/>
              <a:ext cx="561975" cy="485775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5710F55-EC9E-4E4B-B37D-FA47D24B5ACA}"/>
              </a:ext>
            </a:extLst>
          </p:cNvPr>
          <p:cNvSpPr txBox="1"/>
          <p:nvPr/>
        </p:nvSpPr>
        <p:spPr>
          <a:xfrm>
            <a:off x="651164" y="1544782"/>
            <a:ext cx="146581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accent5"/>
                </a:solidFill>
                <a:latin typeface="Merriweather Light"/>
                <a:ea typeface="ＭＳ Ｐゴシック"/>
              </a:rPr>
              <a:t>Think of data types as the data elements that you want to perform calculations 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4406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61B38-D276-4A7D-986C-F0574A4FD6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en-US">
                <a:ea typeface="ＭＳ Ｐゴシック"/>
              </a:rPr>
              <a:t>Data types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F98FB4-D947-477B-8DC6-B63EB40655F0}"/>
              </a:ext>
            </a:extLst>
          </p:cNvPr>
          <p:cNvGrpSpPr/>
          <p:nvPr/>
        </p:nvGrpSpPr>
        <p:grpSpPr>
          <a:xfrm>
            <a:off x="3663109" y="2662309"/>
            <a:ext cx="7370283" cy="3510912"/>
            <a:chOff x="3663109" y="2882646"/>
            <a:chExt cx="7370283" cy="3510912"/>
          </a:xfrm>
        </p:grpSpPr>
        <p:pic>
          <p:nvPicPr>
            <p:cNvPr id="12" name="Picture 12" descr="A screenshot of a cell phone&#10;&#10;Description generated with very high confidence">
              <a:extLst>
                <a:ext uri="{FF2B5EF4-FFF2-40B4-BE49-F238E27FC236}">
                  <a16:creationId xmlns:a16="http://schemas.microsoft.com/office/drawing/2014/main" id="{49D307EC-1090-4F77-AA88-2115BCA0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109" y="2882646"/>
              <a:ext cx="7370283" cy="351091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62B31D-A412-43B6-9915-DDF745379933}"/>
                </a:ext>
              </a:extLst>
            </p:cNvPr>
            <p:cNvSpPr/>
            <p:nvPr/>
          </p:nvSpPr>
          <p:spPr>
            <a:xfrm>
              <a:off x="3894463" y="4252511"/>
              <a:ext cx="2544896" cy="429658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157EA7-632A-42CE-BE12-194CEB9E3F54}"/>
                </a:ext>
              </a:extLst>
            </p:cNvPr>
            <p:cNvSpPr/>
            <p:nvPr/>
          </p:nvSpPr>
          <p:spPr>
            <a:xfrm>
              <a:off x="3894463" y="5960125"/>
              <a:ext cx="2544896" cy="429658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E0400CC-E3FB-48B2-9AAD-B1343B17BDF9}"/>
                </a:ext>
              </a:extLst>
            </p:cNvPr>
            <p:cNvSpPr/>
            <p:nvPr/>
          </p:nvSpPr>
          <p:spPr>
            <a:xfrm>
              <a:off x="7794434" y="3415228"/>
              <a:ext cx="3238958" cy="837282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F337EDB-139D-45BC-A024-D0479FF93E49}"/>
                </a:ext>
              </a:extLst>
            </p:cNvPr>
            <p:cNvSpPr/>
            <p:nvPr/>
          </p:nvSpPr>
          <p:spPr>
            <a:xfrm>
              <a:off x="7794434" y="5122843"/>
              <a:ext cx="3238958" cy="760164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A14C2DF-A19F-4D3F-9FA8-6D27B837F372}"/>
              </a:ext>
            </a:extLst>
          </p:cNvPr>
          <p:cNvSpPr txBox="1"/>
          <p:nvPr/>
        </p:nvSpPr>
        <p:spPr>
          <a:xfrm>
            <a:off x="651164" y="1544782"/>
            <a:ext cx="14658109" cy="445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2800">
                <a:solidFill>
                  <a:schemeClr val="accent5"/>
                </a:solidFill>
                <a:latin typeface="Merriweather Light"/>
                <a:ea typeface="ＭＳ Ｐゴシック"/>
              </a:rPr>
              <a:t>An equal sign preceding an icon indicates a calculated value field or a copy of another field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819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Discrete and Continuous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27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9E6D598-91DB-4114-BE90-BA2BCB75E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282" y="2745419"/>
            <a:ext cx="10767500" cy="42266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5330" y="788798"/>
            <a:ext cx="13273820" cy="1292662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ea typeface="ＭＳ Ｐゴシック"/>
              </a:rPr>
              <a:t>When we bring a field into the view from the Data Window, Tableau creates a pill. </a:t>
            </a:r>
            <a:endParaRPr lang="en-US" b="1" dirty="0"/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2800" dirty="0">
                <a:ea typeface="ＭＳ Ｐゴシック"/>
              </a:rPr>
              <a:t>Continuous pills are </a:t>
            </a:r>
            <a:r>
              <a:rPr lang="en-US" sz="2800" b="1" dirty="0">
                <a:solidFill>
                  <a:srgbClr val="00B050"/>
                </a:solidFill>
                <a:ea typeface="ＭＳ Ｐゴシック"/>
              </a:rPr>
              <a:t>GREEN</a:t>
            </a:r>
            <a:endParaRPr lang="en-US" sz="2800" dirty="0">
              <a:solidFill>
                <a:srgbClr val="4C4C4C"/>
              </a:solidFill>
              <a:ea typeface="ＭＳ Ｐゴシック"/>
            </a:endParaRPr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r>
              <a:rPr lang="en-US" sz="2800" dirty="0">
                <a:solidFill>
                  <a:srgbClr val="4C4C4C"/>
                </a:solidFill>
                <a:ea typeface="ＭＳ Ｐゴシック"/>
              </a:rPr>
              <a:t>Discrete</a:t>
            </a:r>
            <a:r>
              <a:rPr lang="en-US" sz="2800" dirty="0">
                <a:ea typeface="ＭＳ Ｐゴシック"/>
              </a:rPr>
              <a:t> pills are </a:t>
            </a:r>
            <a:r>
              <a:rPr lang="en-US" sz="2800" b="1" dirty="0">
                <a:solidFill>
                  <a:srgbClr val="2CA7D0"/>
                </a:solidFill>
                <a:ea typeface="ＭＳ Ｐゴシック"/>
              </a:rPr>
              <a:t>BLUE  </a:t>
            </a:r>
            <a:endParaRPr lang="en-US" sz="2800" dirty="0">
              <a:ea typeface="ＭＳ Ｐ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279286"/>
            <a:ext cx="13269093" cy="6056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defTabSz="1306221" fontAlgn="auto">
              <a:spcAft>
                <a:spcPts val="0"/>
              </a:spcAft>
              <a:defRPr/>
            </a:pPr>
            <a:r>
              <a:rPr lang="en-US" sz="4800" dirty="0">
                <a:ea typeface="ＭＳ Ｐゴシック"/>
              </a:rPr>
              <a:t>Discrete and Continuous pill color</a:t>
            </a:r>
            <a:endParaRPr lang="en-US" dirty="0">
              <a:ea typeface="ＭＳ Ｐゴシック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85AAF-9F9D-4E6E-A4D3-D51F123FFB50}"/>
              </a:ext>
            </a:extLst>
          </p:cNvPr>
          <p:cNvSpPr txBox="1"/>
          <p:nvPr/>
        </p:nvSpPr>
        <p:spPr>
          <a:xfrm>
            <a:off x="6681730" y="2476041"/>
            <a:ext cx="2412166" cy="523220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Merriweather Light"/>
                <a:ea typeface="ＭＳ Ｐゴシック"/>
              </a:rPr>
              <a:t>Continuous</a:t>
            </a:r>
            <a:endParaRPr lang="en-US" sz="2800" dirty="0">
              <a:solidFill>
                <a:schemeClr val="bg1"/>
              </a:solidFill>
              <a:latin typeface="Merriweather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FF5D84-041A-4F12-AEC9-763DC5FFFD52}"/>
              </a:ext>
            </a:extLst>
          </p:cNvPr>
          <p:cNvSpPr txBox="1"/>
          <p:nvPr/>
        </p:nvSpPr>
        <p:spPr>
          <a:xfrm>
            <a:off x="7408843" y="4492127"/>
            <a:ext cx="1905919" cy="523220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Merriweather Light"/>
                <a:ea typeface="ＭＳ Ｐゴシック"/>
              </a:rPr>
              <a:t>Discrete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D8B592-AABD-4A44-9ECC-2CDB1C28B49A}"/>
              </a:ext>
            </a:extLst>
          </p:cNvPr>
          <p:cNvCxnSpPr/>
          <p:nvPr/>
        </p:nvCxnSpPr>
        <p:spPr>
          <a:xfrm flipH="1">
            <a:off x="6306812" y="2974209"/>
            <a:ext cx="859316" cy="727115"/>
          </a:xfrm>
          <a:prstGeom prst="straightConnector1">
            <a:avLst/>
          </a:prstGeom>
          <a:ln w="57150" cmpd="sng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398D5F-DF02-4CF8-8F81-AA289C6576A7}"/>
              </a:ext>
            </a:extLst>
          </p:cNvPr>
          <p:cNvCxnSpPr/>
          <p:nvPr/>
        </p:nvCxnSpPr>
        <p:spPr>
          <a:xfrm flipH="1" flipV="1">
            <a:off x="6670026" y="4207755"/>
            <a:ext cx="892363" cy="661011"/>
          </a:xfrm>
          <a:prstGeom prst="straightConnector1">
            <a:avLst/>
          </a:prstGeom>
          <a:ln w="57150" cmpd="sng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9880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Continuous Axis vs. Category Labels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3556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C08709-732B-4711-8E26-9B2BC46A58AF}"/>
              </a:ext>
            </a:extLst>
          </p:cNvPr>
          <p:cNvSpPr txBox="1"/>
          <p:nvPr/>
        </p:nvSpPr>
        <p:spPr>
          <a:xfrm>
            <a:off x="3011773" y="1475143"/>
            <a:ext cx="29068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039564"/>
                </a:solidFill>
                <a:latin typeface="Merriweather Light"/>
                <a:ea typeface="ＭＳ Ｐゴシック"/>
              </a:rPr>
              <a:t>Continuous</a:t>
            </a:r>
            <a:endParaRPr lang="en-US" sz="3600" b="1">
              <a:solidFill>
                <a:srgbClr val="039564"/>
              </a:solidFill>
              <a:latin typeface="Merriweather Ligh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31A09B-3471-4236-9C48-BE0EB31E15A2}"/>
              </a:ext>
            </a:extLst>
          </p:cNvPr>
          <p:cNvGrpSpPr/>
          <p:nvPr/>
        </p:nvGrpSpPr>
        <p:grpSpPr>
          <a:xfrm>
            <a:off x="2236573" y="2061424"/>
            <a:ext cx="10219036" cy="5183589"/>
            <a:chOff x="2187146" y="1851359"/>
            <a:chExt cx="10219036" cy="5183589"/>
          </a:xfrm>
        </p:grpSpPr>
        <p:pic>
          <p:nvPicPr>
            <p:cNvPr id="15" name="Picture 15" descr="A screenshot of text&#10;&#10;Description generated with high confidence">
              <a:extLst>
                <a:ext uri="{FF2B5EF4-FFF2-40B4-BE49-F238E27FC236}">
                  <a16:creationId xmlns:a16="http://schemas.microsoft.com/office/drawing/2014/main" id="{119E79BF-E5C5-42AC-AB33-62ABB778B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7146" y="1977268"/>
              <a:ext cx="4473146" cy="5053543"/>
            </a:xfrm>
            <a:prstGeom prst="rect">
              <a:avLst/>
            </a:prstGeom>
          </p:spPr>
        </p:pic>
        <p:pic>
          <p:nvPicPr>
            <p:cNvPr id="17" name="Picture 17" descr="A screenshot of a cell phone&#10;&#10;Description generated with very high confidence">
              <a:extLst>
                <a:ext uri="{FF2B5EF4-FFF2-40B4-BE49-F238E27FC236}">
                  <a16:creationId xmlns:a16="http://schemas.microsoft.com/office/drawing/2014/main" id="{3533B9FF-5060-4EAC-B4D6-018386DBD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3610" y="1973127"/>
              <a:ext cx="4522572" cy="5061821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C85B12-17F8-48B6-9307-81D9232FEBBA}"/>
                </a:ext>
              </a:extLst>
            </p:cNvPr>
            <p:cNvGrpSpPr/>
            <p:nvPr/>
          </p:nvGrpSpPr>
          <p:grpSpPr>
            <a:xfrm>
              <a:off x="4630109" y="1851359"/>
              <a:ext cx="6366548" cy="244081"/>
              <a:chOff x="4630109" y="1851359"/>
              <a:chExt cx="6366548" cy="244081"/>
            </a:xfrm>
          </p:grpSpPr>
          <p:sp>
            <p:nvSpPr>
              <p:cNvPr id="8" name="Arrow: Right 7">
                <a:extLst>
                  <a:ext uri="{FF2B5EF4-FFF2-40B4-BE49-F238E27FC236}">
                    <a16:creationId xmlns:a16="http://schemas.microsoft.com/office/drawing/2014/main" id="{26CFAE6F-2FF9-41A4-ACA4-71705857C962}"/>
                  </a:ext>
                </a:extLst>
              </p:cNvPr>
              <p:cNvSpPr/>
              <p:nvPr/>
            </p:nvSpPr>
            <p:spPr>
              <a:xfrm rot="9269441">
                <a:off x="10344424" y="1851361"/>
                <a:ext cx="652233" cy="244079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B7BCCF1A-B5E7-404E-B25A-406A2AF55AED}"/>
                  </a:ext>
                </a:extLst>
              </p:cNvPr>
              <p:cNvSpPr/>
              <p:nvPr/>
            </p:nvSpPr>
            <p:spPr>
              <a:xfrm rot="9269441">
                <a:off x="4630109" y="1851359"/>
                <a:ext cx="652233" cy="244079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A3F3FA-1DF2-4643-86F1-2BED5E799269}"/>
              </a:ext>
            </a:extLst>
          </p:cNvPr>
          <p:cNvSpPr txBox="1">
            <a:spLocks/>
          </p:cNvSpPr>
          <p:nvPr/>
        </p:nvSpPr>
        <p:spPr>
          <a:xfrm>
            <a:off x="710057" y="598699"/>
            <a:ext cx="13269093" cy="6056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06221">
              <a:spcAft>
                <a:spcPts val="0"/>
              </a:spcAft>
              <a:defRPr/>
            </a:pPr>
            <a:r>
              <a:rPr lang="en-US" sz="4800">
                <a:ea typeface="ＭＳ Ｐゴシック"/>
              </a:rPr>
              <a:t>Continuous Axis  vs. Category Labels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863A8-DB0D-40F1-A79E-E842C78F79AD}"/>
              </a:ext>
            </a:extLst>
          </p:cNvPr>
          <p:cNvSpPr txBox="1"/>
          <p:nvPr/>
        </p:nvSpPr>
        <p:spPr>
          <a:xfrm>
            <a:off x="8770022" y="1475143"/>
            <a:ext cx="29068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solidFill>
                  <a:srgbClr val="0070C0"/>
                </a:solidFill>
                <a:latin typeface="Merriweather Light"/>
                <a:ea typeface="ＭＳ Ｐゴシック"/>
              </a:rPr>
              <a:t>Discrete</a:t>
            </a:r>
            <a:endParaRPr lang="en-US">
              <a:solidFill>
                <a:srgbClr val="0070C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020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889828" y="2673638"/>
            <a:ext cx="6175990" cy="1723549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Click on New Worksheet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Drag 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Order Date</a:t>
            </a:r>
            <a:r>
              <a:rPr lang="en-US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 </a:t>
            </a:r>
            <a:r>
              <a:rPr lang="en-US">
                <a:ea typeface="ＭＳ Ｐゴシック"/>
              </a:rPr>
              <a:t>to </a:t>
            </a:r>
            <a:r>
              <a:rPr lang="en-US" b="1">
                <a:ea typeface="ＭＳ Ｐゴシック"/>
              </a:rPr>
              <a:t>Columns</a:t>
            </a:r>
            <a:r>
              <a:rPr lang="en-US">
                <a:ea typeface="ＭＳ Ｐゴシック"/>
              </a:rPr>
              <a:t> </a:t>
            </a:r>
            <a:r>
              <a:rPr lang="en-US" b="1">
                <a:ea typeface="ＭＳ Ｐゴシック"/>
              </a:rPr>
              <a:t>shelf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Profit</a:t>
            </a:r>
            <a:r>
              <a:rPr lang="en-US" sz="2800">
                <a:solidFill>
                  <a:srgbClr val="00B050"/>
                </a:solidFill>
                <a:ea typeface="ＭＳ Ｐゴシック"/>
              </a:rPr>
              <a:t> 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Rows shelf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>
                <a:ea typeface="ＭＳ Ｐゴシック"/>
              </a:rPr>
              <a:t>Change to bar chart in the marks card</a:t>
            </a:r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1E18BA3-DE00-4C61-A012-CD0CF18A16B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3"/>
          <a:stretch/>
        </p:blipFill>
        <p:spPr>
          <a:xfrm>
            <a:off x="8413172" y="1613906"/>
            <a:ext cx="5244272" cy="54257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A1FD1B3-1B9C-4A2E-9895-4D088E64F433}"/>
              </a:ext>
            </a:extLst>
          </p:cNvPr>
          <p:cNvSpPr txBox="1">
            <a:spLocks/>
          </p:cNvSpPr>
          <p:nvPr/>
        </p:nvSpPr>
        <p:spPr>
          <a:xfrm>
            <a:off x="710057" y="598699"/>
            <a:ext cx="13269093" cy="11560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06221">
              <a:spcAft>
                <a:spcPts val="0"/>
              </a:spcAft>
              <a:defRPr/>
            </a:pPr>
            <a:r>
              <a:rPr lang="en-US" sz="4800">
                <a:ea typeface="ＭＳ Ｐゴシック"/>
              </a:rPr>
              <a:t>Continuous Axis  vs. Category Labels</a:t>
            </a:r>
          </a:p>
          <a:p>
            <a:pPr defTabSz="1306221">
              <a:spcAft>
                <a:spcPts val="0"/>
              </a:spcAft>
              <a:defRPr/>
            </a:pPr>
            <a:r>
              <a:rPr lang="en-US" sz="3600">
                <a:ea typeface="ＭＳ Ｐゴシック"/>
              </a:rPr>
              <a:t>Practice in Tableau</a:t>
            </a:r>
            <a:endParaRPr lang="en-US" sz="3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449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Continuous Axis vs. Category Labels</a:t>
            </a:r>
          </a:p>
        </p:txBody>
      </p:sp>
      <p:pic>
        <p:nvPicPr>
          <p:cNvPr id="4" name="Axis vs Label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40896" y="1382832"/>
            <a:ext cx="8266695" cy="5166933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EA029161-D7A4-4686-B334-090E6E1E11E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89827" y="2673638"/>
            <a:ext cx="4887517" cy="2585323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Click on New Worksheet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Drag 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Order Date</a:t>
            </a:r>
            <a:r>
              <a:rPr lang="en-US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 </a:t>
            </a:r>
            <a:r>
              <a:rPr lang="en-US">
                <a:ea typeface="ＭＳ Ｐゴシック"/>
              </a:rPr>
              <a:t>to </a:t>
            </a:r>
            <a:r>
              <a:rPr lang="en-US" b="1">
                <a:ea typeface="ＭＳ Ｐゴシック"/>
              </a:rPr>
              <a:t>Columns</a:t>
            </a:r>
            <a:r>
              <a:rPr lang="en-US">
                <a:ea typeface="ＭＳ Ｐゴシック"/>
              </a:rPr>
              <a:t> </a:t>
            </a:r>
            <a:r>
              <a:rPr lang="en-US" b="1">
                <a:ea typeface="ＭＳ Ｐゴシック"/>
              </a:rPr>
              <a:t>shelf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Profit</a:t>
            </a:r>
            <a:r>
              <a:rPr lang="en-US" sz="2800">
                <a:solidFill>
                  <a:srgbClr val="00B050"/>
                </a:solidFill>
                <a:ea typeface="ＭＳ Ｐゴシック"/>
              </a:rPr>
              <a:t> 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Rows shelf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>
                <a:ea typeface="ＭＳ Ｐゴシック"/>
              </a:rPr>
              <a:t>Change to bar chart in the marks card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457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570357" y="1818820"/>
            <a:ext cx="4698231" cy="1723549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Open a new worksheet</a:t>
            </a:r>
            <a:endParaRPr lang="en-US" sz="2400"/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Order Date</a:t>
            </a:r>
            <a:r>
              <a:rPr lang="en-US" sz="2800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 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Columns</a:t>
            </a:r>
            <a:r>
              <a:rPr lang="en-US" sz="2800">
                <a:ea typeface="ＭＳ Ｐゴシック"/>
              </a:rPr>
              <a:t> </a:t>
            </a:r>
            <a:endParaRPr lang="en-US"/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Market</a:t>
            </a:r>
            <a:r>
              <a:rPr lang="en-US" sz="2800" b="1">
                <a:solidFill>
                  <a:srgbClr val="2CA7D0"/>
                </a:solidFill>
                <a:ea typeface="ＭＳ Ｐゴシック"/>
              </a:rPr>
              <a:t> </a:t>
            </a:r>
            <a:r>
              <a:rPr lang="en-US" sz="2800">
                <a:solidFill>
                  <a:srgbClr val="4C4C4C"/>
                </a:solidFill>
                <a:ea typeface="ＭＳ Ｐゴシック"/>
              </a:rPr>
              <a:t>to</a:t>
            </a:r>
            <a:r>
              <a:rPr lang="en-US" sz="2800">
                <a:ea typeface="ＭＳ Ｐゴシック"/>
              </a:rPr>
              <a:t> </a:t>
            </a:r>
            <a:r>
              <a:rPr lang="en-US" sz="2800" b="1">
                <a:ea typeface="ＭＳ Ｐゴシック"/>
              </a:rPr>
              <a:t>Rows</a:t>
            </a:r>
            <a:r>
              <a:rPr lang="en-US" sz="2800">
                <a:ea typeface="ＭＳ Ｐゴシック"/>
              </a:rPr>
              <a:t> 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Shipping Cost</a:t>
            </a:r>
            <a:r>
              <a:rPr lang="en-US" sz="2800">
                <a:solidFill>
                  <a:srgbClr val="00B050"/>
                </a:solidFill>
                <a:ea typeface="ＭＳ Ｐゴシック"/>
              </a:rPr>
              <a:t> 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Color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Continuous Axis vs. Category Labels</a:t>
            </a:r>
          </a:p>
        </p:txBody>
      </p:sp>
      <p:pic>
        <p:nvPicPr>
          <p:cNvPr id="6" name="Picture 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EEB4F273-7E4C-404A-AA23-9D903AF57B9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7157" y="1818820"/>
            <a:ext cx="8669005" cy="44059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4160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Continuous Axis vs. Category Labels</a:t>
            </a:r>
          </a:p>
        </p:txBody>
      </p:sp>
      <p:pic>
        <p:nvPicPr>
          <p:cNvPr id="4" name="Dimensions and Measures_3-Heat Map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991532" y="1415746"/>
            <a:ext cx="8158573" cy="5099354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B098A85-5EEA-49C2-9A46-2BBD3783C30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70357" y="1818820"/>
            <a:ext cx="4698231" cy="1723549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Open a new worksheet</a:t>
            </a:r>
            <a:endParaRPr lang="en-US" sz="2400"/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Order Date</a:t>
            </a:r>
            <a:r>
              <a:rPr lang="en-US" sz="2800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 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Columns</a:t>
            </a:r>
            <a:r>
              <a:rPr lang="en-US" sz="2800">
                <a:ea typeface="ＭＳ Ｐゴシック"/>
              </a:rPr>
              <a:t> </a:t>
            </a:r>
            <a:endParaRPr lang="en-US"/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Market</a:t>
            </a:r>
            <a:r>
              <a:rPr lang="en-US" sz="2800" b="1">
                <a:solidFill>
                  <a:srgbClr val="2CA7D0"/>
                </a:solidFill>
                <a:ea typeface="ＭＳ Ｐゴシック"/>
              </a:rPr>
              <a:t> </a:t>
            </a:r>
            <a:r>
              <a:rPr lang="en-US" sz="2800">
                <a:solidFill>
                  <a:srgbClr val="4C4C4C"/>
                </a:solidFill>
                <a:ea typeface="ＭＳ Ｐゴシック"/>
              </a:rPr>
              <a:t>to</a:t>
            </a:r>
            <a:r>
              <a:rPr lang="en-US" sz="2800">
                <a:ea typeface="ＭＳ Ｐゴシック"/>
              </a:rPr>
              <a:t> </a:t>
            </a:r>
            <a:r>
              <a:rPr lang="en-US" sz="2800" b="1">
                <a:ea typeface="ＭＳ Ｐゴシック"/>
              </a:rPr>
              <a:t>Rows</a:t>
            </a:r>
            <a:r>
              <a:rPr lang="en-US" sz="2800">
                <a:ea typeface="ＭＳ Ｐゴシック"/>
              </a:rPr>
              <a:t> 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  <a:ea typeface="ＭＳ Ｐゴシック"/>
              </a:rPr>
              <a:t>Shipping Cost</a:t>
            </a:r>
            <a:r>
              <a:rPr lang="en-US" sz="2800">
                <a:solidFill>
                  <a:srgbClr val="00B050"/>
                </a:solidFill>
                <a:ea typeface="ＭＳ Ｐゴシック"/>
              </a:rPr>
              <a:t> 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Color</a:t>
            </a:r>
            <a:endParaRPr lang="en-US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425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Working With Dates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280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893515"/>
            <a:ext cx="13273820" cy="5201424"/>
          </a:xfrm>
        </p:spPr>
        <p:txBody>
          <a:bodyPr wrap="square" lIns="0" tIns="0" rIns="0" bIns="0" numCol="1" spcCol="36576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ea typeface="ＭＳ Ｐゴシック"/>
              </a:rPr>
              <a:t>Dates can be brought into the view either as </a:t>
            </a:r>
            <a:r>
              <a:rPr lang="en-US" dirty="0">
                <a:solidFill>
                  <a:srgbClr val="0070C0"/>
                </a:solidFill>
                <a:ea typeface="ＭＳ Ｐゴシック"/>
              </a:rPr>
              <a:t>discrete (blue) </a:t>
            </a:r>
            <a:r>
              <a:rPr lang="en-US" dirty="0">
                <a:solidFill>
                  <a:schemeClr val="accent5"/>
                </a:solidFill>
                <a:ea typeface="ＭＳ Ｐゴシック"/>
              </a:rPr>
              <a:t>or </a:t>
            </a:r>
            <a:r>
              <a:rPr lang="en-US" dirty="0">
                <a:solidFill>
                  <a:srgbClr val="039564"/>
                </a:solidFill>
                <a:ea typeface="ＭＳ Ｐゴシック"/>
              </a:rPr>
              <a:t>continuous (green).</a:t>
            </a:r>
          </a:p>
          <a:p>
            <a:pPr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By default, date dimensions are discrete fields for which Tableau automatically selects a date level when it is placed on a shelf. 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To make a date dimension continuous by default, right-click (control-click on Mac) the field in the </a:t>
            </a:r>
            <a:r>
              <a:rPr lang="en-US" b="1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Data </a:t>
            </a:r>
            <a:r>
              <a:rPr lang="en-US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pane and select </a:t>
            </a:r>
            <a:r>
              <a:rPr lang="en-US" b="1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Convert to Continuous</a:t>
            </a:r>
            <a:r>
              <a:rPr lang="en-US" dirty="0">
                <a:solidFill>
                  <a:schemeClr val="accent5"/>
                </a:solidFill>
                <a:ea typeface="ＭＳ Ｐゴシック"/>
                <a:cs typeface="ＭＳ Ｐゴシック" charset="0"/>
              </a:rPr>
              <a:t>. </a:t>
            </a:r>
            <a:endParaRPr lang="en-US" dirty="0">
              <a:solidFill>
                <a:schemeClr val="accent5"/>
              </a:solidFill>
              <a:cs typeface="ＭＳ Ｐゴシック" charset="0"/>
            </a:endParaRPr>
          </a:p>
          <a:p>
            <a:pPr lv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  <a:ea typeface="ＭＳ Ｐゴシック"/>
              </a:rPr>
              <a:t>Once a date is in the viz we can easily change its data type in the pill’s menu – you need to remember that </a:t>
            </a:r>
            <a:r>
              <a:rPr lang="en-US" u="sng" dirty="0">
                <a:solidFill>
                  <a:schemeClr val="accent5"/>
                </a:solidFill>
                <a:ea typeface="ＭＳ Ｐゴシック"/>
              </a:rPr>
              <a:t>the options on top are discrete dates, the lower section are continuous dates</a:t>
            </a:r>
            <a:r>
              <a:rPr lang="en-US" dirty="0">
                <a:solidFill>
                  <a:schemeClr val="accent5"/>
                </a:solidFill>
                <a:ea typeface="ＭＳ Ｐゴシック"/>
              </a:rPr>
              <a:t>. 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chemeClr val="accent5"/>
                </a:solidFill>
              </a:rPr>
              <a:t>Working with Dates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076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>
                <a:latin typeface="+mj-lt"/>
              </a:rPr>
              <a:t>Working with Dates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>
          <a:xfrm>
            <a:off x="710058" y="1371002"/>
            <a:ext cx="13087724" cy="4652556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175"/>
            <a:r>
              <a:rPr lang="en-US" sz="2800">
                <a:latin typeface="+mn-lt"/>
              </a:rPr>
              <a:t>Dates are automatically placed in the dimensions area of the data pane: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800"/>
              <a:t>Date/time fields are identified by the calendar icon.</a:t>
            </a:r>
            <a:endParaRPr lang="en-US" sz="2800">
              <a:latin typeface="+mn-lt"/>
            </a:endParaRPr>
          </a:p>
          <a:p>
            <a:pPr marL="0" indent="3175">
              <a:spcBef>
                <a:spcPts val="3200"/>
              </a:spcBef>
            </a:pPr>
            <a:r>
              <a:rPr lang="en-US" sz="2800">
                <a:latin typeface="+mn-lt"/>
              </a:rPr>
              <a:t>Automatic hierarchy is created for dates: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800"/>
              <a:t>Begins at the highest level in the data, usually year. 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800"/>
              <a:t>Right-click on the field to change the hierarchy.</a:t>
            </a:r>
          </a:p>
          <a:p>
            <a:pPr marL="0" indent="3175">
              <a:spcBef>
                <a:spcPts val="2000"/>
              </a:spcBef>
            </a:pPr>
            <a:r>
              <a:rPr lang="en-US" sz="2800"/>
              <a:t>The standard Gregorian calendar is used by default: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800"/>
              <a:t>The ISO-8601 week-based calendar can be selected for any data source.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endParaRPr lang="en-US" sz="28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588" y="2461260"/>
            <a:ext cx="2419075" cy="14783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941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4" cy="563167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>
                <a:latin typeface="+mj-lt"/>
              </a:rPr>
              <a:t>Discrete Date Parts and Continuous Date Values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704477" y="1893514"/>
            <a:ext cx="8239964" cy="3616682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latin typeface="+mn-lt"/>
              </a:rPr>
              <a:t>Discrete dates are organized as discrete </a:t>
            </a:r>
          </a:p>
          <a:p>
            <a:r>
              <a:rPr lang="en-US" sz="3200">
                <a:latin typeface="+mn-lt"/>
              </a:rPr>
              <a:t>date parts, independent of linear time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400"/>
              <a:t>Organized by date units, such as aggregated data for all for all Novembers over several years.</a:t>
            </a:r>
          </a:p>
          <a:p>
            <a:pPr>
              <a:spcBef>
                <a:spcPts val="1800"/>
              </a:spcBef>
            </a:pPr>
            <a:r>
              <a:rPr lang="en-US" sz="3200">
                <a:latin typeface="+mn-lt"/>
              </a:rPr>
              <a:t>Continuous date values represent the chronological progression of time</a:t>
            </a:r>
          </a:p>
          <a:p>
            <a:pPr marL="914364" lvl="1" indent="-336536">
              <a:buFont typeface="Arial" panose="020B0604020202020204" pitchFamily="34" charset="0"/>
              <a:buChar char="•"/>
            </a:pPr>
            <a:r>
              <a:rPr lang="en-US" sz="2400"/>
              <a:t>Create an axis as a timeline.</a:t>
            </a: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4A7C6B6-03ED-48BB-983A-22675C648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4441" y="1161866"/>
            <a:ext cx="4990646" cy="59616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843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sz="quarter" idx="11"/>
          </p:nvPr>
        </p:nvSpPr>
        <p:spPr>
          <a:xfrm>
            <a:off x="706102" y="1813045"/>
            <a:ext cx="6240798" cy="4856099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>
                <a:latin typeface="+mn-lt"/>
              </a:rPr>
              <a:t>Reorder date hierarchy:</a:t>
            </a:r>
          </a:p>
          <a:p>
            <a:pPr marL="914364" lvl="1" indent="-336536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Place quarter before year</a:t>
            </a:r>
          </a:p>
          <a:p>
            <a:endParaRPr lang="en-US">
              <a:latin typeface="+mn-lt"/>
            </a:endParaRPr>
          </a:p>
          <a:p>
            <a:endParaRPr lang="en-US">
              <a:latin typeface="+mn-lt"/>
            </a:endParaRPr>
          </a:p>
          <a:p>
            <a:endParaRPr lang="en-US">
              <a:latin typeface="+mn-l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956121" y="1813044"/>
            <a:ext cx="7346802" cy="2290934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200">
                <a:latin typeface="+mn-lt"/>
              </a:rPr>
              <a:t>Place date parts on different shelves:</a:t>
            </a:r>
          </a:p>
          <a:p>
            <a:pPr marL="914364" lvl="1" indent="-336536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Year on columns </a:t>
            </a:r>
          </a:p>
          <a:p>
            <a:pPr marL="914364" lvl="1" indent="-336536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/>
              <a:t>Quarter on rows</a:t>
            </a:r>
          </a:p>
          <a:p>
            <a:pPr marL="914364" indent="-228590">
              <a:buFont typeface="Arial" panose="020B0604020202020204" pitchFamily="34" charset="0"/>
              <a:buChar char="•"/>
            </a:pPr>
            <a:endParaRPr lang="en-US" sz="2000">
              <a:latin typeface="+mn-lt"/>
            </a:endParaRPr>
          </a:p>
          <a:p>
            <a:pPr marL="914364" indent="-228590">
              <a:buFont typeface="Arial" panose="020B0604020202020204" pitchFamily="34" charset="0"/>
              <a:buChar char="•"/>
            </a:pPr>
            <a:endParaRPr lang="en-US" sz="200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>
                <a:latin typeface="+mj-lt"/>
              </a:rPr>
              <a:t>Using Discrete Date Parts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5322" y="2950823"/>
            <a:ext cx="6067444" cy="42288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29521" y="2386499"/>
            <a:ext cx="2870130" cy="46983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011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/>
              <a:t>Creating Custom 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>
          <a:xfrm>
            <a:off x="704477" y="1893516"/>
            <a:ext cx="13274794" cy="4878644"/>
          </a:xfr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3200">
                <a:latin typeface="Merriweather Light" panose="00000400000000000000" pitchFamily="2" charset="0"/>
              </a:rPr>
              <a:t>Custom dates are calculated date parts that you can save.</a:t>
            </a:r>
          </a:p>
          <a:p>
            <a:pPr marL="687360" lvl="2" indent="-342887">
              <a:buFont typeface="Arial" panose="020B0604020202020204" pitchFamily="34" charset="0"/>
              <a:buChar char="•"/>
            </a:pPr>
            <a:r>
              <a:rPr lang="en-US" sz="2400"/>
              <a:t>Example: reuse the custom date part or value without having to override the default behavior for each use.</a:t>
            </a:r>
          </a:p>
          <a:p>
            <a:pPr marL="0" lvl="1">
              <a:spcBef>
                <a:spcPts val="2400"/>
              </a:spcBef>
            </a:pPr>
            <a:r>
              <a:rPr lang="en-US" sz="3200"/>
              <a:t>Can be used to “break” the automatic date hierarchy or to create elements to use in defining a new one.</a:t>
            </a:r>
          </a:p>
          <a:p>
            <a:pPr marL="687360" lvl="2" indent="-342887">
              <a:buFont typeface="Arial" panose="020B0604020202020204" pitchFamily="34" charset="0"/>
              <a:buChar char="•"/>
            </a:pPr>
            <a:r>
              <a:rPr lang="en-US" sz="2400"/>
              <a:t>Example: new dimension for just the month of order data</a:t>
            </a:r>
          </a:p>
          <a:p>
            <a:pPr marL="0">
              <a:spcBef>
                <a:spcPts val="2400"/>
              </a:spcBef>
            </a:pPr>
            <a:r>
              <a:rPr lang="en-US" sz="3200">
                <a:latin typeface="+mn-lt"/>
              </a:rPr>
              <a:t>Allow for each field to represent just itself.</a:t>
            </a:r>
          </a:p>
          <a:p>
            <a:pPr marL="0">
              <a:spcBef>
                <a:spcPts val="2400"/>
              </a:spcBef>
            </a:pPr>
            <a:r>
              <a:rPr lang="en-US" sz="3200">
                <a:latin typeface="+mn-lt"/>
              </a:rPr>
              <a:t>Can be continuous date values or discrete date parts.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345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CA89687-8CFA-4114-8757-4E0C77FA6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0695" y="1520973"/>
            <a:ext cx="7677942" cy="3244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8B9D89B7-34BE-45B9-AF69-189E1201F8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0892" y="3991231"/>
            <a:ext cx="9528211" cy="3207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4B463C8-88C0-4A8D-BCBD-E6466A7F9280}"/>
              </a:ext>
            </a:extLst>
          </p:cNvPr>
          <p:cNvSpPr txBox="1">
            <a:spLocks/>
          </p:cNvSpPr>
          <p:nvPr/>
        </p:nvSpPr>
        <p:spPr>
          <a:xfrm>
            <a:off x="710057" y="598699"/>
            <a:ext cx="9302575" cy="5678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1304925" rtl="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 sz="4500" b="0" i="0" kern="1200">
                <a:solidFill>
                  <a:srgbClr val="4C4C4C"/>
                </a:solidFill>
                <a:latin typeface="BentonSans Book"/>
                <a:ea typeface="ＭＳ Ｐゴシック" charset="0"/>
                <a:cs typeface="BentonSans Book"/>
              </a:defRPr>
            </a:lvl1pPr>
            <a:lvl2pPr marL="1060450" indent="-40798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631950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228441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2938463" indent="-325438" algn="l" defTabSz="130492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9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359210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4521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98326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1437" indent="-326555" algn="l" defTabSz="130622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ＭＳ Ｐゴシック"/>
              </a:rPr>
              <a:t>Continuous vs. Discrete dates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2C2F7-E164-49C7-ACAD-9AB697536030}"/>
              </a:ext>
            </a:extLst>
          </p:cNvPr>
          <p:cNvSpPr txBox="1"/>
          <p:nvPr/>
        </p:nvSpPr>
        <p:spPr>
          <a:xfrm>
            <a:off x="1778697" y="6244853"/>
            <a:ext cx="2249310" cy="95410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Merriweather Light"/>
                <a:ea typeface="ＭＳ Ｐゴシック"/>
              </a:rPr>
              <a:t>Continuous dates</a:t>
            </a:r>
            <a:endParaRPr lang="en-US" sz="2800" dirty="0">
              <a:solidFill>
                <a:schemeClr val="bg1"/>
              </a:solidFill>
              <a:latin typeface="Merriweather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802A6-062C-403A-91F5-95DEB81E4E90}"/>
              </a:ext>
            </a:extLst>
          </p:cNvPr>
          <p:cNvSpPr txBox="1"/>
          <p:nvPr/>
        </p:nvSpPr>
        <p:spPr>
          <a:xfrm>
            <a:off x="9126432" y="1526506"/>
            <a:ext cx="1905919" cy="954107"/>
          </a:xfrm>
          <a:prstGeom prst="rect">
            <a:avLst/>
          </a:prstGeom>
          <a:solidFill>
            <a:schemeClr val="accent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Merriweather Light"/>
                <a:ea typeface="ＭＳ Ｐゴシック"/>
              </a:rPr>
              <a:t>Discrete dates</a:t>
            </a: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42F30A-1DC5-4038-9220-F1992602B463}"/>
              </a:ext>
            </a:extLst>
          </p:cNvPr>
          <p:cNvCxnSpPr/>
          <p:nvPr/>
        </p:nvCxnSpPr>
        <p:spPr>
          <a:xfrm flipH="1">
            <a:off x="8316097" y="1804086"/>
            <a:ext cx="914400" cy="444844"/>
          </a:xfrm>
          <a:prstGeom prst="straightConnector1">
            <a:avLst/>
          </a:prstGeom>
          <a:ln w="57150" cmpd="sng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2D8BFE-7DA5-4651-8C9B-CC117B056474}"/>
              </a:ext>
            </a:extLst>
          </p:cNvPr>
          <p:cNvCxnSpPr/>
          <p:nvPr/>
        </p:nvCxnSpPr>
        <p:spPr>
          <a:xfrm flipV="1">
            <a:off x="3775761" y="6766096"/>
            <a:ext cx="914400" cy="185351"/>
          </a:xfrm>
          <a:prstGeom prst="straightConnector1">
            <a:avLst/>
          </a:prstGeom>
          <a:ln w="57150" cmpd="sng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217128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C4C4C"/>
                </a:solidFill>
                <a:latin typeface="BentonSans Book" charset="0"/>
              </a:rPr>
              <a:t>Color &amp; Maps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329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704476" y="1423958"/>
            <a:ext cx="7431339" cy="3739485"/>
          </a:xfrm>
        </p:spPr>
        <p:txBody>
          <a:bodyPr wrap="square" lIns="0" tIns="0" rIns="0" bIns="0" numCol="1" spcCol="365760" anchor="t">
            <a:spAutoFit/>
          </a:bodyPr>
          <a:lstStyle/>
          <a:p>
            <a:pPr indent="0">
              <a:buNone/>
            </a:pPr>
            <a:endParaRPr lang="en-US" sz="1800">
              <a:ea typeface="ＭＳ Ｐゴシック"/>
            </a:endParaRPr>
          </a:p>
          <a:p>
            <a:pPr marL="702310" lvl="1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A </a:t>
            </a:r>
            <a:r>
              <a:rPr lang="en-US" sz="2800" b="1">
                <a:ea typeface="ＭＳ Ｐゴシック"/>
              </a:rPr>
              <a:t>measure</a:t>
            </a:r>
            <a:r>
              <a:rPr lang="en-US" sz="2800">
                <a:ea typeface="ＭＳ Ｐゴシック"/>
              </a:rPr>
              <a:t> on color defaults to a </a:t>
            </a:r>
            <a:r>
              <a:rPr lang="en-US" sz="2800" b="1">
                <a:ea typeface="ＭＳ Ｐゴシック"/>
              </a:rPr>
              <a:t>filled map</a:t>
            </a:r>
            <a:endParaRPr lang="en-US" sz="2800" b="1"/>
          </a:p>
          <a:p>
            <a:pPr marL="702310" lvl="1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A </a:t>
            </a:r>
            <a:r>
              <a:rPr lang="en-US" sz="2800" b="1">
                <a:ea typeface="ＭＳ Ｐゴシック"/>
              </a:rPr>
              <a:t>dimension</a:t>
            </a:r>
            <a:r>
              <a:rPr lang="en-US" sz="2800">
                <a:ea typeface="ＭＳ Ｐゴシック"/>
              </a:rPr>
              <a:t> on color defaults to a </a:t>
            </a:r>
            <a:r>
              <a:rPr lang="en-US" sz="2800" b="1">
                <a:ea typeface="ＭＳ Ｐゴシック"/>
              </a:rPr>
              <a:t>symbol map</a:t>
            </a:r>
            <a:endParaRPr lang="en-US" sz="2800" b="1"/>
          </a:p>
          <a:p>
            <a:pPr marL="702310" lvl="1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If the pill is </a:t>
            </a:r>
            <a:r>
              <a:rPr lang="en-US" sz="2800" b="1">
                <a:ea typeface="ＭＳ Ｐゴシック"/>
              </a:rPr>
              <a:t>continuous</a:t>
            </a:r>
            <a:r>
              <a:rPr lang="en-US" sz="2800">
                <a:ea typeface="ＭＳ Ｐゴシック"/>
              </a:rPr>
              <a:t> Tableau will show a </a:t>
            </a:r>
            <a:r>
              <a:rPr lang="en-US" sz="2800" b="1">
                <a:ea typeface="ＭＳ Ｐゴシック"/>
              </a:rPr>
              <a:t>color gradient</a:t>
            </a:r>
            <a:endParaRPr lang="en-US" sz="2800" b="1"/>
          </a:p>
          <a:p>
            <a:pPr marL="702310" lvl="1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If it is </a:t>
            </a:r>
            <a:r>
              <a:rPr lang="en-US" sz="2800" b="1">
                <a:ea typeface="ＭＳ Ｐゴシック"/>
              </a:rPr>
              <a:t>discrete</a:t>
            </a:r>
            <a:r>
              <a:rPr lang="en-US" sz="2800">
                <a:ea typeface="ＭＳ Ｐゴシック"/>
              </a:rPr>
              <a:t> Tableau will show a </a:t>
            </a:r>
            <a:r>
              <a:rPr lang="en-US" sz="2800" b="1">
                <a:ea typeface="ＭＳ Ｐゴシック"/>
              </a:rPr>
              <a:t>palette of distinct colors</a:t>
            </a:r>
            <a:endParaRPr lang="en-US" sz="2800" b="1"/>
          </a:p>
          <a:p>
            <a:pPr marL="652780" lvl="1" indent="-407670">
              <a:spcBef>
                <a:spcPct val="0"/>
              </a:spcBef>
              <a:spcAft>
                <a:spcPct val="0"/>
              </a:spcAft>
              <a:buFont typeface="Arial,Sans-Serif"/>
              <a:buChar char="–"/>
            </a:pPr>
            <a:endParaRPr lang="en-US">
              <a:ea typeface="ＭＳ Ｐ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678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Color and Maps</a:t>
            </a:r>
          </a:p>
        </p:txBody>
      </p:sp>
      <p:pic>
        <p:nvPicPr>
          <p:cNvPr id="5" name="Picture 4" descr="A screenshot of a map&#10;&#10;Description automatically generated">
            <a:extLst>
              <a:ext uri="{FF2B5EF4-FFF2-40B4-BE49-F238E27FC236}">
                <a16:creationId xmlns:a16="http://schemas.microsoft.com/office/drawing/2014/main" id="{8E35F8AE-A6D8-4494-9FED-13202FE3176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42584" y="2890677"/>
            <a:ext cx="2625969" cy="4100548"/>
          </a:xfrm>
          <a:prstGeom prst="rect">
            <a:avLst/>
          </a:prstGeom>
        </p:spPr>
      </p:pic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C7534F13-7D02-4ACC-8448-3C0B3F6CA8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7177" y="1352060"/>
            <a:ext cx="2625968" cy="12966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162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581103" y="1055076"/>
            <a:ext cx="4541881" cy="1723549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Open a new sheet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Double click </a:t>
            </a:r>
            <a:r>
              <a:rPr lang="en-US" sz="2800" b="1">
                <a:ea typeface="ＭＳ Ｐゴシック"/>
              </a:rPr>
              <a:t>Country 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ea typeface="ＭＳ Ｐゴシック"/>
              </a:rPr>
              <a:t>Profit</a:t>
            </a:r>
            <a:r>
              <a:rPr lang="en-US" sz="2800" b="1">
                <a:solidFill>
                  <a:srgbClr val="2CA7D0"/>
                </a:solidFill>
                <a:ea typeface="ＭＳ Ｐゴシック"/>
              </a:rPr>
              <a:t> </a:t>
            </a:r>
            <a:r>
              <a:rPr lang="en-US" sz="2800">
                <a:solidFill>
                  <a:srgbClr val="4C4C4C"/>
                </a:solidFill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Color</a:t>
            </a:r>
            <a:r>
              <a:rPr lang="en-US" sz="2800">
                <a:ea typeface="ＭＳ Ｐゴシック"/>
              </a:rPr>
              <a:t> </a:t>
            </a:r>
            <a:endParaRPr lang="en-US">
              <a:ea typeface="ＭＳ Ｐゴシック"/>
            </a:endParaRPr>
          </a:p>
          <a:p>
            <a:pPr marL="245110" lvl="1" indent="0">
              <a:spcBef>
                <a:spcPct val="0"/>
              </a:spcBef>
              <a:spcAft>
                <a:spcPct val="0"/>
              </a:spcAft>
              <a:buNone/>
            </a:pP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352516"/>
            <a:ext cx="13269093" cy="5678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ea typeface="ＭＳ Ｐゴシック"/>
              </a:rPr>
              <a:t>Color and maps</a:t>
            </a:r>
            <a:endParaRPr lang="en-US"/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0B1196A9-2928-446E-B7CE-5766310C7DD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8054" y="1055076"/>
            <a:ext cx="9129149" cy="59084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6170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4"/>
          </p:nvPr>
        </p:nvSpPr>
        <p:spPr>
          <a:xfrm>
            <a:off x="651250" y="1152437"/>
            <a:ext cx="4698231" cy="1723549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5"/>
                </a:solidFill>
                <a:ea typeface="ＭＳ Ｐゴシック"/>
              </a:rPr>
              <a:t>Undo</a:t>
            </a:r>
            <a:r>
              <a:rPr lang="en-US">
                <a:ea typeface="ＭＳ Ｐゴシック"/>
              </a:rPr>
              <a:t> Profit from color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Drag </a:t>
            </a:r>
            <a:r>
              <a:rPr lang="en-US" b="1">
                <a:ea typeface="ＭＳ Ｐゴシック"/>
              </a:rPr>
              <a:t>Region</a:t>
            </a:r>
            <a:r>
              <a:rPr lang="en-US">
                <a:ea typeface="ＭＳ Ｐゴシック"/>
              </a:rPr>
              <a:t> to color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ea typeface="ＭＳ Ｐゴシック"/>
              </a:rPr>
              <a:t>Discount</a:t>
            </a:r>
            <a:r>
              <a:rPr lang="en-US" sz="2800">
                <a:solidFill>
                  <a:srgbClr val="00B050"/>
                </a:solidFill>
                <a:ea typeface="ＭＳ Ｐゴシック"/>
              </a:rPr>
              <a:t> </a:t>
            </a:r>
            <a:r>
              <a:rPr lang="en-US" sz="2800"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Size </a:t>
            </a:r>
            <a:endParaRPr lang="en-US" sz="2800">
              <a:ea typeface="ＭＳ Ｐゴシック"/>
            </a:endParaRPr>
          </a:p>
          <a:p>
            <a:pPr marL="245110" lvl="1" indent="0">
              <a:spcBef>
                <a:spcPct val="0"/>
              </a:spcBef>
              <a:spcAft>
                <a:spcPct val="0"/>
              </a:spcAft>
              <a:buNone/>
            </a:pPr>
            <a:endParaRPr lang="en-US" sz="2800" b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80653" y="340791"/>
            <a:ext cx="13269093" cy="5678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ea typeface="ＭＳ Ｐゴシック"/>
              </a:rPr>
              <a:t>Color and maps</a:t>
            </a:r>
            <a:endParaRPr lang="en-US"/>
          </a:p>
        </p:txBody>
      </p:sp>
      <p:pic>
        <p:nvPicPr>
          <p:cNvPr id="8" name="Picture 7" descr="A screenshot of a map&#10;&#10;Description automatically generated">
            <a:extLst>
              <a:ext uri="{FF2B5EF4-FFF2-40B4-BE49-F238E27FC236}">
                <a16:creationId xmlns:a16="http://schemas.microsoft.com/office/drawing/2014/main" id="{1186CF3F-8C71-441C-AD24-60740A2DC6F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99681" y="1152437"/>
            <a:ext cx="8862646" cy="58342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7487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710057" y="598699"/>
            <a:ext cx="13269093" cy="5539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Color &amp; Maps</a:t>
            </a:r>
          </a:p>
        </p:txBody>
      </p:sp>
      <p:pic>
        <p:nvPicPr>
          <p:cNvPr id="4" name="Colors and Maps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18927" y="1152697"/>
            <a:ext cx="8701415" cy="5438646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4143F45-3EC3-41CD-A649-A19F87D945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0058" y="1274941"/>
            <a:ext cx="3688948" cy="3447098"/>
          </a:xfrm>
        </p:spPr>
        <p:txBody>
          <a:bodyPr wrap="square" lIns="0" tIns="0" rIns="0" bIns="0" numCol="1" spcCol="365760" anchor="t">
            <a:spAutoFit/>
          </a:bodyPr>
          <a:lstStyle/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Open a new sheet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Double click </a:t>
            </a:r>
            <a:r>
              <a:rPr lang="en-US" sz="2800" b="1">
                <a:ea typeface="ＭＳ Ｐゴシック"/>
              </a:rPr>
              <a:t>Country 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ea typeface="ＭＳ Ｐゴシック"/>
              </a:rPr>
              <a:t>Drag </a:t>
            </a:r>
            <a:r>
              <a:rPr lang="en-US" sz="2800" b="1">
                <a:ea typeface="ＭＳ Ｐゴシック"/>
              </a:rPr>
              <a:t>Profit</a:t>
            </a:r>
            <a:r>
              <a:rPr lang="en-US" sz="2800" b="1">
                <a:solidFill>
                  <a:srgbClr val="2CA7D0"/>
                </a:solidFill>
                <a:ea typeface="ＭＳ Ｐゴシック"/>
              </a:rPr>
              <a:t> </a:t>
            </a:r>
            <a:r>
              <a:rPr lang="en-US" sz="2800">
                <a:solidFill>
                  <a:srgbClr val="4C4C4C"/>
                </a:solidFill>
                <a:ea typeface="ＭＳ Ｐゴシック"/>
              </a:rPr>
              <a:t>to </a:t>
            </a:r>
            <a:r>
              <a:rPr lang="en-US" sz="2800" b="1">
                <a:ea typeface="ＭＳ Ｐゴシック"/>
              </a:rPr>
              <a:t>Color</a:t>
            </a:r>
            <a:r>
              <a:rPr lang="en-US" sz="2800">
                <a:ea typeface="ＭＳ Ｐゴシック"/>
              </a:rPr>
              <a:t> 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chemeClr val="accent5"/>
                </a:solidFill>
                <a:ea typeface="ＭＳ Ｐゴシック"/>
              </a:rPr>
              <a:t>Undo</a:t>
            </a:r>
            <a:r>
              <a:rPr lang="en-US">
                <a:ea typeface="ＭＳ Ｐゴシック"/>
              </a:rPr>
              <a:t> Profit from color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Drag </a:t>
            </a:r>
            <a:r>
              <a:rPr lang="en-US" b="1">
                <a:ea typeface="ＭＳ Ｐゴシック"/>
              </a:rPr>
              <a:t>Region</a:t>
            </a:r>
            <a:r>
              <a:rPr lang="en-US">
                <a:ea typeface="ＭＳ Ｐゴシック"/>
              </a:rPr>
              <a:t> to color</a:t>
            </a:r>
          </a:p>
          <a:p>
            <a:pPr marL="457200" indent="-457200">
              <a:spcBef>
                <a:spcPct val="0"/>
              </a:spcBef>
              <a:spcAft>
                <a:spcPct val="0"/>
              </a:spcAft>
            </a:pPr>
            <a:r>
              <a:rPr lang="en-US">
                <a:ea typeface="ＭＳ Ｐゴシック"/>
              </a:rPr>
              <a:t>Drag </a:t>
            </a:r>
            <a:r>
              <a:rPr lang="en-US" b="1">
                <a:ea typeface="ＭＳ Ｐゴシック"/>
              </a:rPr>
              <a:t>Discount</a:t>
            </a:r>
            <a:r>
              <a:rPr lang="en-US">
                <a:solidFill>
                  <a:srgbClr val="00B050"/>
                </a:solidFill>
                <a:ea typeface="ＭＳ Ｐゴシック"/>
              </a:rPr>
              <a:t> </a:t>
            </a:r>
            <a:r>
              <a:rPr lang="en-US">
                <a:ea typeface="ＭＳ Ｐゴシック"/>
              </a:rPr>
              <a:t>to </a:t>
            </a:r>
            <a:r>
              <a:rPr lang="en-US" b="1">
                <a:ea typeface="ＭＳ Ｐゴシック"/>
              </a:rPr>
              <a:t>Size</a:t>
            </a:r>
            <a:endParaRPr lang="en-US">
              <a:ea typeface="ＭＳ Ｐゴシック"/>
            </a:endParaRPr>
          </a:p>
          <a:p>
            <a:pPr marL="245110" lvl="1" indent="0">
              <a:spcBef>
                <a:spcPct val="0"/>
              </a:spcBef>
              <a:spcAft>
                <a:spcPct val="0"/>
              </a:spcAft>
              <a:buNone/>
            </a:pPr>
            <a:endParaRPr lang="en-US" sz="28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06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33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PT_Corporate_Template_BentonSans_16.9_c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_Corporate_Template_BentonSans_16.9">
  <a:themeElements>
    <a:clrScheme name="Custom 8">
      <a:dk1>
        <a:srgbClr val="666666"/>
      </a:dk1>
      <a:lt1>
        <a:sysClr val="window" lastClr="FFFFFF"/>
      </a:lt1>
      <a:dk2>
        <a:srgbClr val="5B6591"/>
      </a:dk2>
      <a:lt2>
        <a:srgbClr val="FFFFFF"/>
      </a:lt2>
      <a:accent1>
        <a:srgbClr val="1F447D"/>
      </a:accent1>
      <a:accent2>
        <a:srgbClr val="E8762C"/>
      </a:accent2>
      <a:accent3>
        <a:srgbClr val="7099A6"/>
      </a:accent3>
      <a:accent4>
        <a:srgbClr val="59879B"/>
      </a:accent4>
      <a:accent5>
        <a:srgbClr val="4C4C4C"/>
      </a:accent5>
      <a:accent6>
        <a:srgbClr val="C72035"/>
      </a:accent6>
      <a:hlink>
        <a:srgbClr val="EB912C"/>
      </a:hlink>
      <a:folHlink>
        <a:srgbClr val="969696"/>
      </a:folHlink>
    </a:clrScheme>
    <a:fontScheme name="Tableau Corporate Fonts">
      <a:majorFont>
        <a:latin typeface="BentonSans Book"/>
        <a:ea typeface=""/>
        <a:cs typeface=""/>
      </a:majorFont>
      <a:minorFont>
        <a:latin typeface="Merriweather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mpd="sng">
          <a:solidFill>
            <a:schemeClr val="bg1">
              <a:lumMod val="7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6FCD707C-3071-4FC5-8EBB-3AF988FA8479}" vid="{2DF922E0-A9D5-436F-85EE-B62463FBC4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PPT_Corporate_Template_BentonSans_16.9_c</Template>
  <TotalTime>0</TotalTime>
  <Words>1066</Words>
  <Application>Microsoft Office PowerPoint</Application>
  <PresentationFormat>Custom</PresentationFormat>
  <Paragraphs>163</Paragraphs>
  <Slides>32</Slides>
  <Notes>31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ＭＳ Ｐゴシック</vt:lpstr>
      <vt:lpstr>Arial</vt:lpstr>
      <vt:lpstr>Arial,Sans-Serif</vt:lpstr>
      <vt:lpstr>BentonSans Book</vt:lpstr>
      <vt:lpstr>Calibri</vt:lpstr>
      <vt:lpstr>Gill Sans MT</vt:lpstr>
      <vt:lpstr>Merriweather Light</vt:lpstr>
      <vt:lpstr>PPT_Corporate_Template_BentonSans_16.9_c</vt:lpstr>
      <vt:lpstr>PPT_Corporate_Template_BentonSans_16.9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2021-09-27T17:29:34Z</dcterms:created>
  <dcterms:modified xsi:type="dcterms:W3CDTF">2021-09-27T17:29:56Z</dcterms:modified>
  <cp:category/>
</cp:coreProperties>
</file>