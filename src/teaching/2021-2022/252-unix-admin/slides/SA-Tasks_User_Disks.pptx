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arl , Patrick" userId="70116564-4522-4dff-b182-49a7124d0f79" providerId="ADAL" clId="{796A0F20-0705-4136-9FEE-59D898FD5A8D}"/>
    <pc:docChg chg="custSel modSld">
      <pc:chgData name="Earl , Patrick" userId="70116564-4522-4dff-b182-49a7124d0f79" providerId="ADAL" clId="{796A0F20-0705-4136-9FEE-59D898FD5A8D}" dt="2021-03-30T18:18:09.667" v="6" actId="27636"/>
      <pc:docMkLst>
        <pc:docMk/>
      </pc:docMkLst>
      <pc:sldChg chg="modSp">
        <pc:chgData name="Earl , Patrick" userId="70116564-4522-4dff-b182-49a7124d0f79" providerId="ADAL" clId="{796A0F20-0705-4136-9FEE-59D898FD5A8D}" dt="2021-03-30T18:18:09.504" v="0" actId="27636"/>
        <pc:sldMkLst>
          <pc:docMk/>
          <pc:sldMk cId="3123250239" sldId="257"/>
        </pc:sldMkLst>
        <pc:spChg chg="mod">
          <ac:chgData name="Earl , Patrick" userId="70116564-4522-4dff-b182-49a7124d0f79" providerId="ADAL" clId="{796A0F20-0705-4136-9FEE-59D898FD5A8D}" dt="2021-03-30T18:18:09.504" v="0" actId="27636"/>
          <ac:spMkLst>
            <pc:docMk/>
            <pc:sldMk cId="3123250239" sldId="257"/>
            <ac:spMk id="3" creationId="{DF0E15A4-27B9-4717-954F-B51B52E73024}"/>
          </ac:spMkLst>
        </pc:spChg>
      </pc:sldChg>
      <pc:sldChg chg="modSp">
        <pc:chgData name="Earl , Patrick" userId="70116564-4522-4dff-b182-49a7124d0f79" providerId="ADAL" clId="{796A0F20-0705-4136-9FEE-59D898FD5A8D}" dt="2021-03-30T18:18:09.535" v="1" actId="27636"/>
        <pc:sldMkLst>
          <pc:docMk/>
          <pc:sldMk cId="1494435437" sldId="261"/>
        </pc:sldMkLst>
        <pc:spChg chg="mod">
          <ac:chgData name="Earl , Patrick" userId="70116564-4522-4dff-b182-49a7124d0f79" providerId="ADAL" clId="{796A0F20-0705-4136-9FEE-59D898FD5A8D}" dt="2021-03-30T18:18:09.535" v="1" actId="27636"/>
          <ac:spMkLst>
            <pc:docMk/>
            <pc:sldMk cId="1494435437" sldId="261"/>
            <ac:spMk id="3" creationId="{67B8A6CC-307C-4BE8-8668-5217ADDA6A0E}"/>
          </ac:spMkLst>
        </pc:spChg>
      </pc:sldChg>
      <pc:sldChg chg="modSp">
        <pc:chgData name="Earl , Patrick" userId="70116564-4522-4dff-b182-49a7124d0f79" providerId="ADAL" clId="{796A0F20-0705-4136-9FEE-59D898FD5A8D}" dt="2021-03-30T18:18:09.604" v="2" actId="27636"/>
        <pc:sldMkLst>
          <pc:docMk/>
          <pc:sldMk cId="1086841590" sldId="263"/>
        </pc:sldMkLst>
        <pc:spChg chg="mod">
          <ac:chgData name="Earl , Patrick" userId="70116564-4522-4dff-b182-49a7124d0f79" providerId="ADAL" clId="{796A0F20-0705-4136-9FEE-59D898FD5A8D}" dt="2021-03-30T18:18:09.604" v="2" actId="27636"/>
          <ac:spMkLst>
            <pc:docMk/>
            <pc:sldMk cId="1086841590" sldId="263"/>
            <ac:spMk id="3" creationId="{AED25BC5-28C4-4F28-9DA7-2DA5DDFFFD3A}"/>
          </ac:spMkLst>
        </pc:spChg>
      </pc:sldChg>
      <pc:sldChg chg="modSp">
        <pc:chgData name="Earl , Patrick" userId="70116564-4522-4dff-b182-49a7124d0f79" providerId="ADAL" clId="{796A0F20-0705-4136-9FEE-59D898FD5A8D}" dt="2021-03-30T18:18:09.620" v="3" actId="27636"/>
        <pc:sldMkLst>
          <pc:docMk/>
          <pc:sldMk cId="1627546763" sldId="264"/>
        </pc:sldMkLst>
        <pc:spChg chg="mod">
          <ac:chgData name="Earl , Patrick" userId="70116564-4522-4dff-b182-49a7124d0f79" providerId="ADAL" clId="{796A0F20-0705-4136-9FEE-59D898FD5A8D}" dt="2021-03-30T18:18:09.620" v="3" actId="27636"/>
          <ac:spMkLst>
            <pc:docMk/>
            <pc:sldMk cId="1627546763" sldId="264"/>
            <ac:spMk id="3" creationId="{BA76EAC7-914D-4A32-B80A-21F0ED83F821}"/>
          </ac:spMkLst>
        </pc:spChg>
      </pc:sldChg>
      <pc:sldChg chg="modSp">
        <pc:chgData name="Earl , Patrick" userId="70116564-4522-4dff-b182-49a7124d0f79" providerId="ADAL" clId="{796A0F20-0705-4136-9FEE-59D898FD5A8D}" dt="2021-03-30T18:18:09.635" v="4" actId="27636"/>
        <pc:sldMkLst>
          <pc:docMk/>
          <pc:sldMk cId="3751364841" sldId="266"/>
        </pc:sldMkLst>
        <pc:spChg chg="mod">
          <ac:chgData name="Earl , Patrick" userId="70116564-4522-4dff-b182-49a7124d0f79" providerId="ADAL" clId="{796A0F20-0705-4136-9FEE-59D898FD5A8D}" dt="2021-03-30T18:18:09.635" v="4" actId="27636"/>
          <ac:spMkLst>
            <pc:docMk/>
            <pc:sldMk cId="3751364841" sldId="266"/>
            <ac:spMk id="3" creationId="{FCE77AAC-645F-4877-9C1F-329E5DE5CB54}"/>
          </ac:spMkLst>
        </pc:spChg>
      </pc:sldChg>
      <pc:sldChg chg="modSp">
        <pc:chgData name="Earl , Patrick" userId="70116564-4522-4dff-b182-49a7124d0f79" providerId="ADAL" clId="{796A0F20-0705-4136-9FEE-59D898FD5A8D}" dt="2021-03-30T18:18:09.651" v="5" actId="27636"/>
        <pc:sldMkLst>
          <pc:docMk/>
          <pc:sldMk cId="575701551" sldId="274"/>
        </pc:sldMkLst>
        <pc:spChg chg="mod">
          <ac:chgData name="Earl , Patrick" userId="70116564-4522-4dff-b182-49a7124d0f79" providerId="ADAL" clId="{796A0F20-0705-4136-9FEE-59D898FD5A8D}" dt="2021-03-30T18:18:09.651" v="5" actId="27636"/>
          <ac:spMkLst>
            <pc:docMk/>
            <pc:sldMk cId="575701551" sldId="274"/>
            <ac:spMk id="3" creationId="{45F24082-0575-42EA-8B16-60EAAB884D5C}"/>
          </ac:spMkLst>
        </pc:spChg>
      </pc:sldChg>
      <pc:sldChg chg="modSp">
        <pc:chgData name="Earl , Patrick" userId="70116564-4522-4dff-b182-49a7124d0f79" providerId="ADAL" clId="{796A0F20-0705-4136-9FEE-59D898FD5A8D}" dt="2021-03-30T18:18:09.667" v="6" actId="27636"/>
        <pc:sldMkLst>
          <pc:docMk/>
          <pc:sldMk cId="163299915" sldId="276"/>
        </pc:sldMkLst>
        <pc:spChg chg="mod">
          <ac:chgData name="Earl , Patrick" userId="70116564-4522-4dff-b182-49a7124d0f79" providerId="ADAL" clId="{796A0F20-0705-4136-9FEE-59D898FD5A8D}" dt="2021-03-30T18:18:09.667" v="6" actId="27636"/>
          <ac:spMkLst>
            <pc:docMk/>
            <pc:sldMk cId="163299915" sldId="276"/>
            <ac:spMk id="3" creationId="{EC721767-B123-40DE-9DFD-0A4777C5C6F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7664F-122D-4F7A-8E42-03DE2520D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969D0-48F7-4129-8D51-BC71AE9BB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34A4B-290C-4D6F-809F-0568F9377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7063C-477D-434C-9136-BFCEE520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91B7E-A6D6-4A85-8625-5F6920C9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000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52B0-4C45-496A-A28F-1E211B7A2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3A4DB-5BF6-4AC3-8A0D-57076AB74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32B9B-FC22-4C56-B725-A2F8BABA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BB12B-B48D-465D-8D35-CC6B07ACB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698EE-E3DE-48F2-9FD7-19B80412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7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8EA9-8E27-4826-B40D-D31FD58B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226AD-B941-4A2F-92EF-2FFE54F1F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D4CBF-39FE-49E2-919E-F66D0195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D5598-5A81-4995-A50B-C113F368D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771C5-124A-4DAB-BDD3-E9FBAB2C8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62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B6B23-B79F-487D-9954-299CCC84B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EC4C-8A97-4C6F-956E-EB0D277FE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786B5-6694-4A5D-8F9D-CB89A5457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72A3C-0021-4321-9D01-ADFDB207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3/30/2021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6EBC9-747A-490B-917A-75A865A0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684EB-03B0-44F0-A1E2-9DF431E5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4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7EB8-524A-4798-B6BF-5A0DF8E1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6E911-1A18-4829-880E-C02D52BFA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C18A6-5580-4E17-8745-B108D178E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71695-2D12-4099-8D93-65A205C2A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DEE25-D614-4374-B14E-6F790A52C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722DD7-93E3-4856-8C32-1C80FBC8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6F4686-1577-4183-AE0E-F2E59CEA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1E79D-E64B-4175-B235-B7585E34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32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BA4A-746C-4582-8DAB-82AE7425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EC06E7-6E80-43E8-A46D-8C422A0D2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04F5F-BCDF-478B-991E-2BEBDCB9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40926-4D89-40D1-8F6F-C46F4157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59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F74229-2100-4D12-8E89-ED30056E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10406F-F8D2-41B4-9598-55695F2A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F8064-F58C-424D-9A72-ACA44ADA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677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825C-04B1-4494-818E-570811FFF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2E4E8-72CB-456C-9808-15EB4D1E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34BCE-8407-4184-B4F8-766A1F961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D8E4F-4776-4BB8-9BE5-1E1F60D0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3/30/2021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1A0AE-AC7F-4D26-A08A-15B44F48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D03E9-0E6A-4862-A649-E1DCCDE61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653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ECC8-D068-455D-BC63-AC645E2D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115292-9B9D-4B73-A705-63395B117C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A2480-E4EA-4A6D-887C-C7AAF5F20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7DB53-35C6-4F25-AF54-B28C6F13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A0A27-9A6D-4568-B052-0FE43A064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44F15-0A26-4F46-986B-C8E45801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95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A488B-7BDD-41B4-ABAF-9F2E58E2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871BE-D665-42E6-86E5-315F4EFD3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739ED-A798-4BEF-BD1A-DB9EFDE4B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7EA7E-CD9E-496A-8E70-E088E0A3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9F36D-BCDA-4124-821F-632C1279D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5670FF-0913-46EA-BBDF-20BCC367FF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B3416-8450-4E35-9C34-2A651906D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6C350-39B3-49F5-9A2E-7027D5B1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7694E-392C-4BE4-88EE-39E09E99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29730-0A66-4C40-88DD-2948A69E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35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5B591-DE38-4F9B-9772-D06AA092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39AD2-E942-4F9B-AEEF-E58875559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5AAF1-D4EE-4AEA-8269-1742EF913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E918A-0CB7-45AA-9F61-11E18842A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EE4EA-5356-4750-8D40-154A9F615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51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ccess.redhat.com/documentation/en-us/red_hat_enterprise_linux/5/html/deployment_guide/ch-lda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erciti.biz/faq/linux-list-users-command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ll.com/support/article/en-ba/sln151767/ubuntu-linux-terms-for-your-hard-drive-and-devices-explained?lang=e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ify.com/syslog-101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mint.com/20-netstat-commands-for-linux-network-managemen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5DCAC-0A80-40C2-93AA-B004F6094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Administration Tasks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FD3D2-71D5-4F93-91AD-824DF39E02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CSC252</a:t>
            </a:r>
          </a:p>
          <a:p>
            <a:r>
              <a:rPr lang="en-US" dirty="0"/>
              <a:t>Prof. Earl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1CEA6-9641-42CA-8A8A-588C1AC1C538}"/>
              </a:ext>
            </a:extLst>
          </p:cNvPr>
          <p:cNvSpPr txBox="1"/>
          <p:nvPr/>
        </p:nvSpPr>
        <p:spPr>
          <a:xfrm>
            <a:off x="0" y="6486254"/>
            <a:ext cx="4548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Slides sourced from Dr. Lisa Frye and Dr. John Carelli</a:t>
            </a:r>
          </a:p>
        </p:txBody>
      </p:sp>
    </p:spTree>
    <p:extLst>
      <p:ext uri="{BB962C8B-B14F-4D97-AF65-F5344CB8AC3E}">
        <p14:creationId xmlns:p14="http://schemas.microsoft.com/office/powerpoint/2010/main" val="488347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32886-EF4A-4EB2-A532-DFF4C464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E15A4-27B9-4717-954F-B51B52E7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Files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/passwd – User information</a:t>
            </a:r>
          </a:p>
          <a:p>
            <a:pPr lvl="2"/>
            <a:r>
              <a:rPr lang="en-US" dirty="0"/>
              <a:t>ID, group ID, home </a:t>
            </a:r>
            <a:r>
              <a:rPr lang="en-US" dirty="0" err="1"/>
              <a:t>dir</a:t>
            </a:r>
            <a:r>
              <a:rPr lang="en-US" dirty="0"/>
              <a:t>, shell, ...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/shadow</a:t>
            </a:r>
          </a:p>
          <a:p>
            <a:pPr lvl="2"/>
            <a:r>
              <a:rPr lang="en-US" dirty="0"/>
              <a:t>Encrypted user password</a:t>
            </a:r>
          </a:p>
          <a:p>
            <a:pPr lvl="1"/>
            <a:r>
              <a:rPr lang="en-US" dirty="0"/>
              <a:t>NIS, NIS+</a:t>
            </a:r>
          </a:p>
          <a:p>
            <a:pPr lvl="2"/>
            <a:r>
              <a:rPr lang="en-US" dirty="0"/>
              <a:t>Network Information Service (Originally called: yellow pages)</a:t>
            </a:r>
          </a:p>
          <a:p>
            <a:pPr lvl="2"/>
            <a:r>
              <a:rPr lang="en-US" dirty="0"/>
              <a:t>Allowed for distribution of system configuration data</a:t>
            </a:r>
          </a:p>
          <a:p>
            <a:pPr lvl="3"/>
            <a:r>
              <a:rPr lang="en-US" dirty="0"/>
              <a:t>Included user accounts, hostnames.</a:t>
            </a:r>
          </a:p>
          <a:p>
            <a:pPr lvl="2"/>
            <a:r>
              <a:rPr lang="en-US" dirty="0"/>
              <a:t>Sun Microsystems developed NIS+ to replace it</a:t>
            </a:r>
          </a:p>
          <a:p>
            <a:pPr lvl="3"/>
            <a:r>
              <a:rPr lang="en-US" dirty="0"/>
              <a:t>Completely different design, but achieves the same goal</a:t>
            </a:r>
          </a:p>
          <a:p>
            <a:pPr lvl="2"/>
            <a:r>
              <a:rPr lang="en-US" dirty="0"/>
              <a:t>Both have been replaced at this point – The protocols were designed to be replaced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250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78BC-D802-40E8-81E1-0913AF2C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A0728-2EF9-4E39-9FB2-9EEE37831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Lightweight Directory Access Protocol (LDAP)</a:t>
            </a:r>
          </a:p>
          <a:p>
            <a:pPr lvl="1"/>
            <a:r>
              <a:rPr lang="en-US" dirty="0"/>
              <a:t>Distribute information across the network</a:t>
            </a:r>
          </a:p>
          <a:p>
            <a:pPr lvl="1"/>
            <a:r>
              <a:rPr lang="en-US" dirty="0"/>
              <a:t>Managed from a central server (Can be multiple for redundancy) </a:t>
            </a:r>
          </a:p>
          <a:p>
            <a:pPr lvl="1"/>
            <a:r>
              <a:rPr lang="en-US" dirty="0">
                <a:hlinkClick r:id="rId2"/>
              </a:rPr>
              <a:t>RedHat Documentation</a:t>
            </a:r>
            <a:endParaRPr lang="en-US" dirty="0"/>
          </a:p>
          <a:p>
            <a:r>
              <a:rPr lang="en-US" dirty="0"/>
              <a:t>Active Directory</a:t>
            </a:r>
          </a:p>
          <a:p>
            <a:pPr lvl="1"/>
            <a:r>
              <a:rPr lang="en-US" dirty="0"/>
              <a:t>Microsoft’s implementation</a:t>
            </a:r>
          </a:p>
          <a:p>
            <a:pPr lvl="1"/>
            <a:r>
              <a:rPr lang="en-US" dirty="0"/>
              <a:t>Meant for managing Windows Environments</a:t>
            </a:r>
          </a:p>
          <a:p>
            <a:pPr lvl="1"/>
            <a:r>
              <a:rPr lang="en-US" dirty="0"/>
              <a:t>Can be used across platforms</a:t>
            </a:r>
          </a:p>
        </p:txBody>
      </p:sp>
    </p:spTree>
    <p:extLst>
      <p:ext uri="{BB962C8B-B14F-4D97-AF65-F5344CB8AC3E}">
        <p14:creationId xmlns:p14="http://schemas.microsoft.com/office/powerpoint/2010/main" val="329174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98669-BC91-4066-B6A6-0DF484A0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local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AF7BF-EF6D-4FE0-A89C-DE6C1C7C7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pc="-10" dirty="0" err="1">
                <a:latin typeface="Rockwell" panose="02060603020205020403" pitchFamily="18" charset="0"/>
              </a:rPr>
              <a:t>u</a:t>
            </a:r>
            <a:r>
              <a:rPr lang="en-US" dirty="0" err="1">
                <a:latin typeface="Rockwell" panose="02060603020205020403" pitchFamily="18" charset="0"/>
              </a:rPr>
              <a:t>s</a:t>
            </a:r>
            <a:r>
              <a:rPr lang="en-US" spc="-10" dirty="0" err="1">
                <a:latin typeface="Rockwell" panose="02060603020205020403" pitchFamily="18" charset="0"/>
              </a:rPr>
              <a:t>e</a:t>
            </a:r>
            <a:r>
              <a:rPr lang="en-US" spc="-55" dirty="0" err="1">
                <a:latin typeface="Rockwell" panose="02060603020205020403" pitchFamily="18" charset="0"/>
              </a:rPr>
              <a:t>r</a:t>
            </a:r>
            <a:r>
              <a:rPr lang="en-US" spc="-10" dirty="0" err="1">
                <a:latin typeface="Rockwell" panose="02060603020205020403" pitchFamily="18" charset="0"/>
              </a:rPr>
              <a:t>a</a:t>
            </a:r>
            <a:r>
              <a:rPr lang="en-US" spc="10" dirty="0" err="1">
                <a:latin typeface="Rockwell" panose="02060603020205020403" pitchFamily="18" charset="0"/>
              </a:rPr>
              <a:t>d</a:t>
            </a:r>
            <a:r>
              <a:rPr lang="en-US" dirty="0" err="1">
                <a:latin typeface="Rockwell" panose="02060603020205020403" pitchFamily="18" charset="0"/>
              </a:rPr>
              <a:t>d</a:t>
            </a:r>
            <a:r>
              <a:rPr lang="en-US" dirty="0">
                <a:latin typeface="Rockwell" panose="02060603020205020403" pitchFamily="18" charset="0"/>
              </a:rPr>
              <a:t> </a:t>
            </a:r>
            <a:r>
              <a:rPr lang="en-US" spc="10" dirty="0">
                <a:latin typeface="Rockwell" panose="02060603020205020403" pitchFamily="18" charset="0"/>
              </a:rPr>
              <a:t>[</a:t>
            </a:r>
            <a:r>
              <a:rPr lang="en-US" spc="-10" dirty="0">
                <a:latin typeface="Rockwell" panose="02060603020205020403" pitchFamily="18" charset="0"/>
              </a:rPr>
              <a:t>-</a:t>
            </a:r>
            <a:r>
              <a:rPr lang="en-US" dirty="0">
                <a:latin typeface="Rockwell" panose="02060603020205020403" pitchFamily="18" charset="0"/>
              </a:rPr>
              <a:t>u </a:t>
            </a:r>
            <a:r>
              <a:rPr lang="en-US" spc="-10" dirty="0">
                <a:latin typeface="Rockwell" panose="02060603020205020403" pitchFamily="18" charset="0"/>
              </a:rPr>
              <a:t> </a:t>
            </a:r>
            <a:r>
              <a:rPr lang="en-US" spc="-10" dirty="0" err="1">
                <a:latin typeface="Rockwell" panose="02060603020205020403" pitchFamily="18" charset="0"/>
              </a:rPr>
              <a:t>u</a:t>
            </a:r>
            <a:r>
              <a:rPr lang="en-US" spc="-5" dirty="0" err="1">
                <a:latin typeface="Rockwell" panose="02060603020205020403" pitchFamily="18" charset="0"/>
              </a:rPr>
              <a:t>i</a:t>
            </a:r>
            <a:r>
              <a:rPr lang="en-US" dirty="0" err="1">
                <a:latin typeface="Rockwell" panose="02060603020205020403" pitchFamily="18" charset="0"/>
              </a:rPr>
              <a:t>d</a:t>
            </a:r>
            <a:r>
              <a:rPr lang="en-US" dirty="0">
                <a:latin typeface="Rockwell" panose="02060603020205020403" pitchFamily="18" charset="0"/>
              </a:rPr>
              <a:t>] </a:t>
            </a:r>
            <a:r>
              <a:rPr lang="en-US" spc="10" dirty="0">
                <a:latin typeface="Rockwell" panose="02060603020205020403" pitchFamily="18" charset="0"/>
              </a:rPr>
              <a:t>[</a:t>
            </a:r>
            <a:r>
              <a:rPr lang="en-US" spc="-10" dirty="0">
                <a:latin typeface="Rockwell" panose="02060603020205020403" pitchFamily="18" charset="0"/>
              </a:rPr>
              <a:t>-o</a:t>
            </a:r>
            <a:r>
              <a:rPr lang="en-US" spc="10" dirty="0">
                <a:latin typeface="Rockwell" panose="02060603020205020403" pitchFamily="18" charset="0"/>
              </a:rPr>
              <a:t>]</a:t>
            </a:r>
            <a:r>
              <a:rPr lang="en-US" dirty="0">
                <a:latin typeface="Rockwell" panose="02060603020205020403" pitchFamily="18" charset="0"/>
              </a:rPr>
              <a:t> </a:t>
            </a:r>
            <a:r>
              <a:rPr lang="en-US" spc="10" dirty="0">
                <a:latin typeface="Rockwell" panose="02060603020205020403" pitchFamily="18" charset="0"/>
              </a:rPr>
              <a:t>[</a:t>
            </a:r>
            <a:r>
              <a:rPr lang="en-US" spc="-10" dirty="0">
                <a:latin typeface="Rockwell" panose="02060603020205020403" pitchFamily="18" charset="0"/>
              </a:rPr>
              <a:t>-</a:t>
            </a:r>
            <a:r>
              <a:rPr lang="en-US" dirty="0">
                <a:latin typeface="Rockwell" panose="02060603020205020403" pitchFamily="18" charset="0"/>
              </a:rPr>
              <a:t>g </a:t>
            </a:r>
            <a:r>
              <a:rPr lang="en-US" spc="10" dirty="0">
                <a:latin typeface="Rockwell" panose="02060603020205020403" pitchFamily="18" charset="0"/>
              </a:rPr>
              <a:t>g</a:t>
            </a:r>
            <a:r>
              <a:rPr lang="en-US" spc="-75" dirty="0">
                <a:latin typeface="Rockwell" panose="02060603020205020403" pitchFamily="18" charset="0"/>
              </a:rPr>
              <a:t>r</a:t>
            </a:r>
            <a:r>
              <a:rPr lang="en-US" spc="-10" dirty="0">
                <a:latin typeface="Rockwell" panose="02060603020205020403" pitchFamily="18" charset="0"/>
              </a:rPr>
              <a:t>ou</a:t>
            </a:r>
            <a:r>
              <a:rPr lang="en-US" spc="10" dirty="0">
                <a:latin typeface="Rockwell" panose="02060603020205020403" pitchFamily="18" charset="0"/>
              </a:rPr>
              <a:t>p] </a:t>
            </a:r>
            <a:r>
              <a:rPr lang="en-US" spc="10" dirty="0">
                <a:latin typeface="Rockwell"/>
                <a:cs typeface="Rockwell"/>
              </a:rPr>
              <a:t>[</a:t>
            </a:r>
            <a:r>
              <a:rPr lang="en-US" spc="-10" dirty="0">
                <a:latin typeface="Rockwell"/>
                <a:cs typeface="Rockwell"/>
              </a:rPr>
              <a:t>-</a:t>
            </a:r>
            <a:r>
              <a:rPr lang="en-US" spc="-5" dirty="0">
                <a:latin typeface="Rockwell"/>
                <a:cs typeface="Rockwell"/>
              </a:rPr>
              <a:t>G</a:t>
            </a:r>
            <a:r>
              <a:rPr lang="en-US" dirty="0">
                <a:latin typeface="Rockwell"/>
                <a:cs typeface="Rockwell"/>
              </a:rPr>
              <a:t> </a:t>
            </a:r>
            <a:r>
              <a:rPr lang="en-US" spc="-5" dirty="0">
                <a:latin typeface="Rockwell"/>
                <a:cs typeface="Rockwell"/>
              </a:rPr>
              <a:t> </a:t>
            </a:r>
            <a:r>
              <a:rPr lang="en-US" spc="10" dirty="0">
                <a:latin typeface="Rockwell"/>
                <a:cs typeface="Rockwell"/>
              </a:rPr>
              <a:t>g</a:t>
            </a:r>
            <a:r>
              <a:rPr lang="en-US" spc="-75" dirty="0">
                <a:latin typeface="Rockwell"/>
                <a:cs typeface="Rockwell"/>
              </a:rPr>
              <a:t>r</a:t>
            </a:r>
            <a:r>
              <a:rPr lang="en-US" spc="-10" dirty="0">
                <a:latin typeface="Rockwell"/>
                <a:cs typeface="Rockwell"/>
              </a:rPr>
              <a:t>ou</a:t>
            </a:r>
            <a:r>
              <a:rPr lang="en-US" dirty="0">
                <a:latin typeface="Rockwell"/>
                <a:cs typeface="Rockwell"/>
              </a:rPr>
              <a:t>p</a:t>
            </a:r>
            <a:r>
              <a:rPr lang="en-US" spc="10" dirty="0">
                <a:latin typeface="Rockwell"/>
                <a:cs typeface="Rockwell"/>
              </a:rPr>
              <a:t> [</a:t>
            </a:r>
            <a:r>
              <a:rPr lang="en-US" dirty="0">
                <a:latin typeface="Rockwell"/>
                <a:cs typeface="Rockwell"/>
              </a:rPr>
              <a:t>,</a:t>
            </a:r>
            <a:r>
              <a:rPr lang="en-US" spc="-165" dirty="0">
                <a:latin typeface="Rockwell"/>
                <a:cs typeface="Rockwell"/>
              </a:rPr>
              <a:t> </a:t>
            </a:r>
            <a:r>
              <a:rPr lang="en-US" spc="10" dirty="0">
                <a:latin typeface="Rockwell"/>
                <a:cs typeface="Rockwell"/>
              </a:rPr>
              <a:t>g</a:t>
            </a:r>
            <a:r>
              <a:rPr lang="en-US" spc="-75" dirty="0">
                <a:latin typeface="Rockwell"/>
                <a:cs typeface="Rockwell"/>
              </a:rPr>
              <a:t>r</a:t>
            </a:r>
            <a:r>
              <a:rPr lang="en-US" spc="-10" dirty="0">
                <a:latin typeface="Rockwell"/>
                <a:cs typeface="Rockwell"/>
              </a:rPr>
              <a:t>ou</a:t>
            </a:r>
            <a:r>
              <a:rPr lang="en-US" spc="-70" dirty="0">
                <a:latin typeface="Rockwell"/>
                <a:cs typeface="Rockwell"/>
              </a:rPr>
              <a:t>p</a:t>
            </a:r>
            <a:r>
              <a:rPr lang="en-US" dirty="0">
                <a:latin typeface="Rockwell"/>
                <a:cs typeface="Rockwell"/>
              </a:rPr>
              <a:t>,</a:t>
            </a:r>
            <a:r>
              <a:rPr lang="en-US" spc="-165" dirty="0">
                <a:latin typeface="Rockwell"/>
                <a:cs typeface="Rockwell"/>
              </a:rPr>
              <a:t> </a:t>
            </a:r>
            <a:r>
              <a:rPr lang="en-US" dirty="0">
                <a:latin typeface="Rockwell"/>
                <a:cs typeface="Rockwell"/>
              </a:rPr>
              <a:t>…</a:t>
            </a:r>
            <a:r>
              <a:rPr lang="en-US" spc="10" dirty="0">
                <a:latin typeface="Rockwell"/>
                <a:cs typeface="Rockwell"/>
              </a:rPr>
              <a:t>]</a:t>
            </a:r>
            <a:r>
              <a:rPr lang="en-US" dirty="0">
                <a:latin typeface="Rockwell"/>
                <a:cs typeface="Rockwell"/>
              </a:rPr>
              <a:t> </a:t>
            </a:r>
            <a:r>
              <a:rPr lang="en-US" spc="-10" dirty="0">
                <a:latin typeface="Rockwell"/>
                <a:cs typeface="Rockwell"/>
              </a:rPr>
              <a:t> 	  </a:t>
            </a:r>
            <a:r>
              <a:rPr lang="en-US" spc="10" dirty="0">
                <a:latin typeface="Rockwell"/>
                <a:cs typeface="Rockwell"/>
              </a:rPr>
              <a:t>[</a:t>
            </a:r>
            <a:r>
              <a:rPr lang="en-US" spc="-10" dirty="0">
                <a:latin typeface="Rockwell"/>
                <a:cs typeface="Rockwell"/>
              </a:rPr>
              <a:t>-</a:t>
            </a:r>
            <a:r>
              <a:rPr lang="en-US" dirty="0">
                <a:latin typeface="Rockwell"/>
                <a:cs typeface="Rockwell"/>
              </a:rPr>
              <a:t>d</a:t>
            </a:r>
            <a:r>
              <a:rPr lang="en-US" spc="-10" dirty="0">
                <a:latin typeface="Rockwell"/>
                <a:cs typeface="Rockwell"/>
              </a:rPr>
              <a:t> ho</a:t>
            </a:r>
            <a:r>
              <a:rPr lang="en-US" spc="5" dirty="0">
                <a:latin typeface="Rockwell"/>
                <a:cs typeface="Rockwell"/>
              </a:rPr>
              <a:t>m</a:t>
            </a:r>
            <a:r>
              <a:rPr lang="en-US" spc="-10" dirty="0">
                <a:latin typeface="Rockwell"/>
                <a:cs typeface="Rockwell"/>
              </a:rPr>
              <a:t>e]</a:t>
            </a:r>
            <a:r>
              <a:rPr lang="en-US" dirty="0">
                <a:latin typeface="Rockwell"/>
                <a:cs typeface="Rockwell"/>
              </a:rPr>
              <a:t> </a:t>
            </a:r>
            <a:r>
              <a:rPr lang="en-US" spc="10" dirty="0">
                <a:latin typeface="Rockwell"/>
                <a:cs typeface="Rockwell"/>
              </a:rPr>
              <a:t>[</a:t>
            </a:r>
            <a:r>
              <a:rPr lang="en-US" spc="-10" dirty="0">
                <a:latin typeface="Rockwell"/>
                <a:cs typeface="Rockwell"/>
              </a:rPr>
              <a:t>-</a:t>
            </a:r>
            <a:r>
              <a:rPr lang="en-US" dirty="0">
                <a:latin typeface="Rockwell"/>
                <a:cs typeface="Rockwell"/>
              </a:rPr>
              <a:t>m] </a:t>
            </a:r>
            <a:r>
              <a:rPr lang="en-US" spc="-15" dirty="0">
                <a:latin typeface="Rockwell"/>
                <a:cs typeface="Rockwell"/>
              </a:rPr>
              <a:t> </a:t>
            </a:r>
            <a:r>
              <a:rPr lang="en-US" spc="10" dirty="0">
                <a:latin typeface="Rockwell"/>
                <a:cs typeface="Rockwell"/>
              </a:rPr>
              <a:t>[</a:t>
            </a:r>
            <a:r>
              <a:rPr lang="en-US" spc="-10" dirty="0">
                <a:latin typeface="Rockwell"/>
                <a:cs typeface="Rockwell"/>
              </a:rPr>
              <a:t>-</a:t>
            </a:r>
            <a:r>
              <a:rPr lang="en-US" dirty="0">
                <a:latin typeface="Rockwell"/>
                <a:cs typeface="Rockwell"/>
              </a:rPr>
              <a:t>k </a:t>
            </a:r>
            <a:r>
              <a:rPr lang="en-US" spc="-10" dirty="0">
                <a:latin typeface="Rockwell"/>
                <a:cs typeface="Rockwell"/>
              </a:rPr>
              <a:t>te</a:t>
            </a:r>
            <a:r>
              <a:rPr lang="en-US" spc="5" dirty="0">
                <a:latin typeface="Rockwell"/>
                <a:cs typeface="Rockwell"/>
              </a:rPr>
              <a:t>mp</a:t>
            </a:r>
            <a:r>
              <a:rPr lang="en-US" spc="-5" dirty="0">
                <a:latin typeface="Rockwell"/>
                <a:cs typeface="Rockwell"/>
              </a:rPr>
              <a:t>l</a:t>
            </a:r>
            <a:r>
              <a:rPr lang="en-US" spc="-10" dirty="0">
                <a:latin typeface="Rockwell"/>
                <a:cs typeface="Rockwell"/>
              </a:rPr>
              <a:t>ate</a:t>
            </a:r>
            <a:r>
              <a:rPr lang="en-US" spc="10" dirty="0">
                <a:latin typeface="Rockwell"/>
                <a:cs typeface="Rockwell"/>
              </a:rPr>
              <a:t>]</a:t>
            </a:r>
            <a:r>
              <a:rPr lang="en-US" dirty="0">
                <a:latin typeface="Rockwell"/>
                <a:cs typeface="Rockwell"/>
              </a:rPr>
              <a:t> </a:t>
            </a:r>
            <a:r>
              <a:rPr lang="en-US" spc="-15" dirty="0">
                <a:latin typeface="Rockwell"/>
                <a:cs typeface="Rockwell"/>
              </a:rPr>
              <a:t> </a:t>
            </a:r>
            <a:r>
              <a:rPr lang="en-US" spc="10" dirty="0">
                <a:latin typeface="Rockwell"/>
                <a:cs typeface="Rockwell"/>
              </a:rPr>
              <a:t>[</a:t>
            </a:r>
            <a:r>
              <a:rPr lang="en-US" spc="-10" dirty="0">
                <a:latin typeface="Rockwell"/>
                <a:cs typeface="Rockwell"/>
              </a:rPr>
              <a:t>-</a:t>
            </a:r>
            <a:r>
              <a:rPr lang="en-US" dirty="0">
                <a:latin typeface="Rockwell"/>
                <a:cs typeface="Rockwell"/>
              </a:rPr>
              <a:t>f</a:t>
            </a:r>
            <a:r>
              <a:rPr lang="en-US" spc="15" dirty="0">
                <a:latin typeface="Rockwell"/>
                <a:cs typeface="Rockwell"/>
              </a:rPr>
              <a:t> </a:t>
            </a:r>
            <a:r>
              <a:rPr lang="en-US" spc="-5" dirty="0">
                <a:latin typeface="Rockwell"/>
                <a:cs typeface="Rockwell"/>
              </a:rPr>
              <a:t>i</a:t>
            </a:r>
            <a:r>
              <a:rPr lang="en-US" spc="-10" dirty="0">
                <a:latin typeface="Rockwell"/>
                <a:cs typeface="Rockwell"/>
              </a:rPr>
              <a:t>na</a:t>
            </a:r>
            <a:r>
              <a:rPr lang="en-US" spc="-5" dirty="0">
                <a:latin typeface="Rockwell"/>
                <a:cs typeface="Rockwell"/>
              </a:rPr>
              <a:t>c</a:t>
            </a:r>
            <a:r>
              <a:rPr lang="en-US" spc="-10" dirty="0">
                <a:latin typeface="Rockwell"/>
                <a:cs typeface="Rockwell"/>
              </a:rPr>
              <a:t>t</a:t>
            </a:r>
            <a:r>
              <a:rPr lang="en-US" spc="-50" dirty="0">
                <a:latin typeface="Rockwell"/>
                <a:cs typeface="Rockwell"/>
              </a:rPr>
              <a:t>i</a:t>
            </a:r>
            <a:r>
              <a:rPr lang="en-US" spc="-65" dirty="0">
                <a:latin typeface="Rockwell"/>
                <a:cs typeface="Rockwell"/>
              </a:rPr>
              <a:t>v</a:t>
            </a:r>
            <a:r>
              <a:rPr lang="en-US" spc="-10" dirty="0">
                <a:latin typeface="Rockwell"/>
                <a:cs typeface="Rockwell"/>
              </a:rPr>
              <a:t>e</a:t>
            </a:r>
            <a:r>
              <a:rPr lang="en-US" dirty="0">
                <a:latin typeface="Rockwell"/>
                <a:cs typeface="Rockwell"/>
              </a:rPr>
              <a:t>] </a:t>
            </a:r>
            <a:r>
              <a:rPr lang="en-US" spc="10" dirty="0">
                <a:latin typeface="Rockwell"/>
                <a:cs typeface="Rockwell"/>
              </a:rPr>
              <a:t>[</a:t>
            </a:r>
            <a:r>
              <a:rPr lang="en-US" spc="-10" dirty="0">
                <a:latin typeface="Rockwell"/>
                <a:cs typeface="Rockwell"/>
              </a:rPr>
              <a:t>-</a:t>
            </a:r>
            <a:r>
              <a:rPr lang="en-US" spc="5" dirty="0">
                <a:latin typeface="Rockwell"/>
                <a:cs typeface="Rockwell"/>
              </a:rPr>
              <a:t>r</a:t>
            </a:r>
            <a:r>
              <a:rPr lang="en-US" dirty="0">
                <a:latin typeface="Rockwell"/>
                <a:cs typeface="Rockwell"/>
              </a:rPr>
              <a:t>]       	  </a:t>
            </a:r>
            <a:r>
              <a:rPr lang="en-US" spc="10" dirty="0">
                <a:latin typeface="Rockwell"/>
                <a:cs typeface="Rockwell"/>
              </a:rPr>
              <a:t>[</a:t>
            </a:r>
            <a:r>
              <a:rPr lang="en-US" spc="-10" dirty="0">
                <a:latin typeface="Rockwell"/>
                <a:cs typeface="Rockwell"/>
              </a:rPr>
              <a:t>-</a:t>
            </a:r>
            <a:r>
              <a:rPr lang="en-US" dirty="0">
                <a:latin typeface="Rockwell"/>
                <a:cs typeface="Rockwell"/>
              </a:rPr>
              <a:t>p p</a:t>
            </a:r>
            <a:r>
              <a:rPr lang="en-US" spc="-10" dirty="0">
                <a:latin typeface="Rockwell"/>
                <a:cs typeface="Rockwell"/>
              </a:rPr>
              <a:t>a</a:t>
            </a:r>
            <a:r>
              <a:rPr lang="en-US" dirty="0">
                <a:latin typeface="Rockwell"/>
                <a:cs typeface="Rockwell"/>
              </a:rPr>
              <a:t>ss</a:t>
            </a:r>
            <a:r>
              <a:rPr lang="en-US" spc="-5" dirty="0">
                <a:latin typeface="Rockwell"/>
                <a:cs typeface="Rockwell"/>
              </a:rPr>
              <a:t>w</a:t>
            </a:r>
            <a:r>
              <a:rPr lang="en-US" spc="10" dirty="0">
                <a:latin typeface="Rockwell"/>
                <a:cs typeface="Rockwell"/>
              </a:rPr>
              <a:t>d</a:t>
            </a:r>
            <a:r>
              <a:rPr lang="en-US" dirty="0">
                <a:latin typeface="Rockwell"/>
                <a:cs typeface="Rockwell"/>
              </a:rPr>
              <a:t>] </a:t>
            </a:r>
            <a:r>
              <a:rPr lang="en-US" spc="10" dirty="0">
                <a:latin typeface="Rockwell"/>
                <a:cs typeface="Rockwell"/>
              </a:rPr>
              <a:t>[</a:t>
            </a:r>
            <a:r>
              <a:rPr lang="en-US" spc="-10" dirty="0">
                <a:latin typeface="Rockwell"/>
                <a:cs typeface="Rockwell"/>
              </a:rPr>
              <a:t>-</a:t>
            </a:r>
            <a:r>
              <a:rPr lang="en-US" dirty="0">
                <a:latin typeface="Rockwell"/>
                <a:cs typeface="Rockwell"/>
              </a:rPr>
              <a:t>s</a:t>
            </a:r>
            <a:r>
              <a:rPr lang="en-US" spc="-20" dirty="0">
                <a:latin typeface="Rockwell"/>
                <a:cs typeface="Rockwell"/>
              </a:rPr>
              <a:t> </a:t>
            </a:r>
            <a:r>
              <a:rPr lang="en-US" dirty="0">
                <a:latin typeface="Rockwell"/>
                <a:cs typeface="Rockwell"/>
              </a:rPr>
              <a:t>s</a:t>
            </a:r>
            <a:r>
              <a:rPr lang="en-US" spc="-10" dirty="0">
                <a:latin typeface="Rockwell"/>
                <a:cs typeface="Rockwell"/>
              </a:rPr>
              <a:t>he</a:t>
            </a:r>
            <a:r>
              <a:rPr lang="en-US" spc="-5" dirty="0">
                <a:latin typeface="Rockwell"/>
                <a:cs typeface="Rockwell"/>
              </a:rPr>
              <a:t>ll</a:t>
            </a:r>
            <a:r>
              <a:rPr lang="en-US" dirty="0">
                <a:latin typeface="Rockwell"/>
                <a:cs typeface="Rockwell"/>
              </a:rPr>
              <a:t>] </a:t>
            </a:r>
            <a:r>
              <a:rPr lang="en-US" spc="10" dirty="0">
                <a:latin typeface="Rockwell"/>
                <a:cs typeface="Rockwell"/>
              </a:rPr>
              <a:t>[</a:t>
            </a:r>
            <a:r>
              <a:rPr lang="en-US" spc="-10" dirty="0">
                <a:latin typeface="Rockwell"/>
                <a:cs typeface="Rockwell"/>
              </a:rPr>
              <a:t>-</a:t>
            </a:r>
            <a:r>
              <a:rPr lang="en-US" dirty="0">
                <a:latin typeface="Rockwell"/>
                <a:cs typeface="Rockwell"/>
              </a:rPr>
              <a:t>e</a:t>
            </a:r>
            <a:r>
              <a:rPr lang="en-US" spc="10" dirty="0">
                <a:latin typeface="Rockwell"/>
                <a:cs typeface="Rockwell"/>
              </a:rPr>
              <a:t> </a:t>
            </a:r>
            <a:r>
              <a:rPr lang="en-US" spc="-30" dirty="0">
                <a:latin typeface="Rockwell"/>
                <a:cs typeface="Rockwell"/>
              </a:rPr>
              <a:t>e</a:t>
            </a:r>
            <a:r>
              <a:rPr lang="en-US" spc="-10" dirty="0">
                <a:latin typeface="Rockwell"/>
                <a:cs typeface="Rockwell"/>
              </a:rPr>
              <a:t>x</a:t>
            </a:r>
            <a:r>
              <a:rPr lang="en-US" spc="10" dirty="0">
                <a:latin typeface="Rockwell"/>
                <a:cs typeface="Rockwell"/>
              </a:rPr>
              <a:t>p</a:t>
            </a:r>
            <a:r>
              <a:rPr lang="en-US" spc="-5" dirty="0">
                <a:latin typeface="Rockwell"/>
                <a:cs typeface="Rockwell"/>
              </a:rPr>
              <a:t>i</a:t>
            </a:r>
            <a:r>
              <a:rPr lang="en-US" spc="-95" dirty="0">
                <a:latin typeface="Rockwell"/>
                <a:cs typeface="Rockwell"/>
              </a:rPr>
              <a:t>r</a:t>
            </a:r>
            <a:r>
              <a:rPr lang="en-US" spc="-10" dirty="0">
                <a:latin typeface="Rockwell"/>
                <a:cs typeface="Rockwell"/>
              </a:rPr>
              <a:t>e</a:t>
            </a:r>
            <a:r>
              <a:rPr lang="en-US" dirty="0">
                <a:latin typeface="Rockwell"/>
                <a:cs typeface="Rockwell"/>
              </a:rPr>
              <a:t>] </a:t>
            </a:r>
            <a:r>
              <a:rPr lang="en-US" spc="10" dirty="0">
                <a:latin typeface="Rockwell"/>
                <a:cs typeface="Rockwell"/>
              </a:rPr>
              <a:t>[</a:t>
            </a:r>
            <a:r>
              <a:rPr lang="en-US" spc="-10" dirty="0">
                <a:latin typeface="Rockwell"/>
                <a:cs typeface="Rockwell"/>
              </a:rPr>
              <a:t>-</a:t>
            </a:r>
            <a:r>
              <a:rPr lang="en-US" dirty="0">
                <a:latin typeface="Rockwell"/>
                <a:cs typeface="Rockwell"/>
              </a:rPr>
              <a:t>c </a:t>
            </a:r>
            <a:r>
              <a:rPr lang="en-US" spc="-5" dirty="0">
                <a:latin typeface="Rockwell"/>
                <a:cs typeface="Rockwell"/>
              </a:rPr>
              <a:t> c</a:t>
            </a:r>
            <a:r>
              <a:rPr lang="en-US" spc="-10" dirty="0">
                <a:latin typeface="Rockwell"/>
                <a:cs typeface="Rockwell"/>
              </a:rPr>
              <a:t>o</a:t>
            </a:r>
            <a:r>
              <a:rPr lang="en-US" spc="5" dirty="0">
                <a:latin typeface="Rockwell"/>
                <a:cs typeface="Rockwell"/>
              </a:rPr>
              <a:t>mm</a:t>
            </a:r>
            <a:r>
              <a:rPr lang="en-US" spc="-10" dirty="0">
                <a:latin typeface="Rockwell"/>
                <a:cs typeface="Rockwell"/>
              </a:rPr>
              <a:t>en</a:t>
            </a:r>
            <a:r>
              <a:rPr lang="en-US" spc="-5" dirty="0">
                <a:latin typeface="Rockwell"/>
                <a:cs typeface="Rockwell"/>
              </a:rPr>
              <a:t>t</a:t>
            </a:r>
            <a:r>
              <a:rPr lang="en-US" dirty="0">
                <a:latin typeface="Rockwell"/>
                <a:cs typeface="Rockwell"/>
              </a:rPr>
              <a:t>] </a:t>
            </a:r>
            <a:r>
              <a:rPr lang="en-US" spc="-5" dirty="0">
                <a:latin typeface="Rockwell"/>
                <a:cs typeface="Rockwell"/>
              </a:rPr>
              <a:t>l</a:t>
            </a:r>
            <a:r>
              <a:rPr lang="en-US" spc="-10" dirty="0">
                <a:latin typeface="Rockwell"/>
                <a:cs typeface="Rockwell"/>
              </a:rPr>
              <a:t>o</a:t>
            </a:r>
            <a:r>
              <a:rPr lang="en-US" spc="10" dirty="0">
                <a:latin typeface="Rockwell"/>
                <a:cs typeface="Rockwell"/>
              </a:rPr>
              <a:t>g</a:t>
            </a:r>
            <a:r>
              <a:rPr lang="en-US" spc="-5" dirty="0">
                <a:latin typeface="Rockwell"/>
                <a:cs typeface="Rockwell"/>
              </a:rPr>
              <a:t>in</a:t>
            </a:r>
            <a:br>
              <a:rPr lang="en-US" dirty="0">
                <a:latin typeface="Rockwell"/>
                <a:cs typeface="Rockwell"/>
              </a:rPr>
            </a:br>
            <a:endParaRPr lang="en-US" dirty="0">
              <a:latin typeface="Rockwell"/>
              <a:cs typeface="Rockwell"/>
            </a:endParaRPr>
          </a:p>
          <a:p>
            <a:r>
              <a:rPr lang="en-US" dirty="0">
                <a:latin typeface="Rockwell"/>
              </a:rPr>
              <a:t>Default Settings</a:t>
            </a:r>
          </a:p>
          <a:p>
            <a:pPr lvl="1"/>
            <a:r>
              <a:rPr lang="en-US" dirty="0" err="1">
                <a:latin typeface="Rockwell"/>
              </a:rPr>
              <a:t>useradd</a:t>
            </a:r>
            <a:r>
              <a:rPr lang="en-US" dirty="0">
                <a:latin typeface="Rockwell"/>
              </a:rPr>
              <a:t> –D [-g group] [-b base] [-f inactive] [-e expire] login</a:t>
            </a:r>
          </a:p>
          <a:p>
            <a:pPr lvl="1"/>
            <a:r>
              <a:rPr lang="en-US" dirty="0" err="1">
                <a:latin typeface="Rockwell"/>
              </a:rPr>
              <a:t>useradd</a:t>
            </a:r>
            <a:r>
              <a:rPr lang="en-US" dirty="0">
                <a:latin typeface="Rockwell"/>
              </a:rPr>
              <a:t> –D </a:t>
            </a:r>
          </a:p>
          <a:p>
            <a:pPr lvl="2"/>
            <a:r>
              <a:rPr lang="en-US" dirty="0">
                <a:latin typeface="Rockwell"/>
              </a:rPr>
              <a:t>Look at default settings</a:t>
            </a:r>
          </a:p>
        </p:txBody>
      </p:sp>
    </p:spTree>
    <p:extLst>
      <p:ext uri="{BB962C8B-B14F-4D97-AF65-F5344CB8AC3E}">
        <p14:creationId xmlns:p14="http://schemas.microsoft.com/office/powerpoint/2010/main" val="372080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B789D-5C2D-42B5-ADD8-94BEA95F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DC0FF-6793-4821-A569-201AA2229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usermod</a:t>
            </a:r>
            <a:r>
              <a:rPr lang="en-US" dirty="0"/>
              <a:t> [-u </a:t>
            </a:r>
            <a:r>
              <a:rPr lang="en-US" dirty="0" err="1"/>
              <a:t>uid</a:t>
            </a:r>
            <a:r>
              <a:rPr lang="en-US" dirty="0"/>
              <a:t>] [-o] [-g group] [-G group (, group, …)] [-d home] [-m] [-l </a:t>
            </a:r>
            <a:r>
              <a:rPr lang="en-US" dirty="0" err="1"/>
              <a:t>new_login</a:t>
            </a:r>
            <a:r>
              <a:rPr lang="en-US" dirty="0"/>
              <a:t>] [-f inactive] [-r] [-p passwd] [-s shell] [-e expire] [-c comment] login</a:t>
            </a:r>
          </a:p>
          <a:p>
            <a:endParaRPr lang="en-US" dirty="0"/>
          </a:p>
          <a:p>
            <a:r>
              <a:rPr lang="en-US" dirty="0" err="1"/>
              <a:t>userdel</a:t>
            </a:r>
            <a:r>
              <a:rPr lang="en-US" dirty="0"/>
              <a:t> [-r] login</a:t>
            </a:r>
          </a:p>
          <a:p>
            <a:endParaRPr lang="en-US" dirty="0"/>
          </a:p>
          <a:p>
            <a:r>
              <a:rPr lang="en-US" dirty="0"/>
              <a:t>passwd &lt;login&gt;</a:t>
            </a:r>
          </a:p>
          <a:p>
            <a:pPr lvl="1"/>
            <a:r>
              <a:rPr lang="en-US" dirty="0"/>
              <a:t>Change the password for a specific user (must be root)</a:t>
            </a:r>
          </a:p>
        </p:txBody>
      </p:sp>
    </p:spTree>
    <p:extLst>
      <p:ext uri="{BB962C8B-B14F-4D97-AF65-F5344CB8AC3E}">
        <p14:creationId xmlns:p14="http://schemas.microsoft.com/office/powerpoint/2010/main" val="459589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244D-EFA5-42BE-8E38-038787C0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8A6CC-307C-4BE8-8668-5217ADDA6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root 				(superuser)</a:t>
            </a:r>
          </a:p>
          <a:p>
            <a:r>
              <a:rPr lang="en-US" dirty="0"/>
              <a:t>daemon			(system server processes/files)</a:t>
            </a:r>
          </a:p>
          <a:p>
            <a:r>
              <a:rPr lang="en-US" dirty="0"/>
              <a:t>bin				(owns system executables and files)</a:t>
            </a:r>
          </a:p>
          <a:p>
            <a:r>
              <a:rPr lang="en-US" dirty="0"/>
              <a:t>sys				(for Distributed File Services, DFS)</a:t>
            </a:r>
          </a:p>
          <a:p>
            <a:r>
              <a:rPr lang="en-US" dirty="0" err="1"/>
              <a:t>lp</a:t>
            </a:r>
            <a:r>
              <a:rPr lang="en-US" dirty="0"/>
              <a:t>				(managing printers)</a:t>
            </a:r>
          </a:p>
          <a:p>
            <a:r>
              <a:rPr lang="en-US" dirty="0" err="1"/>
              <a:t>adm</a:t>
            </a:r>
            <a:r>
              <a:rPr lang="en-US" dirty="0"/>
              <a:t>				(basic system functions)</a:t>
            </a:r>
          </a:p>
          <a:p>
            <a:r>
              <a:rPr lang="en-US" dirty="0"/>
              <a:t>nobody			(default for unprivileged operations)</a:t>
            </a:r>
          </a:p>
          <a:p>
            <a:endParaRPr lang="en-US" dirty="0"/>
          </a:p>
          <a:p>
            <a:r>
              <a:rPr lang="en-US" dirty="0"/>
              <a:t>Viewing system accounts: </a:t>
            </a:r>
            <a:r>
              <a:rPr lang="en-US" dirty="0">
                <a:hlinkClick r:id="rId2"/>
              </a:rPr>
              <a:t>https://www.cyberciti.biz/faq/linux-list-users-command/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3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C3A08-3BFC-491D-89A1-767456BF5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A40A1-A855-4B63-9CB6-39358F0F5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Group</a:t>
            </a:r>
          </a:p>
          <a:p>
            <a:r>
              <a:rPr lang="en-US" dirty="0"/>
              <a:t>Secondary Groups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/group 				- Holds the groups available on the system</a:t>
            </a:r>
          </a:p>
          <a:p>
            <a:pPr lvl="1"/>
            <a:endParaRPr lang="en-US" dirty="0"/>
          </a:p>
          <a:p>
            <a:r>
              <a:rPr lang="en-US" dirty="0"/>
              <a:t>groups command</a:t>
            </a:r>
          </a:p>
          <a:p>
            <a:pPr lvl="1"/>
            <a:r>
              <a:rPr lang="en-US" dirty="0"/>
              <a:t>get a list of groups</a:t>
            </a:r>
          </a:p>
          <a:p>
            <a:pPr lvl="1"/>
            <a:r>
              <a:rPr lang="en-US" dirty="0"/>
              <a:t>user can change current group with </a:t>
            </a:r>
            <a:r>
              <a:rPr lang="en-US" b="1" dirty="0" err="1"/>
              <a:t>newgrp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7965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CD80A-7AE9-41F4-B75B-2512927ED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5BC5-28C4-4F28-9DA7-2DA5DDFFF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root</a:t>
            </a:r>
          </a:p>
          <a:p>
            <a:r>
              <a:rPr lang="en-US" dirty="0"/>
              <a:t>daemon</a:t>
            </a:r>
          </a:p>
          <a:p>
            <a:r>
              <a:rPr lang="en-US" dirty="0"/>
              <a:t>sys</a:t>
            </a:r>
          </a:p>
          <a:p>
            <a:r>
              <a:rPr lang="en-US" dirty="0" err="1"/>
              <a:t>tty</a:t>
            </a:r>
            <a:endParaRPr lang="en-US" dirty="0"/>
          </a:p>
          <a:p>
            <a:r>
              <a:rPr lang="en-US" dirty="0"/>
              <a:t>bin</a:t>
            </a:r>
          </a:p>
          <a:p>
            <a:r>
              <a:rPr lang="en-US" dirty="0" err="1"/>
              <a:t>adm</a:t>
            </a:r>
            <a:endParaRPr lang="en-US" dirty="0"/>
          </a:p>
          <a:p>
            <a:r>
              <a:rPr lang="en-US" dirty="0" err="1"/>
              <a:t>lp</a:t>
            </a:r>
            <a:endParaRPr lang="en-US" dirty="0"/>
          </a:p>
          <a:p>
            <a:r>
              <a:rPr lang="en-US" dirty="0"/>
              <a:t>mail</a:t>
            </a:r>
          </a:p>
          <a:p>
            <a:r>
              <a:rPr lang="en-US" dirty="0" err="1"/>
              <a:t>uucp</a:t>
            </a:r>
            <a:r>
              <a:rPr lang="en-US" dirty="0"/>
              <a:t>/</a:t>
            </a:r>
            <a:r>
              <a:rPr lang="en-US" dirty="0" err="1"/>
              <a:t>nuucp</a:t>
            </a:r>
            <a:endParaRPr lang="en-US" dirty="0"/>
          </a:p>
          <a:p>
            <a:r>
              <a:rPr lang="en-US" dirty="0"/>
              <a:t>nobody</a:t>
            </a:r>
          </a:p>
          <a:p>
            <a:r>
              <a:rPr lang="en-US" dirty="0" err="1"/>
              <a:t>noaccess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841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3D80-AC8B-4BDF-88C3-2A63D5D46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Backing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6EAC7-914D-4A32-B80A-21F0ED83F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backup from one machine</a:t>
            </a:r>
          </a:p>
          <a:p>
            <a:r>
              <a:rPr lang="en-US" dirty="0"/>
              <a:t>label all tapes</a:t>
            </a:r>
          </a:p>
          <a:p>
            <a:r>
              <a:rPr lang="en-US" dirty="0"/>
              <a:t>Three generations</a:t>
            </a:r>
          </a:p>
          <a:p>
            <a:pPr lvl="1"/>
            <a:r>
              <a:rPr lang="en-US" dirty="0"/>
              <a:t>Grandparent / Parent / Child</a:t>
            </a:r>
          </a:p>
          <a:p>
            <a:pPr lvl="1"/>
            <a:r>
              <a:rPr lang="en-US" dirty="0"/>
              <a:t>3 Backup cycle (Daily, Weekly, Monthly)</a:t>
            </a:r>
          </a:p>
          <a:p>
            <a:pPr lvl="1"/>
            <a:r>
              <a:rPr lang="en-US" dirty="0"/>
              <a:t>avoids propagating an error</a:t>
            </a:r>
          </a:p>
          <a:p>
            <a:r>
              <a:rPr lang="en-US" dirty="0"/>
              <a:t>secure backup tapes</a:t>
            </a:r>
          </a:p>
          <a:p>
            <a:r>
              <a:rPr lang="en-US" dirty="0"/>
              <a:t>keep tapes off site</a:t>
            </a:r>
          </a:p>
          <a:p>
            <a:r>
              <a:rPr lang="en-US" dirty="0"/>
              <a:t>backup appropriately</a:t>
            </a:r>
          </a:p>
          <a:p>
            <a:r>
              <a:rPr lang="en-US" dirty="0"/>
              <a:t>Always check your backup procedure</a:t>
            </a:r>
          </a:p>
          <a:p>
            <a:pPr lvl="1"/>
            <a:r>
              <a:rPr lang="en-US" dirty="0"/>
              <a:t>Attempt a restore</a:t>
            </a:r>
          </a:p>
          <a:p>
            <a:r>
              <a:rPr lang="en-US" dirty="0"/>
              <a:t>Tape life Cycle – How often should tapes be replaced?</a:t>
            </a:r>
          </a:p>
        </p:txBody>
      </p:sp>
    </p:spTree>
    <p:extLst>
      <p:ext uri="{BB962C8B-B14F-4D97-AF65-F5344CB8AC3E}">
        <p14:creationId xmlns:p14="http://schemas.microsoft.com/office/powerpoint/2010/main" val="162754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CAE63-23E9-42A6-B2B6-0ED75F25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Schedule Depends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A81DB-B802-4F80-87C5-96FDCFCC5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activity on filesystem</a:t>
            </a:r>
          </a:p>
          <a:p>
            <a:r>
              <a:rPr lang="en-US" dirty="0"/>
              <a:t>capacity of dump device</a:t>
            </a:r>
          </a:p>
          <a:p>
            <a:r>
              <a:rPr lang="en-US" dirty="0"/>
              <a:t>length of “dump window”</a:t>
            </a:r>
          </a:p>
          <a:p>
            <a:r>
              <a:rPr lang="en-US" dirty="0"/>
              <a:t>amount of redundancy</a:t>
            </a:r>
          </a:p>
          <a:p>
            <a:r>
              <a:rPr lang="en-US" dirty="0"/>
              <a:t>number of tapes available </a:t>
            </a:r>
          </a:p>
          <a:p>
            <a:r>
              <a:rPr lang="en-US" dirty="0"/>
              <a:t>how far back you must be able to recover</a:t>
            </a:r>
          </a:p>
        </p:txBody>
      </p:sp>
    </p:spTree>
    <p:extLst>
      <p:ext uri="{BB962C8B-B14F-4D97-AF65-F5344CB8AC3E}">
        <p14:creationId xmlns:p14="http://schemas.microsoft.com/office/powerpoint/2010/main" val="3337008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F8D1E-7CD1-44D4-87B6-B66C17C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Device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77AAC-645F-4877-9C1F-329E5DE5C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hlinkClick r:id="rId2"/>
              </a:rPr>
              <a:t>Linux Naming Convention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/dev directory</a:t>
            </a:r>
          </a:p>
          <a:p>
            <a:r>
              <a:rPr lang="en-US" dirty="0"/>
              <a:t>fd0 – Floppy Drives (if you know what those are)</a:t>
            </a:r>
          </a:p>
          <a:p>
            <a:r>
              <a:rPr lang="en-US" dirty="0" err="1"/>
              <a:t>sda</a:t>
            </a:r>
            <a:r>
              <a:rPr lang="en-US" dirty="0"/>
              <a:t> (First SCSI or SATA Hard Disk)</a:t>
            </a:r>
          </a:p>
          <a:p>
            <a:r>
              <a:rPr lang="en-US" dirty="0" err="1"/>
              <a:t>sdb</a:t>
            </a:r>
            <a:r>
              <a:rPr lang="en-US" dirty="0"/>
              <a:t> (Second SCSI or SATA Hard Disk)</a:t>
            </a:r>
          </a:p>
          <a:p>
            <a:r>
              <a:rPr lang="en-US" dirty="0"/>
              <a:t>scd0/sr0 – CD-ROM</a:t>
            </a:r>
          </a:p>
          <a:p>
            <a:r>
              <a:rPr lang="en-US" dirty="0"/>
              <a:t>mmcblk0 – SDHC/PCMCIA – </a:t>
            </a:r>
            <a:r>
              <a:rPr lang="en-US" dirty="0" err="1"/>
              <a:t>mvne</a:t>
            </a:r>
            <a:r>
              <a:rPr lang="en-US" dirty="0"/>
              <a:t> </a:t>
            </a:r>
            <a:r>
              <a:rPr lang="en-US" dirty="0" err="1"/>
              <a:t>ssds</a:t>
            </a:r>
            <a:endParaRPr lang="en-US" dirty="0"/>
          </a:p>
          <a:p>
            <a:r>
              <a:rPr lang="en-US" dirty="0"/>
              <a:t>Partitions are represented by appending a decimal number:</a:t>
            </a:r>
          </a:p>
          <a:p>
            <a:pPr lvl="1"/>
            <a:r>
              <a:rPr lang="en-US" dirty="0"/>
              <a:t>sda1 and sda2 represent the first and second partitions of the first SCSI disk drive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364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EAAB-BD0B-4929-B30E-F13A46C7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261D7-DA7D-41EF-9790-CEF954D35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Get information about available disks:</a:t>
            </a:r>
          </a:p>
          <a:p>
            <a:r>
              <a:rPr lang="en-US" dirty="0"/>
              <a:t>df command</a:t>
            </a:r>
          </a:p>
          <a:p>
            <a:pPr lvl="1"/>
            <a:r>
              <a:rPr lang="en-US" dirty="0"/>
              <a:t>Disk space usage</a:t>
            </a:r>
          </a:p>
          <a:p>
            <a:r>
              <a:rPr lang="en-US" dirty="0" err="1"/>
              <a:t>lsblk</a:t>
            </a:r>
            <a:r>
              <a:rPr lang="en-US" dirty="0"/>
              <a:t> command</a:t>
            </a:r>
          </a:p>
          <a:p>
            <a:pPr lvl="1"/>
            <a:r>
              <a:rPr lang="en-US" dirty="0"/>
              <a:t>List the block devices connected</a:t>
            </a:r>
          </a:p>
          <a:p>
            <a:r>
              <a:rPr lang="en-US" dirty="0" err="1"/>
              <a:t>lsusb</a:t>
            </a:r>
            <a:r>
              <a:rPr lang="en-US" dirty="0"/>
              <a:t> command</a:t>
            </a:r>
          </a:p>
          <a:p>
            <a:r>
              <a:rPr lang="en-US" dirty="0" err="1"/>
              <a:t>fdisk</a:t>
            </a:r>
            <a:endParaRPr lang="en-US" dirty="0"/>
          </a:p>
          <a:p>
            <a:pPr lvl="1"/>
            <a:r>
              <a:rPr lang="en-US" dirty="0"/>
              <a:t>Used to partition disks</a:t>
            </a:r>
          </a:p>
        </p:txBody>
      </p:sp>
    </p:spTree>
    <p:extLst>
      <p:ext uri="{BB962C8B-B14F-4D97-AF65-F5344CB8AC3E}">
        <p14:creationId xmlns:p14="http://schemas.microsoft.com/office/powerpoint/2010/main" val="3436952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8521E-C268-4F5C-AE1C-F192E03E0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new drives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CCFF-DEC6-476B-90E4-CD9A04D82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Physically add drives</a:t>
            </a:r>
          </a:p>
          <a:p>
            <a:r>
              <a:rPr lang="en-US" dirty="0"/>
              <a:t>Create entries in /dev</a:t>
            </a:r>
          </a:p>
          <a:p>
            <a:pPr lvl="1"/>
            <a:r>
              <a:rPr lang="en-US" dirty="0" err="1"/>
              <a:t>mknod</a:t>
            </a:r>
            <a:r>
              <a:rPr lang="en-US" dirty="0"/>
              <a:t> command</a:t>
            </a:r>
          </a:p>
          <a:p>
            <a:r>
              <a:rPr lang="en-US" dirty="0"/>
              <a:t>format the drive</a:t>
            </a:r>
          </a:p>
          <a:p>
            <a:r>
              <a:rPr lang="en-US" dirty="0" err="1"/>
              <a:t>mkfs</a:t>
            </a:r>
            <a:r>
              <a:rPr lang="en-US" dirty="0"/>
              <a:t> (make the file system)</a:t>
            </a:r>
          </a:p>
          <a:p>
            <a:r>
              <a:rPr lang="en-US" dirty="0"/>
              <a:t>Add entry to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r>
              <a:rPr lang="en-US" dirty="0"/>
              <a:t> (optional)</a:t>
            </a:r>
          </a:p>
          <a:p>
            <a:pPr lvl="1"/>
            <a:r>
              <a:rPr lang="en-US" dirty="0"/>
              <a:t>Allows for mounting devices at start time</a:t>
            </a:r>
          </a:p>
        </p:txBody>
      </p:sp>
    </p:spTree>
    <p:extLst>
      <p:ext uri="{BB962C8B-B14F-4D97-AF65-F5344CB8AC3E}">
        <p14:creationId xmlns:p14="http://schemas.microsoft.com/office/powerpoint/2010/main" val="1094804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5194-D96D-4566-8BDA-131964D26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Mounting Filesystem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65D97-17FF-4DF6-9626-614B1AD7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mount [-r] [device] &lt;directory&gt;</a:t>
            </a:r>
          </a:p>
          <a:p>
            <a:pPr lvl="1"/>
            <a:r>
              <a:rPr lang="en-US" dirty="0"/>
              <a:t>uses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endParaRPr lang="en-US" dirty="0"/>
          </a:p>
          <a:p>
            <a:pPr lvl="1"/>
            <a:r>
              <a:rPr lang="en-US" dirty="0"/>
              <a:t>-r for read only</a:t>
            </a:r>
          </a:p>
          <a:p>
            <a:r>
              <a:rPr lang="en-US" dirty="0"/>
              <a:t>mount –t type [device] &lt;directory&gt;</a:t>
            </a:r>
          </a:p>
          <a:p>
            <a:pPr lvl="1"/>
            <a:r>
              <a:rPr lang="en-US" dirty="0"/>
              <a:t>specify the type of device</a:t>
            </a:r>
          </a:p>
          <a:p>
            <a:r>
              <a:rPr lang="en-US" dirty="0"/>
              <a:t>mount [-f </a:t>
            </a:r>
            <a:r>
              <a:rPr lang="en-US" dirty="0" err="1"/>
              <a:t>filesystem_types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“Fake” don’t actually mount anything</a:t>
            </a:r>
          </a:p>
          <a:p>
            <a:pPr lvl="1"/>
            <a:r>
              <a:rPr lang="en-US" dirty="0"/>
              <a:t>See what mount is trying to do,</a:t>
            </a:r>
          </a:p>
          <a:p>
            <a:pPr lvl="1"/>
            <a:r>
              <a:rPr lang="en-US" dirty="0"/>
              <a:t>Add an entries to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mtab</a:t>
            </a:r>
            <a:r>
              <a:rPr lang="en-US" dirty="0"/>
              <a:t> </a:t>
            </a:r>
          </a:p>
          <a:p>
            <a:r>
              <a:rPr lang="en-US" dirty="0" err="1"/>
              <a:t>mountall</a:t>
            </a:r>
            <a:endParaRPr lang="en-US" dirty="0"/>
          </a:p>
          <a:p>
            <a:pPr lvl="1"/>
            <a:r>
              <a:rPr lang="en-US" dirty="0"/>
              <a:t>called during boot process</a:t>
            </a:r>
          </a:p>
          <a:p>
            <a:pPr lvl="1"/>
            <a:r>
              <a:rPr lang="en-US" dirty="0"/>
              <a:t>uses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r>
              <a:rPr lang="en-US" dirty="0"/>
              <a:t> to get disk info</a:t>
            </a:r>
          </a:p>
        </p:txBody>
      </p:sp>
    </p:spTree>
    <p:extLst>
      <p:ext uri="{BB962C8B-B14F-4D97-AF65-F5344CB8AC3E}">
        <p14:creationId xmlns:p14="http://schemas.microsoft.com/office/powerpoint/2010/main" val="1553348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8200-72DC-44BC-B669-BD52842F8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Unmount Filesystems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6A03C-1640-4B4E-A7C4-CCD8C8A97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umount</a:t>
            </a:r>
            <a:r>
              <a:rPr lang="en-US" dirty="0"/>
              <a:t> &lt;filesystem&gt;</a:t>
            </a:r>
          </a:p>
          <a:p>
            <a:r>
              <a:rPr lang="en-US" dirty="0" err="1"/>
              <a:t>umountall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800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A9BB-B95A-431E-9967-6FDFE643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Filesystem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A90E0-3A09-4A89-B75A-A95EBD04F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is using a file a directory or a socket?</a:t>
            </a:r>
          </a:p>
          <a:p>
            <a:pPr lvl="1"/>
            <a:r>
              <a:rPr lang="en-US" dirty="0"/>
              <a:t>fuser [-u] [-k] &lt;device&gt;</a:t>
            </a:r>
          </a:p>
          <a:p>
            <a:pPr marL="914400" lvl="2" indent="0">
              <a:buNone/>
            </a:pPr>
            <a:r>
              <a:rPr lang="en-US" dirty="0"/>
              <a:t>-u for user</a:t>
            </a:r>
          </a:p>
          <a:p>
            <a:pPr marL="914400" lvl="2" indent="0">
              <a:buNone/>
            </a:pPr>
            <a:r>
              <a:rPr lang="en-US" dirty="0"/>
              <a:t>-k kills the process using the device</a:t>
            </a:r>
          </a:p>
          <a:p>
            <a:pPr marL="914400" lvl="2" indent="0">
              <a:buNone/>
            </a:pPr>
            <a:r>
              <a:rPr lang="en-US" dirty="0"/>
              <a:t>-v is verbose</a:t>
            </a:r>
          </a:p>
          <a:p>
            <a:r>
              <a:rPr lang="en-US" dirty="0"/>
              <a:t>Checking a filesystem</a:t>
            </a:r>
          </a:p>
          <a:p>
            <a:pPr lvl="1"/>
            <a:r>
              <a:rPr lang="en-US" dirty="0" err="1"/>
              <a:t>fsck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397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B7B73-2279-43B1-A6E0-F99561DD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fsck</a:t>
            </a:r>
            <a:r>
              <a:rPr lang="en-US" dirty="0"/>
              <a:t>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8E00E-2BE0-4083-A751-FFBDE75B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Fixes damaged or inconsistent </a:t>
            </a:r>
            <a:r>
              <a:rPr lang="en-US" dirty="0" err="1"/>
              <a:t>indoes</a:t>
            </a:r>
            <a:endParaRPr lang="en-US" dirty="0"/>
          </a:p>
          <a:p>
            <a:r>
              <a:rPr lang="en-US" dirty="0"/>
              <a:t>unreferenced </a:t>
            </a:r>
            <a:r>
              <a:rPr lang="en-US" dirty="0" err="1"/>
              <a:t>inodes</a:t>
            </a:r>
            <a:endParaRPr lang="en-US" dirty="0"/>
          </a:p>
          <a:p>
            <a:r>
              <a:rPr lang="en-US" dirty="0"/>
              <a:t>large link counts</a:t>
            </a:r>
          </a:p>
          <a:p>
            <a:r>
              <a:rPr lang="en-US" dirty="0"/>
              <a:t>unused data blocks not recorded in block maps</a:t>
            </a:r>
          </a:p>
          <a:p>
            <a:r>
              <a:rPr lang="en-US" dirty="0"/>
              <a:t>data blocks listed as free but also used in a file</a:t>
            </a:r>
          </a:p>
          <a:p>
            <a:r>
              <a:rPr lang="en-US" dirty="0"/>
              <a:t>incorrect summary info in a superblock</a:t>
            </a:r>
          </a:p>
        </p:txBody>
      </p:sp>
    </p:spTree>
    <p:extLst>
      <p:ext uri="{BB962C8B-B14F-4D97-AF65-F5344CB8AC3E}">
        <p14:creationId xmlns:p14="http://schemas.microsoft.com/office/powerpoint/2010/main" val="3660165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CB978-23B8-445D-BE48-FFCD712F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5CE78-003A-400C-BBC6-02A70AC7C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up user quotas (Place a limit on disk space usage available to user(s))</a:t>
            </a:r>
          </a:p>
          <a:p>
            <a:r>
              <a:rPr lang="en-US" dirty="0" err="1"/>
              <a:t>rq</a:t>
            </a:r>
            <a:r>
              <a:rPr lang="en-US" dirty="0"/>
              <a:t> in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endParaRPr lang="en-US" dirty="0"/>
          </a:p>
          <a:p>
            <a:r>
              <a:rPr lang="en-US" dirty="0"/>
              <a:t>create a quotas file in the affected filesystem</a:t>
            </a:r>
          </a:p>
          <a:p>
            <a:endParaRPr lang="en-US" dirty="0"/>
          </a:p>
          <a:p>
            <a:r>
              <a:rPr lang="en-US" dirty="0" err="1"/>
              <a:t>edquotea</a:t>
            </a:r>
            <a:endParaRPr lang="en-US" dirty="0"/>
          </a:p>
          <a:p>
            <a:pPr lvl="1"/>
            <a:r>
              <a:rPr lang="en-US" dirty="0"/>
              <a:t>Allows for editing of quotas</a:t>
            </a:r>
          </a:p>
          <a:p>
            <a:r>
              <a:rPr lang="en-US" dirty="0"/>
              <a:t>quota</a:t>
            </a:r>
          </a:p>
          <a:p>
            <a:pPr lvl="1"/>
            <a:r>
              <a:rPr lang="en-US" dirty="0"/>
              <a:t>display quotas</a:t>
            </a:r>
          </a:p>
        </p:txBody>
      </p:sp>
    </p:spTree>
    <p:extLst>
      <p:ext uri="{BB962C8B-B14F-4D97-AF65-F5344CB8AC3E}">
        <p14:creationId xmlns:p14="http://schemas.microsoft.com/office/powerpoint/2010/main" val="234627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F9DB-0B49-4CF8-9502-C44701FE8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File Systems - NFS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24082-0575-42EA-8B16-60EAAB884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Allows access to storage devices over a network</a:t>
            </a:r>
          </a:p>
          <a:p>
            <a:pPr lvl="1"/>
            <a:r>
              <a:rPr lang="en-US" dirty="0"/>
              <a:t>Appears to be connected locally</a:t>
            </a:r>
          </a:p>
          <a:p>
            <a:pPr lvl="1"/>
            <a:r>
              <a:rPr lang="en-US" dirty="0"/>
              <a:t>Runs on RPC protocol (Remote Procedure Call)</a:t>
            </a:r>
          </a:p>
          <a:p>
            <a:endParaRPr lang="en-US" dirty="0"/>
          </a:p>
          <a:p>
            <a:r>
              <a:rPr lang="en-US" dirty="0"/>
              <a:t>daemons</a:t>
            </a:r>
          </a:p>
          <a:p>
            <a:pPr lvl="1"/>
            <a:r>
              <a:rPr lang="en-US" dirty="0" err="1"/>
              <a:t>nfsd</a:t>
            </a:r>
            <a:r>
              <a:rPr lang="en-US" dirty="0"/>
              <a:t>, </a:t>
            </a:r>
            <a:r>
              <a:rPr lang="en-US" dirty="0" err="1"/>
              <a:t>mountd</a:t>
            </a:r>
            <a:r>
              <a:rPr lang="en-US" dirty="0"/>
              <a:t>, </a:t>
            </a:r>
            <a:r>
              <a:rPr lang="en-US" dirty="0" err="1"/>
              <a:t>statd</a:t>
            </a:r>
            <a:r>
              <a:rPr lang="en-US" dirty="0"/>
              <a:t>, </a:t>
            </a:r>
            <a:r>
              <a:rPr lang="en-US" dirty="0" err="1"/>
              <a:t>lockd</a:t>
            </a:r>
            <a:r>
              <a:rPr lang="en-US" dirty="0"/>
              <a:t>, </a:t>
            </a:r>
            <a:r>
              <a:rPr lang="en-US" dirty="0" err="1"/>
              <a:t>nfslogd</a:t>
            </a:r>
            <a:endParaRPr lang="en-US" dirty="0"/>
          </a:p>
          <a:p>
            <a:pPr lvl="1"/>
            <a:r>
              <a:rPr lang="en-US" dirty="0"/>
              <a:t>start when system enters multiuser mode</a:t>
            </a:r>
          </a:p>
          <a:p>
            <a:pPr lvl="1"/>
            <a:endParaRPr lang="en-US" dirty="0"/>
          </a:p>
          <a:p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/exports</a:t>
            </a:r>
          </a:p>
          <a:p>
            <a:pPr marL="457200" lvl="1" indent="0">
              <a:buNone/>
            </a:pPr>
            <a:r>
              <a:rPr lang="en-US" dirty="0"/>
              <a:t>Specifies exported file systems and hosts permitted to access them</a:t>
            </a:r>
          </a:p>
        </p:txBody>
      </p:sp>
    </p:spTree>
    <p:extLst>
      <p:ext uri="{BB962C8B-B14F-4D97-AF65-F5344CB8AC3E}">
        <p14:creationId xmlns:p14="http://schemas.microsoft.com/office/powerpoint/2010/main" val="575701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F11B5-09B3-47E4-A5F4-1F87D757D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A4DCE-131D-489B-8392-84CEC8BB2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Loading and initialization of the kernel</a:t>
            </a:r>
          </a:p>
          <a:p>
            <a:r>
              <a:rPr lang="en-US" dirty="0"/>
              <a:t>Device detection and configuration</a:t>
            </a:r>
          </a:p>
          <a:p>
            <a:r>
              <a:rPr lang="en-US" dirty="0"/>
              <a:t>Creation of system processes</a:t>
            </a:r>
          </a:p>
          <a:p>
            <a:r>
              <a:rPr lang="en-US" dirty="0"/>
              <a:t>Operator intervention (manual boot only)</a:t>
            </a:r>
          </a:p>
          <a:p>
            <a:r>
              <a:rPr lang="en-US" dirty="0"/>
              <a:t>Execution of startup scripts (by </a:t>
            </a:r>
            <a:r>
              <a:rPr lang="en-US" dirty="0" err="1"/>
              <a:t>init</a:t>
            </a:r>
            <a:r>
              <a:rPr lang="en-US" dirty="0"/>
              <a:t>)</a:t>
            </a:r>
          </a:p>
          <a:p>
            <a:r>
              <a:rPr lang="en-US" dirty="0"/>
              <a:t>Multiuser operation (</a:t>
            </a:r>
            <a:r>
              <a:rPr lang="en-US" dirty="0" err="1"/>
              <a:t>init</a:t>
            </a:r>
            <a:r>
              <a:rPr lang="en-US" dirty="0"/>
              <a:t> spawns </a:t>
            </a:r>
            <a:r>
              <a:rPr lang="en-US" dirty="0" err="1"/>
              <a:t>getty</a:t>
            </a:r>
            <a:r>
              <a:rPr lang="en-US" dirty="0"/>
              <a:t> process)</a:t>
            </a:r>
          </a:p>
        </p:txBody>
      </p:sp>
    </p:spTree>
    <p:extLst>
      <p:ext uri="{BB962C8B-B14F-4D97-AF65-F5344CB8AC3E}">
        <p14:creationId xmlns:p14="http://schemas.microsoft.com/office/powerpoint/2010/main" val="3389006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03BC-0BCB-4004-AFF8-E5580C1F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</a:t>
            </a:r>
            <a:r>
              <a:rPr lang="en-US" dirty="0"/>
              <a:t>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21767-B123-40DE-9DFD-0A4777C5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(Run Levels)</a:t>
            </a:r>
          </a:p>
          <a:p>
            <a:endParaRPr lang="en-US" dirty="0"/>
          </a:p>
          <a:p>
            <a:r>
              <a:rPr lang="en-US" dirty="0"/>
              <a:t>0 system is completely shut down</a:t>
            </a:r>
          </a:p>
          <a:p>
            <a:r>
              <a:rPr lang="en-US" dirty="0"/>
              <a:t>1 single-user mode (administration)</a:t>
            </a:r>
          </a:p>
          <a:p>
            <a:r>
              <a:rPr lang="en-US" dirty="0"/>
              <a:t>2 multi-user mode without NFS (networking)</a:t>
            </a:r>
          </a:p>
          <a:p>
            <a:r>
              <a:rPr lang="en-US" dirty="0"/>
              <a:t>3 full multi-user mode with networking</a:t>
            </a:r>
          </a:p>
          <a:p>
            <a:r>
              <a:rPr lang="en-US" dirty="0"/>
              <a:t>4 unused</a:t>
            </a:r>
          </a:p>
          <a:p>
            <a:r>
              <a:rPr lang="en-US" dirty="0"/>
              <a:t>5 full multi-user mode with networking and X11 (GUI)</a:t>
            </a:r>
          </a:p>
          <a:p>
            <a:r>
              <a:rPr lang="en-US" dirty="0"/>
              <a:t>6 reboot</a:t>
            </a:r>
          </a:p>
          <a:p>
            <a:endParaRPr lang="en-US" dirty="0"/>
          </a:p>
          <a:p>
            <a:r>
              <a:rPr lang="en-US" dirty="0"/>
              <a:t>startup scripts are defined in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rc</a:t>
            </a:r>
            <a:r>
              <a:rPr lang="en-US" dirty="0"/>
              <a:t>#.d</a:t>
            </a:r>
          </a:p>
          <a:p>
            <a:r>
              <a:rPr lang="en-US" dirty="0"/>
              <a:t>commands in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rc.local</a:t>
            </a:r>
            <a:r>
              <a:rPr lang="en-US" dirty="0"/>
              <a:t> will execute on a </a:t>
            </a:r>
            <a:r>
              <a:rPr lang="en-US" dirty="0" err="1"/>
              <a:t>runlevel</a:t>
            </a:r>
            <a:r>
              <a:rPr lang="en-US" dirty="0"/>
              <a:t> change</a:t>
            </a:r>
          </a:p>
        </p:txBody>
      </p:sp>
    </p:spTree>
    <p:extLst>
      <p:ext uri="{BB962C8B-B14F-4D97-AF65-F5344CB8AC3E}">
        <p14:creationId xmlns:p14="http://schemas.microsoft.com/office/powerpoint/2010/main" val="163299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E95EC-A324-4D45-B890-5E3192110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Startup Script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418E3-92D1-4CDA-A954-258998907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the name of the computer</a:t>
            </a:r>
          </a:p>
          <a:p>
            <a:r>
              <a:rPr lang="en-US" dirty="0"/>
              <a:t>setting the </a:t>
            </a:r>
            <a:r>
              <a:rPr lang="en-US" dirty="0" err="1"/>
              <a:t>timezone</a:t>
            </a:r>
            <a:endParaRPr lang="en-US" dirty="0"/>
          </a:p>
          <a:p>
            <a:r>
              <a:rPr lang="en-US" dirty="0"/>
              <a:t>checking the disks with </a:t>
            </a:r>
            <a:r>
              <a:rPr lang="en-US" dirty="0" err="1"/>
              <a:t>fsck</a:t>
            </a:r>
            <a:endParaRPr lang="en-US" dirty="0"/>
          </a:p>
          <a:p>
            <a:r>
              <a:rPr lang="en-US" dirty="0"/>
              <a:t>mounting the system’s disks</a:t>
            </a:r>
          </a:p>
          <a:p>
            <a:r>
              <a:rPr lang="en-US" dirty="0"/>
              <a:t>removing old files in /</a:t>
            </a:r>
            <a:r>
              <a:rPr lang="en-US" dirty="0" err="1"/>
              <a:t>tmp</a:t>
            </a:r>
            <a:endParaRPr lang="en-US" dirty="0"/>
          </a:p>
          <a:p>
            <a:r>
              <a:rPr lang="en-US" dirty="0"/>
              <a:t>configuring network interfaces</a:t>
            </a:r>
          </a:p>
          <a:p>
            <a:r>
              <a:rPr lang="en-US" dirty="0"/>
              <a:t>starting up daemons and network services</a:t>
            </a:r>
          </a:p>
        </p:txBody>
      </p:sp>
    </p:spTree>
    <p:extLst>
      <p:ext uri="{BB962C8B-B14F-4D97-AF65-F5344CB8AC3E}">
        <p14:creationId xmlns:p14="http://schemas.microsoft.com/office/powerpoint/2010/main" val="2334580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E96E-AAEA-46F1-9E77-FDBA08FE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Shutdown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43267-DCEA-434C-ADE8-68F5A5613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logs shutdown</a:t>
            </a:r>
          </a:p>
          <a:p>
            <a:r>
              <a:rPr lang="en-US" dirty="0"/>
              <a:t>kills nonessential processes</a:t>
            </a:r>
          </a:p>
          <a:p>
            <a:r>
              <a:rPr lang="en-US" dirty="0"/>
              <a:t>executes sync</a:t>
            </a:r>
          </a:p>
          <a:p>
            <a:r>
              <a:rPr lang="en-US" dirty="0"/>
              <a:t>waits for filesystem writes to complete</a:t>
            </a:r>
          </a:p>
          <a:p>
            <a:r>
              <a:rPr lang="en-US" dirty="0"/>
              <a:t>halts the kernel</a:t>
            </a:r>
          </a:p>
        </p:txBody>
      </p:sp>
    </p:spTree>
    <p:extLst>
      <p:ext uri="{BB962C8B-B14F-4D97-AF65-F5344CB8AC3E}">
        <p14:creationId xmlns:p14="http://schemas.microsoft.com/office/powerpoint/2010/main" val="2371964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ABAB-9F23-4598-B0D9-4FE5C433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Shutdown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1D43E-0083-4656-A63A-D0DE9046F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shutdown [TIME] [message]</a:t>
            </a:r>
          </a:p>
          <a:p>
            <a:r>
              <a:rPr lang="en-US" dirty="0"/>
              <a:t>halt</a:t>
            </a:r>
          </a:p>
          <a:p>
            <a:r>
              <a:rPr lang="en-US" dirty="0"/>
              <a:t>reboot [-p] (-p for </a:t>
            </a:r>
            <a:r>
              <a:rPr lang="en-US" dirty="0" err="1"/>
              <a:t>poweroff</a:t>
            </a:r>
            <a:r>
              <a:rPr lang="en-US" dirty="0"/>
              <a:t>)</a:t>
            </a:r>
          </a:p>
          <a:p>
            <a:r>
              <a:rPr lang="en-US" dirty="0" err="1"/>
              <a:t>init</a:t>
            </a:r>
            <a:r>
              <a:rPr lang="en-US" dirty="0"/>
              <a:t> &lt;</a:t>
            </a:r>
            <a:r>
              <a:rPr lang="en-US" dirty="0" err="1"/>
              <a:t>run_level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Usually a command ran by the kernel</a:t>
            </a:r>
          </a:p>
          <a:p>
            <a:pPr lvl="1"/>
            <a:r>
              <a:rPr lang="en-US" dirty="0"/>
              <a:t>Can be used by root to restart at the given </a:t>
            </a:r>
            <a:r>
              <a:rPr lang="en-US" dirty="0" err="1"/>
              <a:t>run_level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334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DAE8-0B59-4CA4-9062-92387364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C3DC2-EAB9-45CB-8B38-40E3F64F2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flushes cached superblocks to disk</a:t>
            </a:r>
          </a:p>
          <a:p>
            <a:r>
              <a:rPr lang="en-US" dirty="0"/>
              <a:t>flushes modified </a:t>
            </a:r>
            <a:r>
              <a:rPr lang="en-US" dirty="0" err="1"/>
              <a:t>inodes</a:t>
            </a:r>
            <a:r>
              <a:rPr lang="en-US" dirty="0"/>
              <a:t> and cached data blocks</a:t>
            </a:r>
          </a:p>
        </p:txBody>
      </p:sp>
    </p:spTree>
    <p:extLst>
      <p:ext uri="{BB962C8B-B14F-4D97-AF65-F5344CB8AC3E}">
        <p14:creationId xmlns:p14="http://schemas.microsoft.com/office/powerpoint/2010/main" val="3995239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C6A7A-D262-4211-976A-00787F74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7BB51-A471-4B8F-8A4A-5BFFEC5B5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Updates the system files</a:t>
            </a:r>
          </a:p>
          <a:p>
            <a:r>
              <a:rPr lang="en-US" dirty="0"/>
              <a:t>Correct errors or provide security fix</a:t>
            </a:r>
          </a:p>
          <a:p>
            <a:endParaRPr lang="en-US" dirty="0"/>
          </a:p>
          <a:p>
            <a:r>
              <a:rPr lang="en-US" dirty="0"/>
              <a:t>patch</a:t>
            </a:r>
          </a:p>
        </p:txBody>
      </p:sp>
    </p:spTree>
    <p:extLst>
      <p:ext uri="{BB962C8B-B14F-4D97-AF65-F5344CB8AC3E}">
        <p14:creationId xmlns:p14="http://schemas.microsoft.com/office/powerpoint/2010/main" val="1553883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57CE5-CE9D-44BD-BBE9-570B998BA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7A34-B88D-428B-B988-0CD469930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</a:t>
            </a:r>
          </a:p>
          <a:p>
            <a:r>
              <a:rPr lang="en-US" dirty="0"/>
              <a:t>Source Code</a:t>
            </a:r>
          </a:p>
          <a:p>
            <a:r>
              <a:rPr lang="en-US" dirty="0"/>
              <a:t>Download Packages</a:t>
            </a:r>
          </a:p>
          <a:p>
            <a:pPr lvl="1"/>
            <a:r>
              <a:rPr lang="en-US" dirty="0"/>
              <a:t>deb </a:t>
            </a:r>
            <a:r>
              <a:rPr lang="en-US" dirty="0">
                <a:sym typeface="Wingdings" panose="05000000000000000000" pitchFamily="2" charset="2"/>
              </a:rPr>
              <a:t> tar file with information to install a system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System Package Managers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507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AF5EC-DC90-46BE-84ED-F19CE3E3D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Software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D6594-3040-4EE9-8567-5C6D9591B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yum</a:t>
            </a:r>
          </a:p>
          <a:p>
            <a:endParaRPr lang="en-US" dirty="0"/>
          </a:p>
          <a:p>
            <a:r>
              <a:rPr lang="en-US" dirty="0"/>
              <a:t>apt-get</a:t>
            </a:r>
          </a:p>
        </p:txBody>
      </p:sp>
    </p:spTree>
    <p:extLst>
      <p:ext uri="{BB962C8B-B14F-4D97-AF65-F5344CB8AC3E}">
        <p14:creationId xmlns:p14="http://schemas.microsoft.com/office/powerpoint/2010/main" val="2671627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9CA11-46C9-4D96-9762-0D2E401E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yum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B3E0981-6612-4D4B-A9EC-88B343074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982364"/>
              </p:ext>
            </p:extLst>
          </p:nvPr>
        </p:nvGraphicFramePr>
        <p:xfrm>
          <a:off x="677690" y="1353066"/>
          <a:ext cx="8596312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911794023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004025776"/>
                    </a:ext>
                  </a:extLst>
                </a:gridCol>
              </a:tblGrid>
              <a:tr h="376663">
                <a:tc>
                  <a:txBody>
                    <a:bodyPr/>
                    <a:lstStyle/>
                    <a:p>
                      <a:r>
                        <a:rPr lang="en-US" dirty="0"/>
                        <a:t>yum install &lt;</a:t>
                      </a:r>
                      <a:r>
                        <a:rPr lang="en-US" dirty="0" err="1"/>
                        <a:t>packageName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Allows for installing a package and any dependencies (Required Packages)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393889"/>
                  </a:ext>
                </a:extLst>
              </a:tr>
              <a:tr h="376663">
                <a:tc>
                  <a:txBody>
                    <a:bodyPr/>
                    <a:lstStyle/>
                    <a:p>
                      <a:r>
                        <a:rPr lang="en-US" dirty="0"/>
                        <a:t>yum update &lt;</a:t>
                      </a:r>
                      <a:r>
                        <a:rPr lang="en-US" dirty="0" err="1"/>
                        <a:t>packageName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a specific package or all packages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919760"/>
                  </a:ext>
                </a:extLst>
              </a:tr>
              <a:tr h="376663">
                <a:tc>
                  <a:txBody>
                    <a:bodyPr/>
                    <a:lstStyle/>
                    <a:p>
                      <a:r>
                        <a:rPr lang="en-US" dirty="0"/>
                        <a:t>yum check-update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packages that have updates available to them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796068"/>
                  </a:ext>
                </a:extLst>
              </a:tr>
              <a:tr h="538091">
                <a:tc>
                  <a:txBody>
                    <a:bodyPr/>
                    <a:lstStyle/>
                    <a:p>
                      <a:r>
                        <a:rPr lang="en-US" dirty="0"/>
                        <a:t>yum clean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 all header files used for resolving dependencies and cached packages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705711"/>
                  </a:ext>
                </a:extLst>
              </a:tr>
              <a:tr h="218226">
                <a:tc>
                  <a:txBody>
                    <a:bodyPr/>
                    <a:lstStyle/>
                    <a:p>
                      <a:r>
                        <a:rPr lang="en-US" dirty="0"/>
                        <a:t>yum list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all available packages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668763"/>
                  </a:ext>
                </a:extLst>
              </a:tr>
              <a:tr h="376663">
                <a:tc>
                  <a:txBody>
                    <a:bodyPr/>
                    <a:lstStyle/>
                    <a:p>
                      <a:r>
                        <a:rPr lang="en-US" dirty="0"/>
                        <a:t>yum search &lt;word&gt;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Search's for words in a package name,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3389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FAC6C1-1ED0-4B43-B22F-CB11DBA14ACD}"/>
              </a:ext>
            </a:extLst>
          </p:cNvPr>
          <p:cNvSpPr txBox="1"/>
          <p:nvPr/>
        </p:nvSpPr>
        <p:spPr>
          <a:xfrm>
            <a:off x="677335" y="5337958"/>
            <a:ext cx="372247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Groups of packages</a:t>
            </a:r>
          </a:p>
          <a:p>
            <a:r>
              <a:rPr lang="en-US" sz="1600" dirty="0"/>
              <a:t>	yum </a:t>
            </a:r>
            <a:r>
              <a:rPr lang="en-US" sz="1600" dirty="0" err="1"/>
              <a:t>grouplist</a:t>
            </a:r>
            <a:endParaRPr lang="en-US" sz="1600" dirty="0"/>
          </a:p>
          <a:p>
            <a:r>
              <a:rPr lang="en-US" sz="1600" dirty="0"/>
              <a:t>	yum </a:t>
            </a:r>
            <a:r>
              <a:rPr lang="en-US" sz="1600" dirty="0" err="1"/>
              <a:t>groupinfo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Configuration File: </a:t>
            </a:r>
            <a:r>
              <a:rPr lang="en-US" sz="1600" dirty="0" err="1"/>
              <a:t>yum.conf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4044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6C8B-93BE-41A2-915F-899204D2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apt-get (apt)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D3DBCC6-704A-4C23-89E2-DC43C67144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1429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673532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40321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apt update</a:t>
                      </a:r>
                    </a:p>
                  </a:txBody>
                  <a:tcPr marL="111856" marR="11185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local package list</a:t>
                      </a:r>
                    </a:p>
                  </a:txBody>
                  <a:tcPr marL="111856" marR="111856"/>
                </a:tc>
                <a:extLst>
                  <a:ext uri="{0D108BD9-81ED-4DB2-BD59-A6C34878D82A}">
                    <a16:rowId xmlns:a16="http://schemas.microsoft.com/office/drawing/2014/main" val="1789635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apt check</a:t>
                      </a:r>
                    </a:p>
                  </a:txBody>
                  <a:tcPr marL="111856" marR="111856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11856" marR="111856"/>
                </a:tc>
                <a:extLst>
                  <a:ext uri="{0D108BD9-81ED-4DB2-BD59-A6C34878D82A}">
                    <a16:rowId xmlns:a16="http://schemas.microsoft.com/office/drawing/2014/main" val="4261261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apt install package</a:t>
                      </a:r>
                    </a:p>
                  </a:txBody>
                  <a:tcPr marL="111856" marR="111856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11856" marR="111856"/>
                </a:tc>
                <a:extLst>
                  <a:ext uri="{0D108BD9-81ED-4DB2-BD59-A6C34878D82A}">
                    <a16:rowId xmlns:a16="http://schemas.microsoft.com/office/drawing/2014/main" val="91103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apt remove package</a:t>
                      </a:r>
                    </a:p>
                  </a:txBody>
                  <a:tcPr marL="111856" marR="111856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11856" marR="111856"/>
                </a:tc>
                <a:extLst>
                  <a:ext uri="{0D108BD9-81ED-4DB2-BD59-A6C34878D82A}">
                    <a16:rowId xmlns:a16="http://schemas.microsoft.com/office/drawing/2014/main" val="293352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apt upgrade</a:t>
                      </a:r>
                    </a:p>
                  </a:txBody>
                  <a:tcPr marL="111856" marR="11185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Upgrade all packages on the system that don’t require any new packages</a:t>
                      </a:r>
                    </a:p>
                  </a:txBody>
                  <a:tcPr marL="111856" marR="111856"/>
                </a:tc>
                <a:extLst>
                  <a:ext uri="{0D108BD9-81ED-4DB2-BD59-A6C34878D82A}">
                    <a16:rowId xmlns:a16="http://schemas.microsoft.com/office/drawing/2014/main" val="1158561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apt </a:t>
                      </a:r>
                      <a:r>
                        <a:rPr lang="en-US" dirty="0" err="1"/>
                        <a:t>dist</a:t>
                      </a:r>
                      <a:r>
                        <a:rPr lang="en-US" dirty="0"/>
                        <a:t>-upgrade</a:t>
                      </a:r>
                    </a:p>
                  </a:txBody>
                  <a:tcPr marL="111856" marR="11185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Upgrade all packages on the system and install any new packages necessary</a:t>
                      </a:r>
                    </a:p>
                  </a:txBody>
                  <a:tcPr marL="111856" marR="111856"/>
                </a:tc>
                <a:extLst>
                  <a:ext uri="{0D108BD9-81ED-4DB2-BD59-A6C34878D82A}">
                    <a16:rowId xmlns:a16="http://schemas.microsoft.com/office/drawing/2014/main" val="268402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996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2D6E-B8D3-43D8-BBF3-6259D145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Daemon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084A2-9D8D-4A00-B684-D23594F25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background process that performs a specific function or system-related task</a:t>
            </a:r>
          </a:p>
        </p:txBody>
      </p:sp>
    </p:spTree>
    <p:extLst>
      <p:ext uri="{BB962C8B-B14F-4D97-AF65-F5344CB8AC3E}">
        <p14:creationId xmlns:p14="http://schemas.microsoft.com/office/powerpoint/2010/main" val="2367901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F800E-1D3B-4383-B747-3D1EF82A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SYSLOGD – System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40D1E-340F-4186-86E4-BFCAB44F5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Syslog – Standardized System for managing system log files</a:t>
            </a:r>
          </a:p>
          <a:p>
            <a:pPr lvl="1"/>
            <a:r>
              <a:rPr lang="en-US" dirty="0"/>
              <a:t>Programs write to special file (/dev/log)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syslogd</a:t>
            </a:r>
            <a:r>
              <a:rPr lang="en-US" dirty="0"/>
              <a:t> reads messages from the file</a:t>
            </a:r>
          </a:p>
          <a:p>
            <a:pPr lvl="1"/>
            <a:r>
              <a:rPr lang="en-US" dirty="0"/>
              <a:t>consults configuration file </a:t>
            </a:r>
            <a:r>
              <a:rPr lang="en-US" dirty="0" err="1"/>
              <a:t>syslog.conf</a:t>
            </a:r>
            <a:endParaRPr lang="en-US" dirty="0"/>
          </a:p>
          <a:p>
            <a:pPr lvl="1"/>
            <a:r>
              <a:rPr lang="en-US" dirty="0"/>
              <a:t>dispatches each message to appropriate destination</a:t>
            </a:r>
          </a:p>
          <a:p>
            <a:pPr lvl="1"/>
            <a:endParaRPr lang="en-US" dirty="0"/>
          </a:p>
          <a:p>
            <a:r>
              <a:rPr lang="en-US" dirty="0"/>
              <a:t>sysadmins should back up and maintain log files</a:t>
            </a:r>
          </a:p>
          <a:p>
            <a:r>
              <a:rPr lang="en-US" dirty="0">
                <a:hlinkClick r:id="rId2"/>
              </a:rPr>
              <a:t>More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7504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725EC8-440A-49CE-AACA-FF3345790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7430329" cy="4119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C7770A-01F5-471A-B888-BB6D9E0A5E60}"/>
              </a:ext>
            </a:extLst>
          </p:cNvPr>
          <p:cNvSpPr txBox="1"/>
          <p:nvPr/>
        </p:nvSpPr>
        <p:spPr>
          <a:xfrm>
            <a:off x="685800" y="762000"/>
            <a:ext cx="7402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SYSLOGD – Message Severity Levels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3901E1-4817-441C-AF2E-24D55907A984}"/>
              </a:ext>
            </a:extLst>
          </p:cNvPr>
          <p:cNvSpPr/>
          <p:nvPr/>
        </p:nvSpPr>
        <p:spPr>
          <a:xfrm>
            <a:off x="760708" y="5743842"/>
            <a:ext cx="7391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The meaning of severity levels other than 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Emergency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 and 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Debug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 are relative to the application. (Wikipedia)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76309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9C74-F308-4877-9E54-43A6CA34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inetd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9640B-59E8-4428-B96E-39C250A30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“super-server” daemon that manages other daemons</a:t>
            </a:r>
          </a:p>
          <a:p>
            <a:pPr lvl="1"/>
            <a:r>
              <a:rPr lang="en-US" dirty="0"/>
              <a:t>provides internet services</a:t>
            </a:r>
          </a:p>
          <a:p>
            <a:pPr lvl="1"/>
            <a:r>
              <a:rPr lang="en-US" dirty="0"/>
              <a:t>listens for traffic on designated ports</a:t>
            </a:r>
          </a:p>
          <a:p>
            <a:r>
              <a:rPr lang="en-US" dirty="0"/>
              <a:t>Consults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inetd.conf</a:t>
            </a:r>
            <a:r>
              <a:rPr lang="en-US" dirty="0"/>
              <a:t> to determine which network ports to listen to</a:t>
            </a:r>
          </a:p>
          <a:p>
            <a:r>
              <a:rPr lang="en-US" dirty="0"/>
              <a:t>Uses /</a:t>
            </a:r>
            <a:r>
              <a:rPr lang="en-US" dirty="0" err="1"/>
              <a:t>etc</a:t>
            </a:r>
            <a:r>
              <a:rPr lang="en-US" dirty="0"/>
              <a:t>/services or </a:t>
            </a:r>
            <a:r>
              <a:rPr lang="en-US" dirty="0" err="1"/>
              <a:t>portmap</a:t>
            </a:r>
            <a:r>
              <a:rPr lang="en-US" dirty="0"/>
              <a:t> daemon to map service names to port numbers</a:t>
            </a:r>
          </a:p>
        </p:txBody>
      </p:sp>
    </p:spTree>
    <p:extLst>
      <p:ext uri="{BB962C8B-B14F-4D97-AF65-F5344CB8AC3E}">
        <p14:creationId xmlns:p14="http://schemas.microsoft.com/office/powerpoint/2010/main" val="2931813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9CCF-47E7-4A84-870E-D1551511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inetd.conf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D7BE9-E62D-4B63-9C8A-A5D3ADB67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		service name</a:t>
            </a:r>
          </a:p>
          <a:p>
            <a:r>
              <a:rPr lang="en-US" dirty="0"/>
              <a:t>2 		type of socket service uses (stream or </a:t>
            </a:r>
            <a:r>
              <a:rPr lang="en-US" dirty="0" err="1"/>
              <a:t>dgram</a:t>
            </a:r>
            <a:r>
              <a:rPr lang="en-US" dirty="0"/>
              <a:t>)</a:t>
            </a:r>
          </a:p>
          <a:p>
            <a:r>
              <a:rPr lang="en-US" dirty="0"/>
              <a:t>3		communication protocol uses (</a:t>
            </a:r>
            <a:r>
              <a:rPr lang="en-US" dirty="0" err="1"/>
              <a:t>tcp</a:t>
            </a:r>
            <a:r>
              <a:rPr lang="en-US" dirty="0"/>
              <a:t> or </a:t>
            </a:r>
            <a:r>
              <a:rPr lang="en-US" dirty="0" err="1"/>
              <a:t>udp</a:t>
            </a:r>
            <a:r>
              <a:rPr lang="en-US" dirty="0"/>
              <a:t>)</a:t>
            </a:r>
          </a:p>
          <a:p>
            <a:r>
              <a:rPr lang="en-US" dirty="0"/>
              <a:t>4		wait: service can process multiple request at one time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nowait</a:t>
            </a:r>
            <a:r>
              <a:rPr lang="en-US" dirty="0"/>
              <a:t> – fork a new copy of daemon for each request</a:t>
            </a:r>
          </a:p>
          <a:p>
            <a:r>
              <a:rPr lang="en-US" dirty="0"/>
              <a:t>5		username under which daemon should run</a:t>
            </a:r>
          </a:p>
          <a:p>
            <a:r>
              <a:rPr lang="en-US" dirty="0"/>
              <a:t>6		fully qualified pathname of the daemon and its command-line 				arguments</a:t>
            </a:r>
          </a:p>
        </p:txBody>
      </p:sp>
    </p:spTree>
    <p:extLst>
      <p:ext uri="{BB962C8B-B14F-4D97-AF65-F5344CB8AC3E}">
        <p14:creationId xmlns:p14="http://schemas.microsoft.com/office/powerpoint/2010/main" val="3803178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82699-6779-418D-A23C-3BBC41E8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vmstat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3DFD9-24C0-4EA7-80FB-FFDA73C28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Report on virtual memory usage</a:t>
            </a:r>
          </a:p>
          <a:p>
            <a:endParaRPr lang="en-US" dirty="0"/>
          </a:p>
          <a:p>
            <a:r>
              <a:rPr lang="en-US" dirty="0"/>
              <a:t>Two arguments</a:t>
            </a:r>
          </a:p>
          <a:p>
            <a:pPr lvl="1"/>
            <a:r>
              <a:rPr lang="en-US" dirty="0"/>
              <a:t>number of seconds between measuring and reporting values</a:t>
            </a:r>
          </a:p>
          <a:p>
            <a:pPr lvl="1"/>
            <a:r>
              <a:rPr lang="en-US" dirty="0"/>
              <a:t>number of times to measure and report values</a:t>
            </a:r>
          </a:p>
          <a:p>
            <a:pPr lvl="1"/>
            <a:endParaRPr lang="en-US" dirty="0"/>
          </a:p>
          <a:p>
            <a:r>
              <a:rPr lang="en-US" dirty="0"/>
              <a:t>Report</a:t>
            </a:r>
          </a:p>
          <a:p>
            <a:pPr lvl="1"/>
            <a:r>
              <a:rPr lang="en-US" dirty="0"/>
              <a:t>First line is the average values since last system reboot</a:t>
            </a:r>
          </a:p>
          <a:p>
            <a:pPr lvl="1"/>
            <a:r>
              <a:rPr lang="en-US" dirty="0"/>
              <a:t>Other lines represents current values</a:t>
            </a:r>
          </a:p>
          <a:p>
            <a:pPr lvl="1"/>
            <a:endParaRPr lang="en-US" dirty="0"/>
          </a:p>
          <a:p>
            <a:r>
              <a:rPr lang="en-US" dirty="0"/>
              <a:t>man </a:t>
            </a:r>
            <a:r>
              <a:rPr lang="en-US" dirty="0" err="1"/>
              <a:t>vmstat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8701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41BD9-6D52-4B36-92FD-C10EE6DA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netstat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747F2-19E7-47CD-81A7-AAA48869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Report on network connection information</a:t>
            </a:r>
          </a:p>
          <a:p>
            <a:endParaRPr lang="en-US" dirty="0"/>
          </a:p>
          <a:p>
            <a:r>
              <a:rPr lang="en-US" dirty="0"/>
              <a:t>Common Options</a:t>
            </a:r>
          </a:p>
          <a:p>
            <a:pPr lvl="1"/>
            <a:r>
              <a:rPr lang="en-US" dirty="0"/>
              <a:t>netstat –v</a:t>
            </a:r>
          </a:p>
          <a:p>
            <a:pPr lvl="1"/>
            <a:r>
              <a:rPr lang="en-US" dirty="0"/>
              <a:t>netstat –</a:t>
            </a:r>
            <a:r>
              <a:rPr lang="en-US" dirty="0" err="1"/>
              <a:t>nt</a:t>
            </a:r>
            <a:endParaRPr lang="en-US" dirty="0"/>
          </a:p>
          <a:p>
            <a:pPr lvl="1"/>
            <a:r>
              <a:rPr lang="en-US" dirty="0"/>
              <a:t>netstat –</a:t>
            </a:r>
            <a:r>
              <a:rPr lang="en-US" dirty="0" err="1"/>
              <a:t>nl</a:t>
            </a:r>
            <a:endParaRPr lang="en-US" dirty="0"/>
          </a:p>
          <a:p>
            <a:pPr lvl="1"/>
            <a:r>
              <a:rPr lang="en-US" dirty="0"/>
              <a:t>netstat –I</a:t>
            </a:r>
          </a:p>
          <a:p>
            <a:pPr lvl="1"/>
            <a:r>
              <a:rPr lang="en-US" dirty="0"/>
              <a:t>netstat –</a:t>
            </a:r>
            <a:r>
              <a:rPr lang="en-US" dirty="0" err="1"/>
              <a:t>rn</a:t>
            </a:r>
            <a:endParaRPr lang="en-US" dirty="0"/>
          </a:p>
          <a:p>
            <a:pPr lvl="1"/>
            <a:r>
              <a:rPr lang="en-US" dirty="0"/>
              <a:t>netstat –s</a:t>
            </a:r>
          </a:p>
          <a:p>
            <a:pPr lvl="1"/>
            <a:endParaRPr lang="en-US" dirty="0"/>
          </a:p>
          <a:p>
            <a:r>
              <a:rPr lang="en-US" dirty="0">
                <a:hlinkClick r:id="rId2"/>
              </a:rPr>
              <a:t>More Options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672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1650</Words>
  <Application>Microsoft Office PowerPoint</Application>
  <PresentationFormat>Widescreen</PresentationFormat>
  <Paragraphs>307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Rockwell</vt:lpstr>
      <vt:lpstr>Wingdings</vt:lpstr>
      <vt:lpstr>Office Theme</vt:lpstr>
      <vt:lpstr>System Administration Tasks</vt:lpstr>
      <vt:lpstr>Accounts</vt:lpstr>
      <vt:lpstr>Accounts (cont.)</vt:lpstr>
      <vt:lpstr>Adding local users</vt:lpstr>
      <vt:lpstr>User Management</vt:lpstr>
      <vt:lpstr>System Accounts</vt:lpstr>
      <vt:lpstr>Groups</vt:lpstr>
      <vt:lpstr>System Groups</vt:lpstr>
      <vt:lpstr>Backing up</vt:lpstr>
      <vt:lpstr>Backup Schedule Depends on</vt:lpstr>
      <vt:lpstr>Linux Device Names</vt:lpstr>
      <vt:lpstr>Disk Information</vt:lpstr>
      <vt:lpstr>Adding new drives</vt:lpstr>
      <vt:lpstr>Mounting Filesystem</vt:lpstr>
      <vt:lpstr>Unmount Filesystems</vt:lpstr>
      <vt:lpstr>Filesystem Commands</vt:lpstr>
      <vt:lpstr>fsck tasks</vt:lpstr>
      <vt:lpstr>quotas</vt:lpstr>
      <vt:lpstr>Network File Systems - NFS</vt:lpstr>
      <vt:lpstr>Boot Process</vt:lpstr>
      <vt:lpstr>init states</vt:lpstr>
      <vt:lpstr>Startup Script Tasks</vt:lpstr>
      <vt:lpstr>Shutdown Steps</vt:lpstr>
      <vt:lpstr>Shutdown Commands</vt:lpstr>
      <vt:lpstr>sync</vt:lpstr>
      <vt:lpstr>Patches</vt:lpstr>
      <vt:lpstr>Software</vt:lpstr>
      <vt:lpstr>Maintaining Software Packages</vt:lpstr>
      <vt:lpstr>yum</vt:lpstr>
      <vt:lpstr>apt-get (apt)</vt:lpstr>
      <vt:lpstr>Daemon</vt:lpstr>
      <vt:lpstr>SYSLOGD – System Logging</vt:lpstr>
      <vt:lpstr>PowerPoint Presentation</vt:lpstr>
      <vt:lpstr>inetd</vt:lpstr>
      <vt:lpstr>inetd.conf</vt:lpstr>
      <vt:lpstr>vmstat</vt:lpstr>
      <vt:lpstr>netstat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Administration Tasks</dc:title>
  <dc:creator>Earl , Patrick</dc:creator>
  <cp:lastModifiedBy>Earl, Patrick</cp:lastModifiedBy>
  <cp:revision>23</cp:revision>
  <dcterms:created xsi:type="dcterms:W3CDTF">2020-04-07T17:01:52Z</dcterms:created>
  <dcterms:modified xsi:type="dcterms:W3CDTF">2021-03-30T18:18:18Z</dcterms:modified>
</cp:coreProperties>
</file>