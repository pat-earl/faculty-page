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5"/>
  </p:notesMasterIdLst>
  <p:sldIdLst>
    <p:sldId id="256" r:id="rId2"/>
    <p:sldId id="258" r:id="rId3"/>
    <p:sldId id="275" r:id="rId4"/>
    <p:sldId id="276" r:id="rId5"/>
    <p:sldId id="259" r:id="rId6"/>
    <p:sldId id="277" r:id="rId7"/>
    <p:sldId id="278" r:id="rId8"/>
    <p:sldId id="279" r:id="rId9"/>
    <p:sldId id="280" r:id="rId10"/>
    <p:sldId id="264" r:id="rId11"/>
    <p:sldId id="263" r:id="rId12"/>
    <p:sldId id="265" r:id="rId13"/>
    <p:sldId id="266" r:id="rId14"/>
    <p:sldId id="268" r:id="rId15"/>
    <p:sldId id="267" r:id="rId16"/>
    <p:sldId id="270" r:id="rId17"/>
    <p:sldId id="281" r:id="rId18"/>
    <p:sldId id="269" r:id="rId19"/>
    <p:sldId id="273" r:id="rId20"/>
    <p:sldId id="272" r:id="rId21"/>
    <p:sldId id="271" r:id="rId22"/>
    <p:sldId id="274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rl , Patrick" userId="70116564-4522-4dff-b182-49a7124d0f79" providerId="ADAL" clId="{E87041CA-BF69-4868-889E-179397C5B3FD}"/>
    <pc:docChg chg="custSel modSld">
      <pc:chgData name="Earl , Patrick" userId="70116564-4522-4dff-b182-49a7124d0f79" providerId="ADAL" clId="{E87041CA-BF69-4868-889E-179397C5B3FD}" dt="2021-02-09T19:25:20.487" v="5" actId="27636"/>
      <pc:docMkLst>
        <pc:docMk/>
      </pc:docMkLst>
      <pc:sldChg chg="modSp">
        <pc:chgData name="Earl , Patrick" userId="70116564-4522-4dff-b182-49a7124d0f79" providerId="ADAL" clId="{E87041CA-BF69-4868-889E-179397C5B3FD}" dt="2021-02-09T19:25:20.425" v="1" actId="27636"/>
        <pc:sldMkLst>
          <pc:docMk/>
          <pc:sldMk cId="640926116" sldId="259"/>
        </pc:sldMkLst>
        <pc:spChg chg="mod">
          <ac:chgData name="Earl , Patrick" userId="70116564-4522-4dff-b182-49a7124d0f79" providerId="ADAL" clId="{E87041CA-BF69-4868-889E-179397C5B3FD}" dt="2021-02-09T19:25:20.425" v="1" actId="27636"/>
          <ac:spMkLst>
            <pc:docMk/>
            <pc:sldMk cId="640926116" sldId="259"/>
            <ac:spMk id="3" creationId="{029C3D03-DE83-40F3-BD6F-6613B63EBC21}"/>
          </ac:spMkLst>
        </pc:spChg>
      </pc:sldChg>
      <pc:sldChg chg="modSp">
        <pc:chgData name="Earl , Patrick" userId="70116564-4522-4dff-b182-49a7124d0f79" providerId="ADAL" clId="{E87041CA-BF69-4868-889E-179397C5B3FD}" dt="2021-02-09T19:25:20.409" v="0" actId="27636"/>
        <pc:sldMkLst>
          <pc:docMk/>
          <pc:sldMk cId="1429699936" sldId="264"/>
        </pc:sldMkLst>
        <pc:spChg chg="mod">
          <ac:chgData name="Earl , Patrick" userId="70116564-4522-4dff-b182-49a7124d0f79" providerId="ADAL" clId="{E87041CA-BF69-4868-889E-179397C5B3FD}" dt="2021-02-09T19:25:20.409" v="0" actId="27636"/>
          <ac:spMkLst>
            <pc:docMk/>
            <pc:sldMk cId="1429699936" sldId="264"/>
            <ac:spMk id="3" creationId="{DB1E1E84-EB54-4A6E-9B05-E9D1F885AE53}"/>
          </ac:spMkLst>
        </pc:spChg>
      </pc:sldChg>
      <pc:sldChg chg="modSp">
        <pc:chgData name="Earl , Patrick" userId="70116564-4522-4dff-b182-49a7124d0f79" providerId="ADAL" clId="{E87041CA-BF69-4868-889E-179397C5B3FD}" dt="2021-02-09T19:25:20.456" v="2" actId="27636"/>
        <pc:sldMkLst>
          <pc:docMk/>
          <pc:sldMk cId="604312794" sldId="265"/>
        </pc:sldMkLst>
        <pc:spChg chg="mod">
          <ac:chgData name="Earl , Patrick" userId="70116564-4522-4dff-b182-49a7124d0f79" providerId="ADAL" clId="{E87041CA-BF69-4868-889E-179397C5B3FD}" dt="2021-02-09T19:25:20.456" v="2" actId="27636"/>
          <ac:spMkLst>
            <pc:docMk/>
            <pc:sldMk cId="604312794" sldId="265"/>
            <ac:spMk id="3" creationId="{C98EAF7B-92DD-4AA0-AD02-EDA8C70BB874}"/>
          </ac:spMkLst>
        </pc:spChg>
      </pc:sldChg>
      <pc:sldChg chg="modSp">
        <pc:chgData name="Earl , Patrick" userId="70116564-4522-4dff-b182-49a7124d0f79" providerId="ADAL" clId="{E87041CA-BF69-4868-889E-179397C5B3FD}" dt="2021-02-09T19:25:20.456" v="3" actId="27636"/>
        <pc:sldMkLst>
          <pc:docMk/>
          <pc:sldMk cId="440654104" sldId="266"/>
        </pc:sldMkLst>
        <pc:spChg chg="mod">
          <ac:chgData name="Earl , Patrick" userId="70116564-4522-4dff-b182-49a7124d0f79" providerId="ADAL" clId="{E87041CA-BF69-4868-889E-179397C5B3FD}" dt="2021-02-09T19:25:20.456" v="3" actId="27636"/>
          <ac:spMkLst>
            <pc:docMk/>
            <pc:sldMk cId="440654104" sldId="266"/>
            <ac:spMk id="3" creationId="{BB676A1D-E382-4F43-9444-858508350604}"/>
          </ac:spMkLst>
        </pc:spChg>
      </pc:sldChg>
      <pc:sldChg chg="modSp">
        <pc:chgData name="Earl , Patrick" userId="70116564-4522-4dff-b182-49a7124d0f79" providerId="ADAL" clId="{E87041CA-BF69-4868-889E-179397C5B3FD}" dt="2021-02-09T19:25:20.472" v="4" actId="27636"/>
        <pc:sldMkLst>
          <pc:docMk/>
          <pc:sldMk cId="3173267390" sldId="269"/>
        </pc:sldMkLst>
        <pc:spChg chg="mod">
          <ac:chgData name="Earl , Patrick" userId="70116564-4522-4dff-b182-49a7124d0f79" providerId="ADAL" clId="{E87041CA-BF69-4868-889E-179397C5B3FD}" dt="2021-02-09T19:25:20.472" v="4" actId="27636"/>
          <ac:spMkLst>
            <pc:docMk/>
            <pc:sldMk cId="3173267390" sldId="269"/>
            <ac:spMk id="3" creationId="{28A6082D-4F04-4F00-BDEB-7058E2AF00EB}"/>
          </ac:spMkLst>
        </pc:spChg>
      </pc:sldChg>
      <pc:sldChg chg="modSp">
        <pc:chgData name="Earl , Patrick" userId="70116564-4522-4dff-b182-49a7124d0f79" providerId="ADAL" clId="{E87041CA-BF69-4868-889E-179397C5B3FD}" dt="2021-02-09T19:25:20.487" v="5" actId="27636"/>
        <pc:sldMkLst>
          <pc:docMk/>
          <pc:sldMk cId="2973843233" sldId="273"/>
        </pc:sldMkLst>
        <pc:spChg chg="mod">
          <ac:chgData name="Earl , Patrick" userId="70116564-4522-4dff-b182-49a7124d0f79" providerId="ADAL" clId="{E87041CA-BF69-4868-889E-179397C5B3FD}" dt="2021-02-09T19:25:20.487" v="5" actId="27636"/>
          <ac:spMkLst>
            <pc:docMk/>
            <pc:sldMk cId="2973843233" sldId="273"/>
            <ac:spMk id="3" creationId="{8A55A8E0-8D16-45B6-A249-414ACC304E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C3902-BE1C-437D-A505-B38432DC6CC6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D3DB-A064-4B0A-841B-8CCA32E53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8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6D3DB-A064-4B0A-841B-8CCA32E53D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01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Partition schemes manage how this information is stored on a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6D3DB-A064-4B0A-841B-8CCA32E53D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51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AABC-C85B-45FD-9362-93A368E37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82923-FF1C-4EF0-8584-31690F862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4CDA1-F2E0-4EDF-9086-77977F27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1AC19-4241-43D6-8963-77D6AD2A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D27E-E512-4715-9172-DA1F619B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6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16AB-1199-46E5-A0B2-104D150E9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A2A4-11AD-4463-B8C6-0D9F7315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ED2D6-7E99-4721-9AF9-42C80F52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873CE-5A07-49C0-A227-50E7369D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6EEB4-0956-4EE9-9094-2A19AEEA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1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D65-DDDE-4FC1-B760-5EC2A490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D89D9-DA9C-4042-B19E-5735A7B72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2988E-FC95-4B0D-992A-749932E0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36234-8403-4FE1-9376-231B8F2E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E3BEB-E2DD-4003-909A-C818F746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2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BB27-2629-49FB-BEA2-996E7897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7BE7-F349-4A67-9A74-7EDC5C5FF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5C14D-884F-4222-AE38-4F9E96598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E4F8B-F127-4008-BF7B-0830DFAE0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DDF03-1F01-452F-B06C-54391151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1DB98-3640-4C6E-8A05-ADF1E928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98CB-9949-412A-8D41-BA24EC16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60C5B-86CF-42A7-ABB3-C594ADEB1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FCDF8-7044-46AE-BEBE-E552F053D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63137-5D77-4412-A052-E0F08B92A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41692-4B37-445D-A1AD-6DBC060F6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782A8-3EF4-408E-9BA4-FB7EA663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32199-D5A9-4B07-B142-0D011C96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661D6-65D4-44A1-AFCC-6F4B47EB3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92FD-9D3B-4AFC-A783-AE3DBB9C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0C831-4AB3-45B6-A8E7-82142784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7F97C-5AF9-49F9-9714-245227F8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F4120-C5CE-468A-BF10-1DBB46A5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7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E1372-33A0-43DC-BB38-A85876DC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86C36-E37E-48A7-8586-BEACEDA0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792EA-F046-429A-9B3C-00E6918D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D221-0628-4172-B767-1F560638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7813-205B-4D6E-9EBE-00A244929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9E95D-6E73-410B-900B-C5F6B9180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0EBB-B6D4-4EE3-8DDF-50164DD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01081-F293-4D3B-9F98-71D9715E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7B940-E91E-46C6-B34A-6B46F1C3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2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07E6-52B5-4E43-9BA2-AECABE63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D4310-59E3-46CA-8016-9FDCC9AB4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3E937-2D50-40DE-BE8A-33C6E0A1A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0118D-8D44-4ACF-929F-75D94783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74551-4A83-4ACD-9D24-83B62829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C883B-CEA2-4A24-A6A4-906E2B94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3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0F60-20E2-4360-B9B8-C1222A7D5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FB845-B5BE-4F76-91E8-6085BEC14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8DCD2-BF9D-4C21-B980-3714F7D6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9597-DE20-4D86-8C90-691F708B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C731-6069-43B3-8656-C21B285F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3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008EA-E033-489C-AE69-2A897D675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DD3AF-573D-440A-8F7C-3DD59B09D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3497E-4134-4472-96D4-A84C5030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84AD-CAF8-46E4-8053-4B4AB59D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0F65-6E94-4EA5-B6D5-2A3E4ABD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2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36721-CC75-4362-93D7-D89FE087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FBCD5-093F-4BA7-8D36-9BA10797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3B698-3BB7-4A67-8659-EA291DA35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5F2CB-3A11-435A-8A64-9C8C5C260B87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0367-7C40-482F-9B84-B9B4E14B5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079E4-A0A5-4F3A-94E4-1629864C3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4FF27-70DD-4E02-B81A-50EC5BA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7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nitool.com/lib/hard-disk-partition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ernel.org/doc/html/latest/filesystems/ext4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45E0-3B55-44EB-8F70-F1B85D2C4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Files and Directories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82057-8B7A-4D0A-9230-D8753DB20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CSC252 – UNIX Scripting and Administration</a:t>
            </a:r>
          </a:p>
          <a:p>
            <a:pPr algn="r"/>
            <a:r>
              <a:rPr lang="en-US" dirty="0"/>
              <a:t>Prof. Earl</a:t>
            </a:r>
          </a:p>
        </p:txBody>
      </p:sp>
    </p:spTree>
    <p:extLst>
      <p:ext uri="{BB962C8B-B14F-4D97-AF65-F5344CB8AC3E}">
        <p14:creationId xmlns:p14="http://schemas.microsoft.com/office/powerpoint/2010/main" val="61698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1139-760A-4837-AFE5-BCE096C3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8BD0-4E1C-4705-AC2C-FFCED3581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15951"/>
          </a:xfrm>
        </p:spPr>
        <p:txBody>
          <a:bodyPr>
            <a:normAutofit/>
          </a:bodyPr>
          <a:lstStyle/>
          <a:p>
            <a:r>
              <a:rPr lang="en-US" dirty="0"/>
              <a:t>A set of data structures that: </a:t>
            </a:r>
          </a:p>
          <a:p>
            <a:pPr lvl="1"/>
            <a:r>
              <a:rPr lang="en-US" dirty="0"/>
              <a:t>store user and system data</a:t>
            </a:r>
          </a:p>
          <a:p>
            <a:pPr lvl="1"/>
            <a:r>
              <a:rPr lang="en-US" dirty="0"/>
              <a:t>store that data as files on, usually, a disk</a:t>
            </a:r>
          </a:p>
          <a:p>
            <a:r>
              <a:rPr lang="en-US" dirty="0"/>
              <a:t>Summary: </a:t>
            </a:r>
          </a:p>
          <a:p>
            <a:pPr lvl="1"/>
            <a:r>
              <a:rPr lang="en-US" dirty="0"/>
              <a:t>Organization &amp; Terminology of the Linux Filesystem</a:t>
            </a:r>
          </a:p>
          <a:p>
            <a:pPr lvl="1"/>
            <a:r>
              <a:rPr lang="en-US" dirty="0"/>
              <a:t>Moving through the filesystem</a:t>
            </a:r>
          </a:p>
          <a:p>
            <a:pPr lvl="1"/>
            <a:r>
              <a:rPr lang="en-US" dirty="0"/>
              <a:t>Ordinary and Directory files</a:t>
            </a:r>
          </a:p>
          <a:p>
            <a:pPr lvl="1"/>
            <a:r>
              <a:rPr lang="en-US" dirty="0"/>
              <a:t>Absolute and Relative Paths</a:t>
            </a:r>
          </a:p>
          <a:p>
            <a:pPr lvl="1"/>
            <a:r>
              <a:rPr lang="en-US" dirty="0"/>
              <a:t>Important Files and Paths</a:t>
            </a:r>
          </a:p>
          <a:p>
            <a:pPr lvl="1"/>
            <a:r>
              <a:rPr lang="en-US" dirty="0"/>
              <a:t>File Access Permissions</a:t>
            </a:r>
          </a:p>
        </p:txBody>
      </p:sp>
    </p:spTree>
    <p:extLst>
      <p:ext uri="{BB962C8B-B14F-4D97-AF65-F5344CB8AC3E}">
        <p14:creationId xmlns:p14="http://schemas.microsoft.com/office/powerpoint/2010/main" val="48616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E92-84DB-48D1-A82B-97912E2B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Hierarchical System</a:t>
            </a:r>
          </a:p>
        </p:txBody>
      </p:sp>
      <p:pic>
        <p:nvPicPr>
          <p:cNvPr id="9" name="Content Placeholder 8" descr="Diagram, schematic&#10;&#10;Description automatically generated">
            <a:extLst>
              <a:ext uri="{FF2B5EF4-FFF2-40B4-BE49-F238E27FC236}">
                <a16:creationId xmlns:a16="http://schemas.microsoft.com/office/drawing/2014/main" id="{1FDBB042-6E49-448B-97F8-BC3164AE8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765" y="1690688"/>
            <a:ext cx="9484469" cy="3701256"/>
          </a:xfrm>
        </p:spPr>
      </p:pic>
    </p:spTree>
    <p:extLst>
      <p:ext uri="{BB962C8B-B14F-4D97-AF65-F5344CB8AC3E}">
        <p14:creationId xmlns:p14="http://schemas.microsoft.com/office/powerpoint/2010/main" val="18174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D3DD-E1EB-45BB-A8EF-0F59D405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6D761-EE69-439A-9035-BBD6920D0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Directory Tree</a:t>
            </a:r>
            <a:endParaRPr lang="en-US" dirty="0"/>
          </a:p>
          <a:p>
            <a:r>
              <a:rPr lang="en-US" i="1" dirty="0"/>
              <a:t>Directory Files</a:t>
            </a:r>
            <a:endParaRPr lang="en-US" dirty="0"/>
          </a:p>
          <a:p>
            <a:r>
              <a:rPr lang="en-US" i="1" dirty="0"/>
              <a:t>Ordinary Files</a:t>
            </a:r>
            <a:endParaRPr lang="en-US" dirty="0"/>
          </a:p>
          <a:p>
            <a:r>
              <a:rPr lang="en-US" b="1" i="1" dirty="0"/>
              <a:t>Root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Directories are connected by a path</a:t>
            </a:r>
          </a:p>
          <a:p>
            <a:pPr lvl="1"/>
            <a:r>
              <a:rPr lang="en-US" i="1" dirty="0"/>
              <a:t>Parent</a:t>
            </a:r>
            <a:endParaRPr lang="en-US" dirty="0"/>
          </a:p>
          <a:p>
            <a:pPr lvl="1"/>
            <a:r>
              <a:rPr lang="en-US" i="1" dirty="0"/>
              <a:t>Child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49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D65B-1815-4D35-AAA9-E10339AD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3D03-DE83-40F3-BD6F-6613B63EB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Should use these characters: </a:t>
            </a:r>
          </a:p>
          <a:p>
            <a:pPr lvl="1"/>
            <a:r>
              <a:rPr lang="en-US" dirty="0"/>
              <a:t>Uppercase Letters (A-Z)</a:t>
            </a:r>
          </a:p>
          <a:p>
            <a:pPr lvl="1"/>
            <a:r>
              <a:rPr lang="en-US" dirty="0"/>
              <a:t>Lowercase Letters (a-z)</a:t>
            </a:r>
          </a:p>
          <a:p>
            <a:pPr lvl="1"/>
            <a:r>
              <a:rPr lang="en-US" dirty="0"/>
              <a:t>Numbers (0-9)</a:t>
            </a:r>
          </a:p>
          <a:p>
            <a:pPr lvl="1"/>
            <a:r>
              <a:rPr lang="en-US" dirty="0"/>
              <a:t>Underscore (_)</a:t>
            </a:r>
          </a:p>
          <a:p>
            <a:pPr lvl="1"/>
            <a:r>
              <a:rPr lang="en-US" dirty="0"/>
              <a:t>Period (.)</a:t>
            </a:r>
          </a:p>
          <a:p>
            <a:pPr lvl="1"/>
            <a:r>
              <a:rPr lang="en-US" dirty="0"/>
              <a:t>Comma (,)</a:t>
            </a:r>
          </a:p>
          <a:p>
            <a:r>
              <a:rPr lang="en-US" dirty="0"/>
              <a:t>Two files of the same name can’t exist in the same directory</a:t>
            </a:r>
          </a:p>
          <a:p>
            <a:r>
              <a:rPr lang="en-US" dirty="0"/>
              <a:t>Files can have the same name in </a:t>
            </a:r>
            <a:r>
              <a:rPr lang="en-US" i="1" dirty="0"/>
              <a:t>different</a:t>
            </a:r>
            <a:r>
              <a:rPr lang="en-US" dirty="0"/>
              <a:t> directories</a:t>
            </a:r>
          </a:p>
        </p:txBody>
      </p:sp>
    </p:spTree>
    <p:extLst>
      <p:ext uri="{BB962C8B-B14F-4D97-AF65-F5344CB8AC3E}">
        <p14:creationId xmlns:p14="http://schemas.microsoft.com/office/powerpoint/2010/main" val="640926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DE77-F7C5-4E0B-9175-A2137D58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Filenames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C453-746D-423B-9E52-A8A0BAC5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Filename Extensions</a:t>
            </a:r>
          </a:p>
          <a:p>
            <a:r>
              <a:rPr lang="en-US" dirty="0"/>
              <a:t>Hidden Filenames - </a:t>
            </a:r>
            <a:r>
              <a:rPr lang="en-US" i="1" dirty="0"/>
              <a:t>begin with a dot (.)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7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6AB2-D423-4E13-83C4-33972AD2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Working Directory (Current Directory)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6A1E2-E78D-40F1-923A-EF5147BE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directory your session is currently associated with</a:t>
            </a:r>
          </a:p>
          <a:p>
            <a:pPr lvl="1"/>
            <a:r>
              <a:rPr lang="en-US" i="1" dirty="0" err="1"/>
              <a:t>pwd</a:t>
            </a:r>
            <a:r>
              <a:rPr lang="en-US" i="1" dirty="0"/>
              <a:t> </a:t>
            </a:r>
          </a:p>
          <a:p>
            <a:r>
              <a:rPr lang="en-US" dirty="0"/>
              <a:t>The </a:t>
            </a:r>
            <a:r>
              <a:rPr lang="en-US" i="1" dirty="0"/>
              <a:t>working </a:t>
            </a:r>
            <a:r>
              <a:rPr lang="en-US" dirty="0"/>
              <a:t>or </a:t>
            </a:r>
            <a:r>
              <a:rPr lang="en-US" i="1" dirty="0"/>
              <a:t>current </a:t>
            </a:r>
            <a:r>
              <a:rPr lang="en-US" dirty="0"/>
              <a:t>directory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4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F9EC-9B7B-4275-8799-36E00B05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1E1F-BEB6-4539-916F-8A266EE47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logging in, this is your </a:t>
            </a:r>
            <a:r>
              <a:rPr lang="en-US" i="1" dirty="0"/>
              <a:t>working</a:t>
            </a:r>
            <a:r>
              <a:rPr lang="en-US" dirty="0"/>
              <a:t> directory</a:t>
            </a:r>
          </a:p>
          <a:p>
            <a:r>
              <a:rPr lang="en-US" dirty="0"/>
              <a:t>Startup Files are usually located here </a:t>
            </a:r>
          </a:p>
          <a:p>
            <a:pPr lvl="1"/>
            <a:r>
              <a:rPr lang="en-US" dirty="0"/>
              <a:t>Used to set configuration options for your shell and other programs</a:t>
            </a:r>
          </a:p>
        </p:txBody>
      </p:sp>
    </p:spTree>
    <p:extLst>
      <p:ext uri="{BB962C8B-B14F-4D97-AF65-F5344CB8AC3E}">
        <p14:creationId xmlns:p14="http://schemas.microsoft.com/office/powerpoint/2010/main" val="175087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E9B6-DF1C-464D-9C7F-7D5219C4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1039F-03EC-4B6F-A467-CBC5C0F8D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files have a </a:t>
            </a:r>
            <a:r>
              <a:rPr lang="en-US" i="1" dirty="0"/>
              <a:t>pathname </a:t>
            </a:r>
            <a:endParaRPr lang="en-US" dirty="0"/>
          </a:p>
          <a:p>
            <a:r>
              <a:rPr lang="en-US" dirty="0"/>
              <a:t>Absolute Pathnames</a:t>
            </a:r>
          </a:p>
          <a:p>
            <a:pPr lvl="1"/>
            <a:r>
              <a:rPr lang="en-US" dirty="0"/>
              <a:t>/ (root)</a:t>
            </a:r>
          </a:p>
          <a:p>
            <a:pPr lvl="1"/>
            <a:r>
              <a:rPr lang="en-US" dirty="0"/>
              <a:t>~ (Tilde)</a:t>
            </a:r>
          </a:p>
          <a:p>
            <a:r>
              <a:rPr lang="en-US" dirty="0"/>
              <a:t>Relative Pathnames</a:t>
            </a:r>
          </a:p>
          <a:p>
            <a:pPr lvl="1"/>
            <a:r>
              <a:rPr lang="en-US" dirty="0"/>
              <a:t>Relative to your working directory</a:t>
            </a:r>
          </a:p>
          <a:p>
            <a:r>
              <a:rPr lang="en-US" dirty="0"/>
              <a:t>. &amp; ..</a:t>
            </a:r>
          </a:p>
          <a:p>
            <a:pPr lvl="1"/>
            <a:r>
              <a:rPr lang="en-US" dirty="0"/>
              <a:t>Refer to </a:t>
            </a:r>
            <a:r>
              <a:rPr lang="en-US" i="1" dirty="0"/>
              <a:t>this </a:t>
            </a:r>
            <a:r>
              <a:rPr lang="en-US" dirty="0"/>
              <a:t>and </a:t>
            </a:r>
            <a:r>
              <a:rPr lang="en-US" i="1" dirty="0"/>
              <a:t>parent </a:t>
            </a:r>
            <a:r>
              <a:rPr lang="en-US" dirty="0"/>
              <a:t>directories respectively</a:t>
            </a:r>
          </a:p>
        </p:txBody>
      </p:sp>
    </p:spTree>
    <p:extLst>
      <p:ext uri="{BB962C8B-B14F-4D97-AF65-F5344CB8AC3E}">
        <p14:creationId xmlns:p14="http://schemas.microsoft.com/office/powerpoint/2010/main" val="70368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64DD-2F64-4DB6-953D-BDD94049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Directories and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E1E84-EB54-4A6E-9B05-E9D1F885A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FHS – Filesystem Hierarchy Standard</a:t>
            </a:r>
          </a:p>
          <a:p>
            <a:r>
              <a:rPr lang="en-US" dirty="0"/>
              <a:t>/ - root</a:t>
            </a:r>
          </a:p>
          <a:p>
            <a:r>
              <a:rPr lang="en-US" dirty="0"/>
              <a:t>/bin – Command binaries</a:t>
            </a:r>
          </a:p>
          <a:p>
            <a:r>
              <a:rPr lang="en-US" dirty="0"/>
              <a:t>/boot – Static files of the boot loader</a:t>
            </a:r>
          </a:p>
          <a:p>
            <a:r>
              <a:rPr lang="en-US" dirty="0"/>
              <a:t>/dev - Device Files</a:t>
            </a:r>
          </a:p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 – Machine-local system configuration files</a:t>
            </a:r>
          </a:p>
          <a:p>
            <a:r>
              <a:rPr lang="en-US" dirty="0"/>
              <a:t>/home – User directories</a:t>
            </a:r>
          </a:p>
          <a:p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 – Essential system binaries (Used for system administration tasks)</a:t>
            </a:r>
          </a:p>
          <a:p>
            <a:r>
              <a:rPr lang="en-US" dirty="0"/>
              <a:t>/sys – Device pseudo filesystem</a:t>
            </a:r>
          </a:p>
          <a:p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/bin – Most user commands</a:t>
            </a:r>
          </a:p>
        </p:txBody>
      </p:sp>
    </p:spTree>
    <p:extLst>
      <p:ext uri="{BB962C8B-B14F-4D97-AF65-F5344CB8AC3E}">
        <p14:creationId xmlns:p14="http://schemas.microsoft.com/office/powerpoint/2010/main" val="1429699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4A4D-C6E5-44E6-9F83-9D2DDD26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27715-2438-4453-821A-E53B17141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48" y="1710225"/>
            <a:ext cx="5679952" cy="40587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List contents of a directory</a:t>
            </a:r>
          </a:p>
          <a:p>
            <a:r>
              <a:rPr lang="en-US" dirty="0"/>
              <a:t>With –l option</a:t>
            </a:r>
          </a:p>
          <a:p>
            <a:pPr lvl="1"/>
            <a:r>
              <a:rPr lang="en-US" dirty="0"/>
              <a:t>Type of File</a:t>
            </a:r>
          </a:p>
          <a:p>
            <a:pPr lvl="1"/>
            <a:r>
              <a:rPr lang="en-US" dirty="0"/>
              <a:t>File Access Permissions</a:t>
            </a:r>
          </a:p>
          <a:p>
            <a:pPr lvl="1"/>
            <a:r>
              <a:rPr lang="en-US" dirty="0"/>
              <a:t>ACL Flag Links </a:t>
            </a:r>
          </a:p>
          <a:p>
            <a:pPr lvl="1"/>
            <a:r>
              <a:rPr lang="en-US" dirty="0"/>
              <a:t>Owner</a:t>
            </a:r>
          </a:p>
          <a:p>
            <a:pPr lvl="1"/>
            <a:r>
              <a:rPr lang="en-US" dirty="0"/>
              <a:t>Group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Date (and time) of last Modification</a:t>
            </a:r>
          </a:p>
          <a:p>
            <a:pPr lvl="1"/>
            <a:r>
              <a:rPr lang="en-US" dirty="0"/>
              <a:t>Filename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DAC13-D7B8-4A58-93C1-B6C8CBA1B740}"/>
              </a:ext>
            </a:extLst>
          </p:cNvPr>
          <p:cNvSpPr txBox="1"/>
          <p:nvPr/>
        </p:nvSpPr>
        <p:spPr>
          <a:xfrm>
            <a:off x="6096000" y="1710225"/>
            <a:ext cx="5772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File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-		Regular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	Directory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		Symbolic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		Character (Device File)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b	Block (Device File)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	Pipe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		Socket</a:t>
            </a:r>
          </a:p>
        </p:txBody>
      </p:sp>
    </p:spTree>
    <p:extLst>
      <p:ext uri="{BB962C8B-B14F-4D97-AF65-F5344CB8AC3E}">
        <p14:creationId xmlns:p14="http://schemas.microsoft.com/office/powerpoint/2010/main" val="1037821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2623-8BB1-465D-99A7-509156D72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EAF7B-92DD-4AA0-AD02-EDA8C70BB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Files are owned by</a:t>
            </a:r>
          </a:p>
          <a:p>
            <a:pPr lvl="1"/>
            <a:r>
              <a:rPr lang="en-US" dirty="0"/>
              <a:t>User – Real and Effective User ID</a:t>
            </a:r>
          </a:p>
          <a:p>
            <a:pPr lvl="1"/>
            <a:r>
              <a:rPr lang="en-US" dirty="0"/>
              <a:t>Group – Real and Effective Group ID</a:t>
            </a:r>
          </a:p>
          <a:p>
            <a:pPr lvl="1"/>
            <a:r>
              <a:rPr lang="en-US" dirty="0"/>
              <a:t>Other</a:t>
            </a:r>
          </a:p>
          <a:p>
            <a:pPr lvl="1"/>
            <a:endParaRPr lang="en-US" dirty="0"/>
          </a:p>
          <a:p>
            <a:r>
              <a:rPr lang="en-US" dirty="0"/>
              <a:t>Relevant commands</a:t>
            </a:r>
          </a:p>
          <a:p>
            <a:pPr lvl="1"/>
            <a:r>
              <a:rPr lang="en-US" dirty="0" err="1"/>
              <a:t>chown</a:t>
            </a:r>
            <a:endParaRPr lang="en-US" dirty="0"/>
          </a:p>
          <a:p>
            <a:pPr lvl="1"/>
            <a:r>
              <a:rPr lang="en-US" dirty="0" err="1"/>
              <a:t>chgrp</a:t>
            </a:r>
            <a:endParaRPr lang="en-US" dirty="0"/>
          </a:p>
          <a:p>
            <a:pPr lvl="1"/>
            <a:r>
              <a:rPr lang="en-US" dirty="0" err="1"/>
              <a:t>chmod</a:t>
            </a:r>
            <a:endParaRPr lang="en-US" dirty="0"/>
          </a:p>
          <a:p>
            <a:pPr lvl="1"/>
            <a:r>
              <a:rPr lang="en-US" dirty="0" err="1"/>
              <a:t>umask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312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63FE-3FED-4520-A50C-D85C2B8D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76A1D-E382-4F43-9444-858508350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(U)ser, (G)</a:t>
            </a:r>
            <a:r>
              <a:rPr lang="en-US" dirty="0" err="1"/>
              <a:t>roup</a:t>
            </a:r>
            <a:r>
              <a:rPr lang="en-US" dirty="0"/>
              <a:t>, (O)</a:t>
            </a:r>
            <a:r>
              <a:rPr lang="en-US" dirty="0" err="1"/>
              <a:t>ther</a:t>
            </a:r>
            <a:r>
              <a:rPr lang="en-US" dirty="0"/>
              <a:t>, (A)</a:t>
            </a:r>
            <a:r>
              <a:rPr lang="en-US" dirty="0" err="1"/>
              <a:t>ll</a:t>
            </a:r>
            <a:endParaRPr lang="en-US" dirty="0"/>
          </a:p>
          <a:p>
            <a:pPr lvl="1"/>
            <a:r>
              <a:rPr lang="en-US" dirty="0"/>
              <a:t>Set using octal </a:t>
            </a:r>
          </a:p>
          <a:p>
            <a:pPr lvl="2"/>
            <a:r>
              <a:rPr lang="en-US" dirty="0"/>
              <a:t>Read = 4, Write = 2, Execute = 1, No Permission = 0</a:t>
            </a:r>
          </a:p>
          <a:p>
            <a:pPr lvl="3"/>
            <a:r>
              <a:rPr lang="en-US" dirty="0"/>
              <a:t>Add them up to set permission</a:t>
            </a:r>
          </a:p>
          <a:p>
            <a:pPr lvl="3"/>
            <a:r>
              <a:rPr lang="en-US" dirty="0"/>
              <a:t>7 - Gives all permissions, 5 – Gives Read and Write, etc.</a:t>
            </a:r>
          </a:p>
          <a:p>
            <a:pPr lvl="2"/>
            <a:r>
              <a:rPr lang="en-US" dirty="0"/>
              <a:t>755 </a:t>
            </a:r>
            <a:r>
              <a:rPr lang="en-US" dirty="0">
                <a:sym typeface="Wingdings" panose="05000000000000000000" pitchFamily="2" charset="2"/>
              </a:rPr>
              <a:t> User has (R)ead, (W)rite, and (E)xecute, Group and Other have R, X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777  All users have all permissions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Set using alphanumeric characters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Syntax: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&lt;option&gt;=&lt;permissions&gt; (u=</a:t>
            </a:r>
            <a:r>
              <a:rPr lang="en-US" dirty="0" err="1">
                <a:sym typeface="Wingdings" panose="05000000000000000000" pitchFamily="2" charset="2"/>
              </a:rPr>
              <a:t>rwx,g</a:t>
            </a:r>
            <a:r>
              <a:rPr lang="en-US" dirty="0">
                <a:sym typeface="Wingdings" panose="05000000000000000000" pitchFamily="2" charset="2"/>
              </a:rPr>
              <a:t>=</a:t>
            </a:r>
            <a:r>
              <a:rPr lang="en-US" dirty="0" err="1">
                <a:sym typeface="Wingdings" panose="05000000000000000000" pitchFamily="2" charset="2"/>
              </a:rPr>
              <a:t>rx,o</a:t>
            </a:r>
            <a:r>
              <a:rPr lang="en-US" dirty="0">
                <a:sym typeface="Wingdings" panose="05000000000000000000" pitchFamily="2" charset="2"/>
              </a:rPr>
              <a:t>=</a:t>
            </a:r>
            <a:r>
              <a:rPr lang="en-US" dirty="0" err="1">
                <a:sym typeface="Wingdings" panose="05000000000000000000" pitchFamily="2" charset="2"/>
              </a:rPr>
              <a:t>rx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3"/>
            <a:r>
              <a:rPr lang="en-US" dirty="0" err="1">
                <a:sym typeface="Wingdings" panose="05000000000000000000" pitchFamily="2" charset="2"/>
              </a:rPr>
              <a:t>ugo</a:t>
            </a:r>
            <a:r>
              <a:rPr lang="en-US" dirty="0">
                <a:sym typeface="Wingdings" panose="05000000000000000000" pitchFamily="2" charset="2"/>
              </a:rPr>
              <a:t>=</a:t>
            </a:r>
            <a:r>
              <a:rPr lang="en-US" dirty="0" err="1">
                <a:sym typeface="Wingdings" panose="05000000000000000000" pitchFamily="2" charset="2"/>
              </a:rPr>
              <a:t>rwx</a:t>
            </a:r>
            <a:r>
              <a:rPr lang="en-US" dirty="0">
                <a:sym typeface="Wingdings" panose="05000000000000000000" pitchFamily="2" charset="2"/>
              </a:rPr>
              <a:t> (Same as 777) OR a=</a:t>
            </a:r>
            <a:r>
              <a:rPr lang="en-US" dirty="0" err="1">
                <a:sym typeface="Wingdings" panose="05000000000000000000" pitchFamily="2" charset="2"/>
              </a:rPr>
              <a:t>rwx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65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5CA1-41E6-4F28-BF5F-9C9CFD6A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A3266-0E1C-48CA-95FF-8D34D613B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setuid</a:t>
            </a:r>
            <a:endParaRPr lang="en-US" dirty="0"/>
          </a:p>
          <a:p>
            <a:pPr lvl="1"/>
            <a:r>
              <a:rPr lang="en-US" dirty="0"/>
              <a:t>Value 4 or </a:t>
            </a:r>
            <a:r>
              <a:rPr lang="en-US" dirty="0" err="1"/>
              <a:t>u+s</a:t>
            </a:r>
            <a:endParaRPr lang="en-US" dirty="0"/>
          </a:p>
          <a:p>
            <a:r>
              <a:rPr lang="en-US" dirty="0" err="1"/>
              <a:t>setgid</a:t>
            </a:r>
            <a:endParaRPr lang="en-US" dirty="0"/>
          </a:p>
          <a:p>
            <a:pPr lvl="1"/>
            <a:r>
              <a:rPr lang="en-US" dirty="0"/>
              <a:t>Value 2 or </a:t>
            </a:r>
            <a:r>
              <a:rPr lang="en-US" dirty="0" err="1"/>
              <a:t>g+s</a:t>
            </a:r>
            <a:endParaRPr lang="en-US" dirty="0"/>
          </a:p>
          <a:p>
            <a:r>
              <a:rPr lang="en-US" dirty="0"/>
              <a:t>Sticky bit</a:t>
            </a:r>
          </a:p>
          <a:p>
            <a:pPr lvl="1"/>
            <a:r>
              <a:rPr lang="en-US" dirty="0"/>
              <a:t>Value 1 or </a:t>
            </a:r>
            <a:r>
              <a:rPr lang="en-US" dirty="0" err="1"/>
              <a:t>o+t</a:t>
            </a:r>
            <a:endParaRPr lang="en-US" dirty="0"/>
          </a:p>
          <a:p>
            <a:r>
              <a:rPr lang="en-US" dirty="0"/>
              <a:t>Using the value is a 4</a:t>
            </a:r>
            <a:r>
              <a:rPr lang="en-US" baseline="30000" dirty="0"/>
              <a:t>th</a:t>
            </a:r>
            <a:r>
              <a:rPr lang="en-US" dirty="0"/>
              <a:t> octal option</a:t>
            </a:r>
          </a:p>
          <a:p>
            <a:pPr lvl="1"/>
            <a:r>
              <a:rPr lang="en-US" dirty="0" err="1"/>
              <a:t>chmod</a:t>
            </a:r>
            <a:r>
              <a:rPr lang="en-US" dirty="0"/>
              <a:t> 4777</a:t>
            </a:r>
          </a:p>
          <a:p>
            <a:r>
              <a:rPr lang="en-US" dirty="0" err="1"/>
              <a:t>umask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052F-2FAE-483D-97C2-7352560C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23F9D-2CD7-4532-9532-30DE15E0A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to another file</a:t>
            </a:r>
          </a:p>
          <a:p>
            <a:r>
              <a:rPr lang="en-US" dirty="0"/>
              <a:t>Clone of a file that points to one original file.</a:t>
            </a:r>
          </a:p>
          <a:p>
            <a:r>
              <a:rPr lang="en-US" dirty="0"/>
              <a:t>Can have the same or different names</a:t>
            </a:r>
          </a:p>
          <a:p>
            <a:r>
              <a:rPr lang="en-US" dirty="0"/>
              <a:t>Symbolic Links	</a:t>
            </a:r>
          </a:p>
          <a:p>
            <a:pPr lvl="1"/>
            <a:r>
              <a:rPr lang="en-US" dirty="0"/>
              <a:t>Aka Soft Links</a:t>
            </a:r>
          </a:p>
          <a:p>
            <a:r>
              <a:rPr lang="en-US" dirty="0"/>
              <a:t>Commands</a:t>
            </a:r>
          </a:p>
          <a:p>
            <a:pPr lvl="1"/>
            <a:r>
              <a:rPr lang="en-US" dirty="0"/>
              <a:t>ln</a:t>
            </a:r>
          </a:p>
          <a:p>
            <a:pPr lvl="1"/>
            <a:r>
              <a:rPr lang="en-US" dirty="0"/>
              <a:t>ls -</a:t>
            </a:r>
            <a:r>
              <a:rPr lang="en-US" dirty="0" err="1"/>
              <a:t>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47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9831-C3C5-4D6D-9538-BCEE8F18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Dereference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B0E03-012D-4A03-9576-9AE2391DD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link to target file</a:t>
            </a:r>
          </a:p>
          <a:p>
            <a:r>
              <a:rPr lang="en-US" dirty="0"/>
              <a:t>Pointer to file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18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109E-5B65-422F-A9D4-05E6F05F6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7" y="225425"/>
            <a:ext cx="6153150" cy="78422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Storage – Magnetic Hard Disks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B523A0-005A-463C-B464-653B4D906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625" y="1605756"/>
            <a:ext cx="2447627" cy="4351338"/>
          </a:xfrm>
        </p:spPr>
      </p:pic>
      <p:pic>
        <p:nvPicPr>
          <p:cNvPr id="7" name="Picture 6" descr="A picture containing electronics, indoor, hard disc&#10;&#10;Description automatically generated">
            <a:extLst>
              <a:ext uri="{FF2B5EF4-FFF2-40B4-BE49-F238E27FC236}">
                <a16:creationId xmlns:a16="http://schemas.microsoft.com/office/drawing/2014/main" id="{024BCFD0-E7A7-4048-9ED5-F17B6D47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93750"/>
            <a:ext cx="5023556" cy="2825750"/>
          </a:xfrm>
          <a:prstGeom prst="rect">
            <a:avLst/>
          </a:prstGeom>
        </p:spPr>
      </p:pic>
      <p:pic>
        <p:nvPicPr>
          <p:cNvPr id="9" name="Picture 8" descr="A picture containing cake, indoor, food, piece&#10;&#10;Description automatically generated">
            <a:extLst>
              <a:ext uri="{FF2B5EF4-FFF2-40B4-BE49-F238E27FC236}">
                <a16:creationId xmlns:a16="http://schemas.microsoft.com/office/drawing/2014/main" id="{90DA6739-9B8D-4F4A-97F0-15DF3878D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81425"/>
            <a:ext cx="5023555" cy="2825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F64EB9-B06D-46BD-A6DF-D3D6D3C8497D}"/>
              </a:ext>
            </a:extLst>
          </p:cNvPr>
          <p:cNvSpPr txBox="1"/>
          <p:nvPr/>
        </p:nvSpPr>
        <p:spPr>
          <a:xfrm>
            <a:off x="231477" y="2127250"/>
            <a:ext cx="256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2.5in Laptop Hard Drive (500GB?)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C8E783-2C01-43C8-AFED-E855891C4B32}"/>
              </a:ext>
            </a:extLst>
          </p:cNvPr>
          <p:cNvSpPr txBox="1"/>
          <p:nvPr/>
        </p:nvSpPr>
        <p:spPr>
          <a:xfrm>
            <a:off x="187027" y="6607175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Photo Credit: Patrick Earl</a:t>
            </a:r>
          </a:p>
        </p:txBody>
      </p:sp>
    </p:spTree>
    <p:extLst>
      <p:ext uri="{BB962C8B-B14F-4D97-AF65-F5344CB8AC3E}">
        <p14:creationId xmlns:p14="http://schemas.microsoft.com/office/powerpoint/2010/main" val="2190500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6007-EAB9-454D-838B-D9E79EAB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 – Magnetic Hard Disks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6082D-4F04-4F00-BDEB-7058E2AF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3703" y="1808876"/>
            <a:ext cx="2676089" cy="3849093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US" dirty="0"/>
              <a:t>Data Stored on Magnetic Hard Disks</a:t>
            </a:r>
          </a:p>
          <a:p>
            <a:pPr marL="36900" indent="0">
              <a:buNone/>
            </a:pPr>
            <a:r>
              <a:rPr lang="en-US" dirty="0"/>
              <a:t>Platters</a:t>
            </a:r>
          </a:p>
          <a:p>
            <a:pPr marL="36900" indent="0">
              <a:buNone/>
            </a:pPr>
            <a:r>
              <a:rPr lang="en-US" dirty="0"/>
              <a:t>Tracks (Cylinders)</a:t>
            </a:r>
          </a:p>
          <a:p>
            <a:pPr marL="36900" indent="0">
              <a:buNone/>
            </a:pPr>
            <a:r>
              <a:rPr lang="en-US" dirty="0"/>
              <a:t>Sectors</a:t>
            </a:r>
          </a:p>
          <a:p>
            <a:pPr marL="36900" indent="0">
              <a:buNone/>
            </a:pPr>
            <a:r>
              <a:rPr lang="en-US" dirty="0"/>
              <a:t>Blocks (Clusters)</a:t>
            </a:r>
          </a:p>
          <a:p>
            <a:r>
              <a:rPr lang="en-US" dirty="0"/>
              <a:t>OS controls sector size</a:t>
            </a:r>
          </a:p>
          <a:p>
            <a:pPr lvl="1"/>
            <a:r>
              <a:rPr lang="en-US" dirty="0"/>
              <a:t>Usually, 512 bytes on UNIX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95BCE-670C-441B-A320-8B515A337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11" y="1459793"/>
            <a:ext cx="3117792" cy="3247985"/>
          </a:xfrm>
          <a:prstGeom prst="rect">
            <a:avLst/>
          </a:prstGeom>
        </p:spPr>
      </p:pic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5FEDA5E8-7207-4B84-BB1A-A06E2DA45A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281" y="1974849"/>
            <a:ext cx="4039438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6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40989-1BF3-4608-BCAB-37248F8A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A8E0-8D16-45B6-A249-414ACC304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One Physical drive can be split into multiple logical drives (Partitioned)</a:t>
            </a:r>
          </a:p>
          <a:p>
            <a:r>
              <a:rPr lang="en-US" dirty="0"/>
              <a:t>A partition contains a file system</a:t>
            </a:r>
          </a:p>
          <a:p>
            <a:r>
              <a:rPr lang="en-US" dirty="0"/>
              <a:t>Disk Formatting</a:t>
            </a:r>
          </a:p>
          <a:p>
            <a:pPr lvl="1"/>
            <a:r>
              <a:rPr lang="en-US" dirty="0"/>
              <a:t>Also known as Partition Schemes </a:t>
            </a:r>
            <a:br>
              <a:rPr lang="en-US" dirty="0"/>
            </a:br>
            <a:r>
              <a:rPr lang="en-US" dirty="0"/>
              <a:t>(File Systems)</a:t>
            </a:r>
          </a:p>
          <a:p>
            <a:pPr lvl="1"/>
            <a:r>
              <a:rPr lang="en-US" dirty="0"/>
              <a:t>Common Ones:</a:t>
            </a:r>
          </a:p>
          <a:p>
            <a:pPr lvl="2"/>
            <a:r>
              <a:rPr lang="en-US" dirty="0"/>
              <a:t>ext3/ext4</a:t>
            </a:r>
          </a:p>
          <a:p>
            <a:pPr lvl="2"/>
            <a:r>
              <a:rPr lang="en-US" dirty="0" err="1"/>
              <a:t>ntfs</a:t>
            </a:r>
            <a:r>
              <a:rPr lang="en-US" dirty="0"/>
              <a:t> (Windows)</a:t>
            </a:r>
          </a:p>
          <a:p>
            <a:pPr lvl="2"/>
            <a:r>
              <a:rPr lang="en-US" dirty="0" err="1"/>
              <a:t>apfs</a:t>
            </a:r>
            <a:r>
              <a:rPr lang="en-US" dirty="0"/>
              <a:t> (macOS)</a:t>
            </a:r>
          </a:p>
          <a:p>
            <a:r>
              <a:rPr lang="en-US" dirty="0"/>
              <a:t>Commands:</a:t>
            </a:r>
          </a:p>
          <a:p>
            <a:pPr lvl="1"/>
            <a:r>
              <a:rPr lang="en-US" dirty="0" err="1"/>
              <a:t>fdisk</a:t>
            </a:r>
            <a:endParaRPr lang="en-US" dirty="0"/>
          </a:p>
          <a:p>
            <a:pPr lvl="1"/>
            <a:r>
              <a:rPr lang="en-US" dirty="0" err="1"/>
              <a:t>lsblk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9382D-28AB-447C-BD80-054270ACA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2496757"/>
            <a:ext cx="5216612" cy="2834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21A834-E1E4-4599-B6A3-101D9A681CF2}"/>
              </a:ext>
            </a:extLst>
          </p:cNvPr>
          <p:cNvSpPr txBox="1"/>
          <p:nvPr/>
        </p:nvSpPr>
        <p:spPr>
          <a:xfrm>
            <a:off x="390617" y="6248400"/>
            <a:ext cx="747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dirty="0">
                <a:hlinkClick r:id="rId4"/>
              </a:rPr>
              <a:t>https://www.minitool.com/lib/hard-disk-partition.html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3843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E502-F6F1-4E3D-A2BD-E1CCD4B3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inode</a:t>
            </a:r>
            <a:r>
              <a:rPr lang="en-US" dirty="0"/>
              <a:t> and Data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A8E6D-002F-4B33-AF5F-AC3ACB832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150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file is a collection of data blocks</a:t>
            </a:r>
          </a:p>
          <a:p>
            <a:pPr lvl="1"/>
            <a:r>
              <a:rPr lang="en-US" dirty="0"/>
              <a:t>Data Blocks contain the contents of a file. Files are collections of data blocks.</a:t>
            </a:r>
          </a:p>
          <a:p>
            <a:pPr lvl="1"/>
            <a:endParaRPr lang="en-US" dirty="0"/>
          </a:p>
          <a:p>
            <a:r>
              <a:rPr lang="en-US" dirty="0" err="1"/>
              <a:t>Inodes</a:t>
            </a:r>
            <a:endParaRPr lang="en-US" dirty="0"/>
          </a:p>
          <a:p>
            <a:pPr lvl="1"/>
            <a:r>
              <a:rPr lang="en-US" dirty="0"/>
              <a:t>A unique integer number.</a:t>
            </a:r>
          </a:p>
          <a:p>
            <a:pPr lvl="1"/>
            <a:r>
              <a:rPr lang="en-US" dirty="0"/>
              <a:t>Contain information about a given file</a:t>
            </a:r>
          </a:p>
          <a:p>
            <a:pPr lvl="2"/>
            <a:r>
              <a:rPr lang="en-US" dirty="0"/>
              <a:t>The Mode/Permissions</a:t>
            </a:r>
          </a:p>
          <a:p>
            <a:pPr lvl="2"/>
            <a:r>
              <a:rPr lang="en-US" dirty="0"/>
              <a:t>Owner ID, Group ID</a:t>
            </a:r>
          </a:p>
          <a:p>
            <a:pPr lvl="2"/>
            <a:r>
              <a:rPr lang="en-US" dirty="0"/>
              <a:t>Size of the File</a:t>
            </a:r>
          </a:p>
          <a:p>
            <a:pPr lvl="2"/>
            <a:r>
              <a:rPr lang="en-US" dirty="0"/>
              <a:t>Number of Hard Links</a:t>
            </a:r>
          </a:p>
          <a:p>
            <a:pPr lvl="2"/>
            <a:r>
              <a:rPr lang="en-US" dirty="0"/>
              <a:t>Time last Accessed and Modified</a:t>
            </a:r>
          </a:p>
          <a:p>
            <a:pPr lvl="2"/>
            <a:r>
              <a:rPr lang="en-US" dirty="0"/>
              <a:t>Time </a:t>
            </a:r>
            <a:r>
              <a:rPr lang="en-US" dirty="0" err="1"/>
              <a:t>inode</a:t>
            </a:r>
            <a:r>
              <a:rPr lang="en-US" dirty="0"/>
              <a:t> was last modified</a:t>
            </a:r>
          </a:p>
          <a:p>
            <a:pPr lvl="2"/>
            <a:r>
              <a:rPr lang="en-US" dirty="0"/>
              <a:t>Contains a list of the data blocks spread across a drive</a:t>
            </a:r>
          </a:p>
        </p:txBody>
      </p:sp>
    </p:spTree>
    <p:extLst>
      <p:ext uri="{BB962C8B-B14F-4D97-AF65-F5344CB8AC3E}">
        <p14:creationId xmlns:p14="http://schemas.microsoft.com/office/powerpoint/2010/main" val="3457900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87EF-E0D0-413F-9733-FBA15AE1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15AD2F-E493-4B9F-A7DC-7B8038C37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381" y="1825625"/>
            <a:ext cx="660723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06CE02-D879-4A68-86D5-05763229FC54}"/>
              </a:ext>
            </a:extLst>
          </p:cNvPr>
          <p:cNvSpPr txBox="1"/>
          <p:nvPr/>
        </p:nvSpPr>
        <p:spPr>
          <a:xfrm>
            <a:off x="402672" y="6240405"/>
            <a:ext cx="7961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Dr. Lisa Frye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0D75D-6444-4D64-9803-BA0E82F683C1}"/>
              </a:ext>
            </a:extLst>
          </p:cNvPr>
          <p:cNvSpPr txBox="1"/>
          <p:nvPr/>
        </p:nvSpPr>
        <p:spPr>
          <a:xfrm>
            <a:off x="171485" y="1728132"/>
            <a:ext cx="4595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myfd</a:t>
            </a:r>
            <a:r>
              <a:rPr lang="en-US" sz="1600" dirty="0"/>
              <a:t> = open(“~/user/text.txt”, O_RDONLY);</a:t>
            </a:r>
          </a:p>
        </p:txBody>
      </p:sp>
    </p:spTree>
    <p:extLst>
      <p:ext uri="{BB962C8B-B14F-4D97-AF65-F5344CB8AC3E}">
        <p14:creationId xmlns:p14="http://schemas.microsoft.com/office/powerpoint/2010/main" val="351708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AE29-1BBC-45A8-BBA9-9EB12D04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Character/Block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61C85-74DA-4FA6-B521-1BDDF360E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 Devices</a:t>
            </a:r>
          </a:p>
          <a:p>
            <a:pPr lvl="1"/>
            <a:r>
              <a:rPr lang="en-US" dirty="0"/>
              <a:t>Accessed as a stream of sequential data</a:t>
            </a:r>
          </a:p>
          <a:p>
            <a:pPr lvl="1"/>
            <a:r>
              <a:rPr lang="en-US" dirty="0"/>
              <a:t>No buffering is required</a:t>
            </a:r>
          </a:p>
          <a:p>
            <a:pPr lvl="1"/>
            <a:r>
              <a:rPr lang="en-US" dirty="0"/>
              <a:t>Keyboard Devices, Serial Ports</a:t>
            </a:r>
          </a:p>
          <a:p>
            <a:r>
              <a:rPr lang="en-US" dirty="0"/>
              <a:t>Block Device</a:t>
            </a:r>
          </a:p>
          <a:p>
            <a:pPr lvl="1"/>
            <a:r>
              <a:rPr lang="en-US" dirty="0"/>
              <a:t>Hardware device that contains chunks/blocks of data</a:t>
            </a:r>
          </a:p>
          <a:p>
            <a:pPr lvl="1"/>
            <a:r>
              <a:rPr lang="en-US" dirty="0"/>
              <a:t>Buffering is required</a:t>
            </a:r>
          </a:p>
          <a:p>
            <a:pPr lvl="1"/>
            <a:r>
              <a:rPr lang="en-US" dirty="0"/>
              <a:t>Can seek through the file</a:t>
            </a:r>
          </a:p>
          <a:p>
            <a:pPr lvl="1"/>
            <a:r>
              <a:rPr lang="en-US" dirty="0"/>
              <a:t>Hard disks, USB Flash Drives, CDs, etc.</a:t>
            </a:r>
          </a:p>
        </p:txBody>
      </p:sp>
    </p:spTree>
    <p:extLst>
      <p:ext uri="{BB962C8B-B14F-4D97-AF65-F5344CB8AC3E}">
        <p14:creationId xmlns:p14="http://schemas.microsoft.com/office/powerpoint/2010/main" val="489979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73B4-0F1E-4DA8-BE5D-2743AA08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ext4 Data Structures – More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8DFFF-878C-474B-9EA6-D806B7FE8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https://www.kernel.org/doc/html/latest/filesystems/ext4/index.html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51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Words>913</Words>
  <Application>Microsoft Office PowerPoint</Application>
  <PresentationFormat>Widescreen</PresentationFormat>
  <Paragraphs>184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Files and Directories</vt:lpstr>
      <vt:lpstr>The Filesystem</vt:lpstr>
      <vt:lpstr>Hierarchical System</vt:lpstr>
      <vt:lpstr>Terminology</vt:lpstr>
      <vt:lpstr>Filenames</vt:lpstr>
      <vt:lpstr>Filenames (continued)</vt:lpstr>
      <vt:lpstr>The Working Directory (Current Directory)</vt:lpstr>
      <vt:lpstr>Home Directory</vt:lpstr>
      <vt:lpstr>Pathnames</vt:lpstr>
      <vt:lpstr>Standard Directories and Files</vt:lpstr>
      <vt:lpstr>ls</vt:lpstr>
      <vt:lpstr>Permissions</vt:lpstr>
      <vt:lpstr>Permission Settings</vt:lpstr>
      <vt:lpstr>Special Permissions</vt:lpstr>
      <vt:lpstr>Links</vt:lpstr>
      <vt:lpstr>Dereference Links</vt:lpstr>
      <vt:lpstr>Data Storage – Magnetic Hard Disks</vt:lpstr>
      <vt:lpstr>Data Storage – Magnetic Hard Disks</vt:lpstr>
      <vt:lpstr>Storage Partitions</vt:lpstr>
      <vt:lpstr>inode and Data Blocks</vt:lpstr>
      <vt:lpstr>File Table</vt:lpstr>
      <vt:lpstr>Character/Block Devices</vt:lpstr>
      <vt:lpstr>ext4 Data Structures – More Info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CSC252 UNIX Scripting and Administration</dc:title>
  <dc:creator>Earl, Patrick A</dc:creator>
  <cp:lastModifiedBy>Earl , Patrick</cp:lastModifiedBy>
  <cp:revision>67</cp:revision>
  <dcterms:created xsi:type="dcterms:W3CDTF">2020-01-21T19:09:02Z</dcterms:created>
  <dcterms:modified xsi:type="dcterms:W3CDTF">2021-02-16T00:35:45Z</dcterms:modified>
</cp:coreProperties>
</file>